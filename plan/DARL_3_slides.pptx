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ierre" id="{c7c2df59-f6ba-07f0-381a-0ee90533c646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Separamos las limitaciones en dos grupos. De alcance: el agente se evaluó en un solo dataset y 16 días simulados, con un drift inyectado bastante extremo, y asumimos que la etiqueta llega al día siguiente. Las encontradas en los resultados son las más importantes. Primero, el DDQN empata con la heurística y queda cerca de una política aleatoria en retorno acumulado, así que todavía no demostramos que el RL supere a una regla simple. Segundo, ante concept drift el agente reacciona tarde, tres o cuatro días después, porque PSI y KS solo ven cambios en X; la única señal de concept drift es el AUC. Tercero, nunca elige actualizar solo el modelo, aunque el oráculo muestra que en varios días era lo mejor. Y el peso del costo es bajo, por eso reentrenar todo queda casi igual que el agente.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pasos. Los tres primeros amplían la evaluación: llevar la misma simulación temporal a Diabetes Readmission, luego al dataset de fraude con drift sintético y, finalmente, a fraude con drift real, sin inyectar nada. Los pasos cuatro y cinco atacan las limitaciones que encontramos: agregar a la observación una señal de concept drift, como la tendencia del AUC, para que el agente reaccione antes; y calibrar el peso del costo con severidades más variadas, para que elegir entre actualizar solo el modelo o reentrenar todo sea una decisión real. El último paso es validar con varias semillas e intervalos de confianza contra la heurística, la política aleatoria y A4, y cerrar la redacción.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conclusiones. Primera: monitorear y actuar sí recupera el rendimiento; el agente mantiene el AUC entre 0.90 y 0.93 frente a 0.77–0.80 si no se hace nada, en los tres tipos de drift. Segunda: cuando no hay drift, no interviene, así que no paga costo innecesario. Tercera: el tipo de drift determina qué actualizar; ante concept drift corregir X no sirve, y actualizar solo features llega a hundir el AUC a 0.50. Cuarta, y la más honesta: la ventaja del aprendizaje por refuerzo todavía tiene que demostrarse, porque hoy empata con una heurística. Ese es el foco de los siguientes pasos.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ADERN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83664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58568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633472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08376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383280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3758184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133088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4507992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882896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257800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5632704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007608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6382512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757416"/>
            <a:ext cx="121916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6152" y="0"/>
            <a:ext cx="0" cy="685800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21" name="Text 19"/>
          <p:cNvSpPr/>
          <p:nvPr>
            <p:ph idx="119" type="title" hasCustomPrompt="1"/>
          </p:nvPr>
        </p:nvSpPr>
        <p:spPr>
          <a:xfrm>
            <a:off x="1463040" y="320040"/>
            <a:ext cx="93268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highlight"/>
          <p:cNvSpPr/>
          <p:nvPr/>
        </p:nvSpPr>
        <p:spPr>
          <a:xfrm>
            <a:off x="4572000" y="749808"/>
            <a:ext cx="3017520" cy="256032"/>
          </a:xfrm>
          <a:prstGeom prst="roundRect">
            <a:avLst>
              <a:gd name="adj" fmla="val 35714"/>
            </a:avLst>
          </a:prstGeom>
          <a:solidFill>
            <a:srgbClr val="F7DE8A"/>
          </a:solidFill>
          <a:ln/>
        </p:spPr>
      </p:sp>
      <p:sp>
        <p:nvSpPr>
          <p:cNvPr id="3" name="Text 19"/>
          <p:cNvSpPr/>
          <p:nvPr>
            <p:ph idx="119" type="title" hasCustomPrompt="1"/>
          </p:nvPr>
        </p:nvSpPr>
        <p:spPr>
          <a:xfrm>
            <a:off x="1463040" y="3200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Limitaciones</a:t>
            </a:r>
            <a:endParaRPr lang="en-US" sz="3600" dirty="0"/>
          </a:p>
        </p:txBody>
      </p:sp>
      <p:sp>
        <p:nvSpPr>
          <p:cNvPr id="4" name="lim-card"/>
          <p:cNvSpPr/>
          <p:nvPr/>
        </p:nvSpPr>
        <p:spPr>
          <a:xfrm>
            <a:off x="502920" y="1325880"/>
            <a:ext cx="548640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5" name="icon-circle"/>
          <p:cNvSpPr/>
          <p:nvPr/>
        </p:nvSpPr>
        <p:spPr>
          <a:xfrm>
            <a:off x="777240" y="1508760"/>
            <a:ext cx="594360" cy="594360"/>
          </a:xfrm>
          <a:prstGeom prst="ellipse">
            <a:avLst/>
          </a:prstGeom>
          <a:solidFill>
            <a:srgbClr val="4A5568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6573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5087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De alcance (por diseño)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Agente evaluado en un solo dataset (PhysioNet) y 16 días simulados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Drift sintético inyectado sobre la simulación temporal, con magnitud extrema (desplazamiento de 3 IQR, KS 0.86–0.98)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 asume que la etiqueta llega al día siguiente; en clínica puede tardar más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Clasificación binaria tabular en batch; sin despliegue real</a:t>
            </a:r>
            <a:endParaRPr lang="en-US" sz="1600" dirty="0"/>
          </a:p>
        </p:txBody>
      </p:sp>
      <p:sp>
        <p:nvSpPr>
          <p:cNvPr id="9" name="lim-card"/>
          <p:cNvSpPr/>
          <p:nvPr/>
        </p:nvSpPr>
        <p:spPr>
          <a:xfrm>
            <a:off x="6217920" y="1325880"/>
            <a:ext cx="5486400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0" name="icon-circle"/>
          <p:cNvSpPr/>
          <p:nvPr/>
        </p:nvSpPr>
        <p:spPr>
          <a:xfrm>
            <a:off x="6492240" y="1508760"/>
            <a:ext cx="594360" cy="594360"/>
          </a:xfrm>
          <a:prstGeom prst="ellipse">
            <a:avLst/>
          </a:prstGeom>
          <a:solidFill>
            <a:srgbClr val="B5121B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6573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150876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Encontradas en los resultados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286000"/>
            <a:ext cx="49834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DDQN empata con la heurística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y queda cerca de random en retorno acumulado: aún no se demuestra ventaja del RL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Reacción tardía ante concept drift: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actúa 3–4 días después del inicio, cuando el AUC ya cayó a 0.81; PSI y KS no ven P(Y|X)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Nunca elige A3: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coincide con el oráculo inmediato en ~9 de 15 días; en los días 9, 12 y 13 A3 era mejor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Costo con peso bajo (0.05):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el AUC domina la recompensa y reentrenar todo (A4) casi iguala al agente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chemeClr val="tx1"/>
                </a:solidFill>
              </a:rPr>
              <a:t>Entrenamiento: </a:t>
            </a:r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chemeClr val="tx1"/>
                </a:solidFill>
              </a:rPr>
              <a:t>mejora pequeña (media móvil 13.37 → 13.59); falta repetir con varias semillas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highlight"/>
          <p:cNvSpPr/>
          <p:nvPr/>
        </p:nvSpPr>
        <p:spPr>
          <a:xfrm>
            <a:off x="4206240" y="749808"/>
            <a:ext cx="3749040" cy="256032"/>
          </a:xfrm>
          <a:prstGeom prst="roundRect">
            <a:avLst>
              <a:gd name="adj" fmla="val 35714"/>
            </a:avLst>
          </a:prstGeom>
          <a:solidFill>
            <a:srgbClr val="F7DE8A"/>
          </a:solidFill>
          <a:ln/>
        </p:spPr>
      </p:sp>
      <p:sp>
        <p:nvSpPr>
          <p:cNvPr id="3" name="Text 19"/>
          <p:cNvSpPr/>
          <p:nvPr>
            <p:ph idx="119" type="title" hasCustomPrompt="1"/>
          </p:nvPr>
        </p:nvSpPr>
        <p:spPr>
          <a:xfrm>
            <a:off x="1463040" y="3200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Siguientes pasos</a:t>
            </a:r>
            <a:endParaRPr lang="en-US" sz="3600" dirty="0"/>
          </a:p>
        </p:txBody>
      </p:sp>
      <p:sp>
        <p:nvSpPr>
          <p:cNvPr id="4" name="path"/>
          <p:cNvSpPr/>
          <p:nvPr/>
        </p:nvSpPr>
        <p:spPr>
          <a:xfrm>
            <a:off x="2011680" y="1874520"/>
            <a:ext cx="9052560" cy="0"/>
          </a:xfrm>
          <a:prstGeom prst="line">
            <a:avLst/>
          </a:prstGeom>
          <a:noFill/>
          <a:ln w="50800">
            <a:solidFill>
              <a:srgbClr val="B5121B"/>
            </a:solidFill>
            <a:prstDash val="solid"/>
          </a:ln>
        </p:spPr>
      </p:sp>
      <p:sp>
        <p:nvSpPr>
          <p:cNvPr id="5" name="path"/>
          <p:cNvSpPr/>
          <p:nvPr/>
        </p:nvSpPr>
        <p:spPr>
          <a:xfrm>
            <a:off x="11064240" y="1874520"/>
            <a:ext cx="0" cy="2468880"/>
          </a:xfrm>
          <a:prstGeom prst="line">
            <a:avLst/>
          </a:prstGeom>
          <a:noFill/>
          <a:ln w="50800">
            <a:solidFill>
              <a:srgbClr val="B5121B"/>
            </a:solidFill>
            <a:prstDash val="solid"/>
          </a:ln>
        </p:spPr>
      </p:sp>
      <p:sp>
        <p:nvSpPr>
          <p:cNvPr id="6" name="path"/>
          <p:cNvSpPr/>
          <p:nvPr/>
        </p:nvSpPr>
        <p:spPr>
          <a:xfrm>
            <a:off x="0" y="4343400"/>
            <a:ext cx="11064240" cy="0"/>
          </a:xfrm>
          <a:prstGeom prst="line">
            <a:avLst/>
          </a:prstGeom>
          <a:noFill/>
          <a:ln w="50800">
            <a:solidFill>
              <a:srgbClr val="B5121B"/>
            </a:solidFill>
            <a:prstDash val="solid"/>
          </a:ln>
        </p:spPr>
      </p:sp>
      <p:sp>
        <p:nvSpPr>
          <p:cNvPr id="7" name="hito"/>
          <p:cNvSpPr/>
          <p:nvPr/>
        </p:nvSpPr>
        <p:spPr>
          <a:xfrm>
            <a:off x="1856232" y="1719072"/>
            <a:ext cx="310896" cy="310896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Paso 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148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Diabetes Readmission en la simulación temporal con drift sintético</a:t>
            </a:r>
            <a:endParaRPr lang="en-US" sz="1500" dirty="0"/>
          </a:p>
        </p:txBody>
      </p:sp>
      <p:sp>
        <p:nvSpPr>
          <p:cNvPr id="10" name="hito"/>
          <p:cNvSpPr/>
          <p:nvPr/>
        </p:nvSpPr>
        <p:spPr>
          <a:xfrm>
            <a:off x="5468112" y="1719072"/>
            <a:ext cx="310896" cy="310896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60520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Paso 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2148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IEEE Fraud Detection con drift sintético</a:t>
            </a:r>
            <a:endParaRPr lang="en-US" sz="1500" dirty="0"/>
          </a:p>
        </p:txBody>
      </p:sp>
      <p:sp>
        <p:nvSpPr>
          <p:cNvPr id="13" name="hito"/>
          <p:cNvSpPr/>
          <p:nvPr/>
        </p:nvSpPr>
        <p:spPr>
          <a:xfrm>
            <a:off x="9079992" y="1719072"/>
            <a:ext cx="310896" cy="310896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0" y="1188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Paso 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2148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Probar DARL con drift real (fraude, sin inyección)</a:t>
            </a:r>
            <a:endParaRPr lang="en-US" sz="1500" dirty="0"/>
          </a:p>
        </p:txBody>
      </p:sp>
      <p:sp>
        <p:nvSpPr>
          <p:cNvPr id="16" name="hito"/>
          <p:cNvSpPr/>
          <p:nvPr/>
        </p:nvSpPr>
        <p:spPr>
          <a:xfrm>
            <a:off x="9079992" y="4187952"/>
            <a:ext cx="310896" cy="310896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0" y="3657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Paso 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4617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Agregar una señal de concept drift a la observación (tendencia del AUC) para reaccionar antes</a:t>
            </a:r>
            <a:endParaRPr lang="en-US" sz="1500" dirty="0"/>
          </a:p>
        </p:txBody>
      </p:sp>
      <p:sp>
        <p:nvSpPr>
          <p:cNvPr id="19" name="hito"/>
          <p:cNvSpPr/>
          <p:nvPr/>
        </p:nvSpPr>
        <p:spPr>
          <a:xfrm>
            <a:off x="5468112" y="4187952"/>
            <a:ext cx="310896" cy="310896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60520" y="3657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Paso 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4617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Calibrar el peso del costo y variar severidades (no solo 3 IQR) para que A3 frente a A4 importe</a:t>
            </a:r>
            <a:endParaRPr lang="en-US" sz="1500" dirty="0"/>
          </a:p>
        </p:txBody>
      </p:sp>
      <p:sp>
        <p:nvSpPr>
          <p:cNvPr id="22" name="hito"/>
          <p:cNvSpPr/>
          <p:nvPr/>
        </p:nvSpPr>
        <p:spPr>
          <a:xfrm>
            <a:off x="1856232" y="4187952"/>
            <a:ext cx="310896" cy="310896"/>
          </a:xfrm>
          <a:prstGeom prst="ellipse">
            <a:avLst/>
          </a:prstGeom>
          <a:solidFill>
            <a:srgbClr val="B5121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657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Paso 6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" y="4617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Validar con 5 semillas e IC 95 % contra heurística, random y A4; redactar la tesis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highlight"/>
          <p:cNvSpPr/>
          <p:nvPr/>
        </p:nvSpPr>
        <p:spPr>
          <a:xfrm>
            <a:off x="4343400" y="749808"/>
            <a:ext cx="3520440" cy="256032"/>
          </a:xfrm>
          <a:prstGeom prst="roundRect">
            <a:avLst>
              <a:gd name="adj" fmla="val 35714"/>
            </a:avLst>
          </a:prstGeom>
          <a:solidFill>
            <a:srgbClr val="F7DE8A"/>
          </a:solidFill>
          <a:ln/>
        </p:spPr>
      </p:sp>
      <p:sp>
        <p:nvSpPr>
          <p:cNvPr id="3" name="Text 19"/>
          <p:cNvSpPr/>
          <p:nvPr>
            <p:ph idx="119" type="title" hasCustomPrompt="1"/>
          </p:nvPr>
        </p:nvSpPr>
        <p:spPr>
          <a:xfrm>
            <a:off x="1463040" y="32004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Conclusiones</a:t>
            </a:r>
            <a:endParaRPr lang="en-US" sz="3600" dirty="0"/>
          </a:p>
        </p:txBody>
      </p:sp>
      <p:sp>
        <p:nvSpPr>
          <p:cNvPr id="4" name="icon-circle"/>
          <p:cNvSpPr/>
          <p:nvPr/>
        </p:nvSpPr>
        <p:spPr>
          <a:xfrm>
            <a:off x="1600200" y="1371600"/>
            <a:ext cx="777240" cy="777240"/>
          </a:xfrm>
          <a:prstGeom prst="ellipse">
            <a:avLst/>
          </a:prstGeom>
          <a:solidFill>
            <a:srgbClr val="0F7C80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4510" y="156591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51760" y="1353312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Monitorear y actuar recupera el rendimiento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1783080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El DDQN mantiene un AUC de 0.90–0.93 frente a 0.77–0.80 sin actuar: entre +0.12 y +0.13 en covariate, concept y combinado.</a:t>
            </a:r>
            <a:endParaRPr lang="en-US" sz="1600" dirty="0"/>
          </a:p>
        </p:txBody>
      </p:sp>
      <p:sp>
        <p:nvSpPr>
          <p:cNvPr id="8" name="icon-circle"/>
          <p:cNvSpPr/>
          <p:nvPr/>
        </p:nvSpPr>
        <p:spPr>
          <a:xfrm>
            <a:off x="1600200" y="2587752"/>
            <a:ext cx="777240" cy="777240"/>
          </a:xfrm>
          <a:prstGeom prst="ellipse">
            <a:avLst/>
          </a:prstGeom>
          <a:solidFill>
            <a:srgbClr val="E3A02C"/>
          </a:solidFill>
          <a:ln/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510" y="2782062"/>
            <a:ext cx="388620" cy="3886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651760" y="2569464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No interviene cuando no hace falta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2651760" y="2999232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En el escenario estable el AUC es el mismo (0.940 vs 0.940): no paga costo innecesario.</a:t>
            </a:r>
            <a:endParaRPr lang="en-US" sz="1600" dirty="0"/>
          </a:p>
        </p:txBody>
      </p:sp>
      <p:sp>
        <p:nvSpPr>
          <p:cNvPr id="12" name="icon-circle"/>
          <p:cNvSpPr/>
          <p:nvPr/>
        </p:nvSpPr>
        <p:spPr>
          <a:xfrm>
            <a:off x="1600200" y="3803904"/>
            <a:ext cx="777240" cy="777240"/>
          </a:xfrm>
          <a:prstGeom prst="ellipse">
            <a:avLst/>
          </a:prstGeom>
          <a:solidFill>
            <a:srgbClr val="5B4FC4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510" y="3998214"/>
            <a:ext cx="388620" cy="3886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651760" y="3785616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El tipo de drift determina qué actualizar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2651760" y="4215384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Ante concept drift, corregir X no sirve; solo actualizar features (A2) cae a 0.50 en el escenario combinado.</a:t>
            </a:r>
            <a:endParaRPr lang="en-US" sz="1600" dirty="0"/>
          </a:p>
        </p:txBody>
      </p:sp>
      <p:sp>
        <p:nvSpPr>
          <p:cNvPr id="16" name="icon-circle"/>
          <p:cNvSpPr/>
          <p:nvPr/>
        </p:nvSpPr>
        <p:spPr>
          <a:xfrm>
            <a:off x="1600200" y="5020056"/>
            <a:ext cx="777240" cy="777240"/>
          </a:xfrm>
          <a:prstGeom prst="ellipse">
            <a:avLst/>
          </a:prstGeom>
          <a:solidFill>
            <a:srgbClr val="B5121B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4510" y="5214366"/>
            <a:ext cx="388620" cy="3886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651760" y="5001768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La ventaja del RL aún debe demostrarse</a:t>
            </a:r>
            <a:endParaRPr lang="en-US" sz="2100" dirty="0"/>
          </a:p>
        </p:txBody>
      </p:sp>
      <p:sp>
        <p:nvSpPr>
          <p:cNvPr id="19" name="Text 13"/>
          <p:cNvSpPr txBox="1"/>
          <p:nvPr/>
        </p:nvSpPr>
        <p:spPr>
          <a:xfrm>
            <a:off x="2651760" y="5431536"/>
            <a:ext cx="8778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El agente empata con una heurística; el reto es detectar concept drift antes y aprovechar A3.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L cuaderno">
  <a:themeElements>
    <a:clrScheme name="DARL cuaderno">
      <a:dk1>
        <a:srgbClr val="1A1A1A"/>
      </a:dk1>
      <a:lt1>
        <a:srgbClr val="FFFFFF"/>
      </a:lt1>
      <a:dk2>
        <a:srgbClr val="4A5568"/>
      </a:dk2>
      <a:lt2>
        <a:srgbClr val="F3F3F3"/>
      </a:lt2>
      <a:accent1>
        <a:srgbClr val="0F7C80"/>
      </a:accent1>
      <a:accent2>
        <a:srgbClr val="E3A02C"/>
      </a:accent2>
      <a:accent3>
        <a:srgbClr val="B5121B"/>
      </a:accent3>
      <a:accent4>
        <a:srgbClr val="5B4FC4"/>
      </a:accent4>
      <a:accent5>
        <a:srgbClr val="2E8B57"/>
      </a:accent5>
      <a:accent6>
        <a:srgbClr val="9AA3B2"/>
      </a:accent6>
      <a:hlink>
        <a:srgbClr val="0F7C80"/>
      </a:hlink>
      <a:folHlink>
        <a:srgbClr val="5B4FC4"/>
      </a:folHlink>
    </a:clrScheme>
    <a:fontScheme name="DARL cuadern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DARL — Limitaciones, siguientes pasos y conclusiones</dc:title>
  <dc:subject>PptxGenJS Presentation</dc:subject>
  <dc:creator>PptxGenJS</dc:creator>
  <cp:lastModifiedBy>PptxGenJS</cp:lastModifiedBy>
  <cp:revision>1</cp:revision>
  <dcterms:created xsi:type="dcterms:W3CDTF">2026-10-03T13:14:42Z</dcterms:created>
  <dcterms:modified xsi:type="dcterms:W3CDTF">2026-10-03T13:14:42Z</dcterms:modified>
</cp:coreProperties>
</file>