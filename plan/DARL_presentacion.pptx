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cb2da5a9-4e2a-0abc-c84b-872e4fe2b522}">
          <p14:sldIdLst>
            <p14:sldId id="256"/>
            <p14:sldId id="257"/>
          </p14:sldIdLst>
        </p14:section>
        <p14:section name="Problemática" id="{a87621d2-a7b2-ad27-8c73-38a592a49641}">
          <p14:sldIdLst>
            <p14:sldId id="258"/>
            <p14:sldId id="259"/>
            <p14:sldId id="260"/>
            <p14:sldId id="261"/>
            <p14:sldId id="262"/>
          </p14:sldIdLst>
        </p14:section>
        <p14:section name="Objetivos" id="{f2f10336-1588-7ec8-8fd3-f5eae032a849}">
          <p14:sldIdLst>
            <p14:sldId id="263"/>
          </p14:sldIdLst>
        </p14:section>
        <p14:section name="Diseño de la solución" id="{1b652ba7-2c0a-09cb-9d3a-f303f04064cb}">
          <p14:sldIdLst>
            <p14:sldId id="264"/>
            <p14:sldId id="265"/>
            <p14:sldId id="266"/>
            <p14:sldId id="267"/>
            <p14:sldId id="268"/>
          </p14:sldIdLst>
        </p14:section>
        <p14:section name="Resultados" id="{4ca969aa-5c00-03f5-54d9-f0d23a0f31d5}">
          <p14:sldIdLst>
            <p14:sldId id="269"/>
            <p14:sldId id="270"/>
            <p14:sldId id="271"/>
            <p14:sldId id="272"/>
          </p14:sldIdLst>
        </p14:section>
        <p14:section name="Limitaciones" id="{3befea10-f6f3-7740-e951-b2524fe2fc8c}">
          <p14:sldIdLst>
            <p14:sldId id="273"/>
          </p14:sldIdLst>
        </p14:section>
        <p14:section name="Próximos pasos" id="{695c2637-72c1-b9cb-9b14-c19b4ddb2026}">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235"/>
                </a:solidFill>
                <a:latin typeface="+mn-lt"/>
              </a:defRPr>
            </a:pPr>
            <a:r>
              <a:rPr sz="1200" b="0" i="0" u="none" strike="noStrike">
                <a:solidFill>
                  <a:srgbClr val="1B2235"/>
                </a:solidFill>
                <a:latin typeface="+mn-lt"/>
              </a:rPr>
              <a:t>Caída de accuracy ID → OOD por tarea (%) — en teal, los datasets de DARL</a:t>
            </a:r>
          </a:p>
        </c:rich>
      </c:tx>
      <c:layout/>
      <c:overlay val="0"/>
    </c:title>
    <c:autoTitleDeleted val="0"/>
    <c:plotArea>
      <c:layout/>
      <c:barChart>
        <c:barDir val="bar"/>
        <c:grouping val="clustered"/>
        <c:varyColors val="0"/>
        <c:ser>
          <c:idx val="0"/>
          <c:order val="0"/>
          <c:tx>
            <c:strRef>
              <c:f>Sheet1!$B$1</c:f>
              <c:strCache>
                <c:ptCount val="1"/>
                <c:pt idx="0">
                  <c:v>Caída de accuracy (%)</c:v>
                </c:pt>
              </c:strCache>
            </c:strRef>
          </c:tx>
          <c:spPr>
            <a:solidFill>
              <a:srgbClr val="C9CFD8"/>
            </a:solidFill>
            <a:effectLst/>
          </c:spPr>
          <c:invertIfNegative val="0"/>
          <c:dLbls>
            <c:numFmt formatCode="0.0" sourceLinked="0"/>
            <c:txPr>
              <a:bodyPr/>
              <a:lstStyle/>
              <a:p>
                <a:pPr>
                  <a:defRPr b="0" i="0" strike="noStrike" sz="1000" u="none">
                    <a:solidFill>
                      <a:srgbClr val="4A5568"/>
                    </a:solidFill>
                    <a:latin typeface="+mn-lt"/>
                  </a:defRPr>
                </a:pPr>
              </a:p>
            </c:txPr>
            <c:showLegendKey val="0"/>
            <c:showVal val="1"/>
            <c:showCatName val="0"/>
            <c:showSerName val="0"/>
            <c:showPercent val="0"/>
            <c:showBubbleSize val="0"/>
            <c:showLeaderLines val="0"/>
          </c:dLbls>
          <c:dPt>
            <c:idx val="0"/>
            <c:invertIfNegative val="0"/>
            <c:bubble3D val="0"/>
            <c:spPr>
              <a:solidFill>
                <a:srgbClr val="C9CFD8"/>
              </a:solidFill>
              <a:effectLst/>
            </c:spPr>
          </c:dPt>
          <c:dPt>
            <c:idx val="1"/>
            <c:invertIfNegative val="0"/>
            <c:bubble3D val="0"/>
            <c:spPr>
              <a:solidFill>
                <a:srgbClr val="C9CFD8"/>
              </a:solidFill>
              <a:effectLst/>
            </c:spPr>
          </c:dPt>
          <c:dPt>
            <c:idx val="2"/>
            <c:invertIfNegative val="0"/>
            <c:bubble3D val="0"/>
            <c:spPr>
              <a:solidFill>
                <a:srgbClr val="C9CFD8"/>
              </a:solidFill>
              <a:effectLst/>
            </c:spPr>
          </c:dPt>
          <c:dPt>
            <c:idx val="3"/>
            <c:invertIfNegative val="0"/>
            <c:bubble3D val="0"/>
            <c:spPr>
              <a:solidFill>
                <a:srgbClr val="C9CFD8"/>
              </a:solidFill>
              <a:effectLst/>
            </c:spPr>
          </c:dPt>
          <c:dPt>
            <c:idx val="4"/>
            <c:invertIfNegative val="0"/>
            <c:bubble3D val="0"/>
            <c:spPr>
              <a:solidFill>
                <a:srgbClr val="C9CFD8"/>
              </a:solidFill>
              <a:effectLst/>
            </c:spPr>
          </c:dPt>
          <c:dPt>
            <c:idx val="5"/>
            <c:invertIfNegative val="0"/>
            <c:bubble3D val="0"/>
            <c:spPr>
              <a:solidFill>
                <a:srgbClr val="C9CFD8"/>
              </a:solidFill>
              <a:effectLst/>
            </c:spPr>
          </c:dPt>
          <c:dPt>
            <c:idx val="6"/>
            <c:invertIfNegative val="0"/>
            <c:bubble3D val="0"/>
            <c:spPr>
              <a:solidFill>
                <a:srgbClr val="C9CFD8"/>
              </a:solidFill>
              <a:effectLst/>
            </c:spPr>
          </c:dPt>
          <c:dPt>
            <c:idx val="7"/>
            <c:invertIfNegative val="0"/>
            <c:bubble3D val="0"/>
            <c:spPr>
              <a:solidFill>
                <a:srgbClr val="C9CFD8"/>
              </a:solidFill>
              <a:effectLst/>
            </c:spPr>
          </c:dPt>
          <c:dPt>
            <c:idx val="8"/>
            <c:invertIfNegative val="0"/>
            <c:bubble3D val="0"/>
            <c:spPr>
              <a:solidFill>
                <a:srgbClr val="0F7C80"/>
              </a:solidFill>
              <a:effectLst/>
            </c:spPr>
          </c:dPt>
          <c:dPt>
            <c:idx val="9"/>
            <c:invertIfNegative val="0"/>
            <c:bubble3D val="0"/>
            <c:spPr>
              <a:solidFill>
                <a:srgbClr val="0F7C80"/>
              </a:solidFill>
              <a:effectLst/>
            </c:spPr>
          </c:dPt>
          <c:dPt>
            <c:idx val="10"/>
            <c:invertIfNegative val="0"/>
            <c:bubble3D val="0"/>
            <c:spPr>
              <a:solidFill>
                <a:srgbClr val="C9CFD8"/>
              </a:solidFill>
              <a:effectLst/>
            </c:spPr>
          </c:dPt>
          <c:dPt>
            <c:idx val="11"/>
            <c:invertIfNegative val="0"/>
            <c:bubble3D val="0"/>
            <c:spPr>
              <a:solidFill>
                <a:srgbClr val="C9CFD8"/>
              </a:solidFill>
              <a:effectLst/>
            </c:spPr>
          </c:dPt>
          <c:dPt>
            <c:idx val="12"/>
            <c:invertIfNegative val="0"/>
            <c:bubble3D val="0"/>
            <c:spPr>
              <a:solidFill>
                <a:srgbClr val="C9CFD8"/>
              </a:solidFill>
              <a:effectLst/>
            </c:spPr>
          </c:dPt>
          <c:dPt>
            <c:idx val="13"/>
            <c:invertIfNegative val="0"/>
            <c:bubble3D val="0"/>
            <c:spPr>
              <a:solidFill>
                <a:srgbClr val="C9CFD8"/>
              </a:solidFill>
              <a:effectLst/>
            </c:spPr>
          </c:dPt>
          <c:dPt>
            <c:idx val="14"/>
            <c:invertIfNegative val="0"/>
            <c:bubble3D val="0"/>
            <c:spPr>
              <a:solidFill>
                <a:srgbClr val="C9CFD8"/>
              </a:solidFill>
              <a:effectLst/>
            </c:spPr>
          </c:dPt>
          <c:cat>
            <c:multiLvlStrRef>
              <c:f>Sheet1!$A$2:$A$16</c:f>
              <c:multiLvlStrCache>
                <c:ptCount val="15"/>
                <c:lvl>
                  <c:pt idx="0">
                    <c:v>Income</c:v>
                  </c:pt>
                  <c:pt idx="1">
                    <c:v>Unemployment</c:v>
                  </c:pt>
                  <c:pt idx="2">
                    <c:v>Food Stamps</c:v>
                  </c:pt>
                  <c:pt idx="3">
                    <c:v>Voting</c:v>
                  </c:pt>
                  <c:pt idx="4">
                    <c:v>ICU Length of Stay</c:v>
                  </c:pt>
                  <c:pt idx="5">
                    <c:v>Hypertension</c:v>
                  </c:pt>
                  <c:pt idx="6">
                    <c:v>Diabetes</c:v>
                  </c:pt>
                  <c:pt idx="7">
                    <c:v>Childhood Lead</c:v>
                  </c:pt>
                  <c:pt idx="8">
                    <c:v>Hospital Readmission</c:v>
                  </c:pt>
                  <c:pt idx="9">
                    <c:v>Sepsis (PhysioNet)</c:v>
                  </c:pt>
                  <c:pt idx="10">
                    <c:v>ICU Mortality</c:v>
                  </c:pt>
                  <c:pt idx="11">
                    <c:v>College Scorecard</c:v>
                  </c:pt>
                  <c:pt idx="12">
                    <c:v>Public Health Ins.</c:v>
                  </c:pt>
                  <c:pt idx="13">
                    <c:v>FICO HELOC</c:v>
                  </c:pt>
                  <c:pt idx="14">
                    <c:v>ASSISTments</c:v>
                  </c:pt>
                </c:lvl>
              </c:multiLvlStrCache>
            </c:multiLvlStrRef>
          </c:cat>
          <c:val>
            <c:numRef>
              <c:f>Sheet1!$B$2:$B$16</c:f>
              <c:numCache>
                <c:formatCode>General</c:formatCode>
                <c:ptCount val="15"/>
                <c:pt idx="0">
                  <c:v>1.25</c:v>
                </c:pt>
                <c:pt idx="1">
                  <c:v>1.28</c:v>
                </c:pt>
                <c:pt idx="2">
                  <c:v>2.39</c:v>
                </c:pt>
                <c:pt idx="3">
                  <c:v>2.58</c:v>
                </c:pt>
                <c:pt idx="4">
                  <c:v>3.39</c:v>
                </c:pt>
                <c:pt idx="5">
                  <c:v>4.36</c:v>
                </c:pt>
                <c:pt idx="6">
                  <c:v>4.48</c:v>
                </c:pt>
                <c:pt idx="7">
                  <c:v>5.12</c:v>
                </c:pt>
                <c:pt idx="8">
                  <c:v>5.94</c:v>
                </c:pt>
                <c:pt idx="9">
                  <c:v>6.05</c:v>
                </c:pt>
                <c:pt idx="10">
                  <c:v>6.3</c:v>
                </c:pt>
                <c:pt idx="11">
                  <c:v>11.16</c:v>
                </c:pt>
                <c:pt idx="12">
                  <c:v>14.46</c:v>
                </c:pt>
                <c:pt idx="13">
                  <c:v>22.58</c:v>
                </c:pt>
                <c:pt idx="14">
                  <c:v>34.49</c:v>
                </c:pt>
              </c:numCache>
            </c:numRef>
          </c:val>
        </c:ser>
        <c:dLbls>
          <c:numFmt formatCode="0.0" sourceLinked="0"/>
          <c:txPr>
            <a:bodyPr/>
            <a:lstStyle/>
            <a:p>
              <a:pPr>
                <a:defRPr b="0" i="0" strike="noStrike" sz="1000" u="none">
                  <a:solidFill>
                    <a:srgbClr val="4A556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235"/>
                </a:solidFill>
                <a:latin typeface="+mn-lt"/>
              </a:defRPr>
            </a:pPr>
            <a:r>
              <a:rPr sz="1300" b="0" i="0" u="none" strike="noStrike">
                <a:solidFill>
                  <a:srgbClr val="1B2235"/>
                </a:solidFill>
                <a:latin typeface="+mn-lt"/>
              </a:rPr>
              <a:t>Diabetes Readmission: AUC según el mecanismo</a:t>
            </a:r>
          </a:p>
        </c:rich>
      </c:tx>
      <c:layout/>
      <c:overlay val="0"/>
    </c:title>
    <c:autoTitleDeleted val="0"/>
    <c:plotArea>
      <c:layout/>
      <c:lineChart>
        <c:varyColors val="0"/>
        <c:ser>
          <c:idx val="0"/>
          <c:order val="0"/>
          <c:tx>
            <c:strRef>
              <c:f>Sheet1!$B$1</c:f>
              <c:strCache>
                <c:ptCount val="1"/>
                <c:pt idx="0">
                  <c:v>logit_shift (v3)</c:v>
                </c:pt>
              </c:strCache>
            </c:strRef>
          </c:tx>
          <c:spPr>
            <a:solidFill>
              <a:srgbClr val="9AA3B2"/>
            </a:solidFill>
            <a:ln w="38100" cap="flat">
              <a:solidFill>
                <a:srgbClr val="9AA3B2"/>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9AA3B2"/>
              </a:solidFill>
              <a:ln w="9525" cap="flat">
                <a:solidFill>
                  <a:srgbClr val="9AA3B2"/>
                </a:solidFill>
                <a:prstDash val="solid"/>
                <a:round/>
              </a:ln>
              <a:effectLst/>
            </c:spPr>
          </c:marker>
          <c:cat>
            <c:multiLvlStrRef>
              <c:f>Sheet1!$A$2:$A$7</c:f>
              <c:multiLvlStrCache>
                <c:ptCount val="6"/>
                <c:lvl>
                  <c:pt idx="0">
                    <c:v>0</c:v>
                  </c:pt>
                  <c:pt idx="1">
                    <c:v>0.2</c:v>
                  </c:pt>
                  <c:pt idx="2">
                    <c:v>0.5</c:v>
                  </c:pt>
                  <c:pt idx="3">
                    <c:v>0.8</c:v>
                  </c:pt>
                  <c:pt idx="4">
                    <c:v>1.0</c:v>
                  </c:pt>
                  <c:pt idx="5">
                    <c:v>1.2</c:v>
                  </c:pt>
                </c:lvl>
              </c:multiLvlStrCache>
            </c:multiLvlStrRef>
          </c:cat>
          <c:val>
            <c:numRef>
              <c:f>Sheet1!$B$2:$B$7</c:f>
              <c:numCache>
                <c:formatCode>General</c:formatCode>
                <c:ptCount val="6"/>
                <c:pt idx="0">
                  <c:v>0.65</c:v>
                </c:pt>
                <c:pt idx="1">
                  <c:v>0.651</c:v>
                </c:pt>
                <c:pt idx="2">
                  <c:v>0.652</c:v>
                </c:pt>
                <c:pt idx="3">
                  <c:v>0.658</c:v>
                </c:pt>
                <c:pt idx="4">
                  <c:v>0.663</c:v>
                </c:pt>
                <c:pt idx="5">
                  <c:v>0.661</c:v>
                </c:pt>
              </c:numCache>
            </c:numRef>
          </c:val>
          <c:smooth val="0"/>
        </c:ser>
        <c:ser>
          <c:idx val="1"/>
          <c:order val="1"/>
          <c:tx>
            <c:strRef>
              <c:f>Sheet1!$C$1</c:f>
              <c:strCache>
                <c:ptCount val="1"/>
                <c:pt idx="0">
                  <c:v>logit_reweight (v4)</c:v>
                </c:pt>
              </c:strCache>
            </c:strRef>
          </c:tx>
          <c:spPr>
            <a:solidFill>
              <a:srgbClr val="5B4FC4"/>
            </a:solidFill>
            <a:ln w="38100" cap="flat">
              <a:solidFill>
                <a:srgbClr val="5B4FC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5B4FC4"/>
              </a:solidFill>
              <a:ln w="9525" cap="flat">
                <a:solidFill>
                  <a:srgbClr val="5B4FC4"/>
                </a:solidFill>
                <a:prstDash val="solid"/>
                <a:round/>
              </a:ln>
              <a:effectLst/>
            </c:spPr>
          </c:marker>
          <c:cat>
            <c:multiLvlStrRef>
              <c:f>Sheet1!$A$2:$A$7</c:f>
              <c:multiLvlStrCache>
                <c:ptCount val="6"/>
                <c:lvl>
                  <c:pt idx="0">
                    <c:v>0</c:v>
                  </c:pt>
                  <c:pt idx="1">
                    <c:v>0.2</c:v>
                  </c:pt>
                  <c:pt idx="2">
                    <c:v>0.5</c:v>
                  </c:pt>
                  <c:pt idx="3">
                    <c:v>0.8</c:v>
                  </c:pt>
                  <c:pt idx="4">
                    <c:v>1.0</c:v>
                  </c:pt>
                  <c:pt idx="5">
                    <c:v>1.2</c:v>
                  </c:pt>
                </c:lvl>
              </c:multiLvlStrCache>
            </c:multiLvlStrRef>
          </c:cat>
          <c:val>
            <c:numRef>
              <c:f>Sheet1!$C$2:$C$7</c:f>
              <c:numCache>
                <c:formatCode>General</c:formatCode>
                <c:ptCount val="6"/>
                <c:pt idx="0">
                  <c:v>0.65</c:v>
                </c:pt>
                <c:pt idx="1">
                  <c:v>0.645</c:v>
                </c:pt>
                <c:pt idx="2">
                  <c:v>0.623</c:v>
                </c:pt>
                <c:pt idx="3">
                  <c:v>0.576</c:v>
                </c:pt>
                <c:pt idx="4">
                  <c:v>0.548</c:v>
                </c:pt>
                <c:pt idx="5">
                  <c:v>0.537</c:v>
                </c:pt>
              </c:numCache>
            </c:numRef>
          </c:val>
          <c:smooth val="0"/>
        </c:ser>
        <c:ser>
          <c:idx val="2"/>
          <c:order val="2"/>
          <c:tx>
            <c:strRef>
              <c:f>Sheet1!$D$1</c:f>
              <c:strCache>
                <c:ptCount val="1"/>
                <c:pt idx="0">
                  <c:v>ruido (v1, control)</c:v>
                </c:pt>
              </c:strCache>
            </c:strRef>
          </c:tx>
          <c:spPr>
            <a:solidFill>
              <a:srgbClr val="D9534F"/>
            </a:solidFill>
            <a:ln w="38100" cap="flat">
              <a:solidFill>
                <a:srgbClr val="D9534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D9534F"/>
              </a:solidFill>
              <a:ln w="9525" cap="flat">
                <a:solidFill>
                  <a:srgbClr val="D9534F"/>
                </a:solidFill>
                <a:prstDash val="solid"/>
                <a:round/>
              </a:ln>
              <a:effectLst/>
            </c:spPr>
          </c:marker>
          <c:cat>
            <c:multiLvlStrRef>
              <c:f>Sheet1!$A$2:$A$7</c:f>
              <c:multiLvlStrCache>
                <c:ptCount val="6"/>
                <c:lvl>
                  <c:pt idx="0">
                    <c:v>0</c:v>
                  </c:pt>
                  <c:pt idx="1">
                    <c:v>0.2</c:v>
                  </c:pt>
                  <c:pt idx="2">
                    <c:v>0.5</c:v>
                  </c:pt>
                  <c:pt idx="3">
                    <c:v>0.8</c:v>
                  </c:pt>
                  <c:pt idx="4">
                    <c:v>1.0</c:v>
                  </c:pt>
                  <c:pt idx="5">
                    <c:v>1.2</c:v>
                  </c:pt>
                </c:lvl>
              </c:multiLvlStrCache>
            </c:multiLvlStrRef>
          </c:cat>
          <c:val>
            <c:numRef>
              <c:f>Sheet1!$D$2:$D$7</c:f>
              <c:numCache>
                <c:formatCode>General</c:formatCode>
                <c:ptCount val="6"/>
                <c:pt idx="0">
                  <c:v>0.65</c:v>
                </c:pt>
                <c:pt idx="1">
                  <c:v>0.625</c:v>
                </c:pt>
                <c:pt idx="2">
                  <c:v>0.578</c:v>
                </c:pt>
                <c:pt idx="3">
                  <c:v>0.546</c:v>
                </c:pt>
                <c:pt idx="4">
                  <c:v>0.522</c:v>
                </c:pt>
                <c:pt idx="5">
                  <c:v>0.483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5568"/>
                    </a:solidFill>
                    <a:latin typeface="Arial"/>
                  </a:defRPr>
                </a:pPr>
                <a:r>
                  <a:rPr sz="1200" b="0" i="0" u="none" strike="noStrike">
                    <a:solidFill>
                      <a:srgbClr val="4A5568"/>
                    </a:solidFill>
                    <a:latin typeface="Arial"/>
                  </a:rPr>
                  <a:t>Severidad γ</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7"/>
          <c:min val="0.45"/>
        </c:scaling>
        <c:delete val="0"/>
        <c:axPos val="l"/>
        <c:majorGridlines>
          <c:spPr>
            <a:ln w="6350" cap="flat">
              <a:solidFill>
                <a:srgbClr val="E2E6EC"/>
              </a:solidFill>
              <a:prstDash val="solid"/>
              <a:round/>
            </a:ln>
          </c:spPr>
        </c:majorGridlines>
        <c:title>
          <c:tx>
            <c:rich>
              <a:bodyPr/>
              <a:lstStyle/>
              <a:p>
                <a:pPr>
                  <a:defRPr sz="1200" b="0" i="0" u="none" strike="noStrike">
                    <a:solidFill>
                      <a:srgbClr val="4A5568"/>
                    </a:solidFill>
                    <a:latin typeface="Arial"/>
                  </a:defRPr>
                </a:pPr>
                <a:r>
                  <a:rPr sz="1200" b="0" i="0" u="none" strike="noStrike">
                    <a:solidFill>
                      <a:srgbClr val="4A5568"/>
                    </a:solidFill>
                    <a:latin typeface="Arial"/>
                  </a:rPr>
                  <a:t>AUC del modelo congelado</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23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235"/>
                </a:solidFill>
                <a:latin typeface="+mn-lt"/>
              </a:defRPr>
            </a:pPr>
            <a:r>
              <a:rPr sz="1300" b="0" i="0" u="none" strike="noStrike">
                <a:solidFill>
                  <a:srgbClr val="1B2235"/>
                </a:solidFill>
                <a:latin typeface="+mn-lt"/>
              </a:rPr>
              <a:t>PhysioNet: AUC por acción</a:t>
            </a:r>
          </a:p>
        </c:rich>
      </c:tx>
      <c:layout/>
      <c:overlay val="0"/>
    </c:title>
    <c:autoTitleDeleted val="0"/>
    <c:plotArea>
      <c:layout/>
      <c:lineChart>
        <c:varyColors val="0"/>
        <c:ser>
          <c:idx val="0"/>
          <c:order val="0"/>
          <c:tx>
            <c:strRef>
              <c:f>Sheet1!$B$1</c:f>
              <c:strCache>
                <c:ptCount val="1"/>
                <c:pt idx="0">
                  <c:v>A1 = A2 = A2c (corrigen X)</c:v>
                </c:pt>
              </c:strCache>
            </c:strRef>
          </c:tx>
          <c:spPr>
            <a:solidFill>
              <a:srgbClr val="D9534F"/>
            </a:solidFill>
            <a:ln w="38100" cap="flat">
              <a:solidFill>
                <a:srgbClr val="D9534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D9534F"/>
              </a:solidFill>
              <a:ln w="9525" cap="flat">
                <a:solidFill>
                  <a:srgbClr val="D9534F"/>
                </a:solidFill>
                <a:prstDash val="solid"/>
                <a:round/>
              </a:ln>
              <a:effectLst/>
            </c:spPr>
          </c:marker>
          <c:cat>
            <c:multiLvlStrRef>
              <c:f>Sheet1!$A$2:$A$7</c:f>
              <c:multiLvlStrCache>
                <c:ptCount val="6"/>
                <c:lvl>
                  <c:pt idx="0">
                    <c:v>0</c:v>
                  </c:pt>
                  <c:pt idx="1">
                    <c:v>0.2</c:v>
                  </c:pt>
                  <c:pt idx="2">
                    <c:v>0.5</c:v>
                  </c:pt>
                  <c:pt idx="3">
                    <c:v>0.8</c:v>
                  </c:pt>
                  <c:pt idx="4">
                    <c:v>1.0</c:v>
                  </c:pt>
                  <c:pt idx="5">
                    <c:v>1.2</c:v>
                  </c:pt>
                </c:lvl>
              </c:multiLvlStrCache>
            </c:multiLvlStrRef>
          </c:cat>
          <c:val>
            <c:numRef>
              <c:f>Sheet1!$B$2:$B$7</c:f>
              <c:numCache>
                <c:formatCode>General</c:formatCode>
                <c:ptCount val="6"/>
                <c:pt idx="0">
                  <c:v>0.617</c:v>
                </c:pt>
                <c:pt idx="1">
                  <c:v>0.616</c:v>
                </c:pt>
                <c:pt idx="2">
                  <c:v>0.6</c:v>
                </c:pt>
                <c:pt idx="3">
                  <c:v>0.518</c:v>
                </c:pt>
                <c:pt idx="4">
                  <c:v>0.416</c:v>
                </c:pt>
                <c:pt idx="5">
                  <c:v>0.346</c:v>
                </c:pt>
              </c:numCache>
            </c:numRef>
          </c:val>
          <c:smooth val="0"/>
        </c:ser>
        <c:ser>
          <c:idx val="1"/>
          <c:order val="1"/>
          <c:tx>
            <c:strRef>
              <c:f>Sheet1!$C$1</c:f>
              <c:strCache>
                <c:ptCount val="1"/>
                <c:pt idx="0">
                  <c:v>A3 = A4 (reentrenan Stage 2)</c:v>
                </c:pt>
              </c:strCache>
            </c:strRef>
          </c:tx>
          <c:spPr>
            <a:solidFill>
              <a:srgbClr val="5B4FC4"/>
            </a:solidFill>
            <a:ln w="38100" cap="flat">
              <a:solidFill>
                <a:srgbClr val="5B4FC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5B4FC4"/>
              </a:solidFill>
              <a:ln w="9525" cap="flat">
                <a:solidFill>
                  <a:srgbClr val="5B4FC4"/>
                </a:solidFill>
                <a:prstDash val="solid"/>
                <a:round/>
              </a:ln>
              <a:effectLst/>
            </c:spPr>
          </c:marker>
          <c:cat>
            <c:multiLvlStrRef>
              <c:f>Sheet1!$A$2:$A$7</c:f>
              <c:multiLvlStrCache>
                <c:ptCount val="6"/>
                <c:lvl>
                  <c:pt idx="0">
                    <c:v>0</c:v>
                  </c:pt>
                  <c:pt idx="1">
                    <c:v>0.2</c:v>
                  </c:pt>
                  <c:pt idx="2">
                    <c:v>0.5</c:v>
                  </c:pt>
                  <c:pt idx="3">
                    <c:v>0.8</c:v>
                  </c:pt>
                  <c:pt idx="4">
                    <c:v>1.0</c:v>
                  </c:pt>
                  <c:pt idx="5">
                    <c:v>1.2</c:v>
                  </c:pt>
                </c:lvl>
              </c:multiLvlStrCache>
            </c:multiLvlStrRef>
          </c:cat>
          <c:val>
            <c:numRef>
              <c:f>Sheet1!$C$2:$C$7</c:f>
              <c:numCache>
                <c:formatCode>General</c:formatCode>
                <c:ptCount val="6"/>
                <c:pt idx="0">
                  <c:v>0.617</c:v>
                </c:pt>
                <c:pt idx="1">
                  <c:v>0.617</c:v>
                </c:pt>
                <c:pt idx="2">
                  <c:v>0.602</c:v>
                </c:pt>
                <c:pt idx="3">
                  <c:v>0.533</c:v>
                </c:pt>
                <c:pt idx="4">
                  <c:v>0.594</c:v>
                </c:pt>
                <c:pt idx="5">
                  <c:v>0.663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5568"/>
                    </a:solidFill>
                    <a:latin typeface="Arial"/>
                  </a:defRPr>
                </a:pPr>
                <a:r>
                  <a:rPr sz="1200" b="0" i="0" u="none" strike="noStrike">
                    <a:solidFill>
                      <a:srgbClr val="4A5568"/>
                    </a:solidFill>
                    <a:latin typeface="Arial"/>
                  </a:rPr>
                  <a:t>Severidad γ (concept drift puro)</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7"/>
          <c:min val="0.3"/>
        </c:scaling>
        <c:delete val="0"/>
        <c:axPos val="l"/>
        <c:majorGridlines>
          <c:spPr>
            <a:ln w="6350" cap="flat">
              <a:solidFill>
                <a:srgbClr val="E2E6EC"/>
              </a:solidFill>
              <a:prstDash val="solid"/>
              <a:round/>
            </a:ln>
          </c:spPr>
        </c:majorGridlines>
        <c:title>
          <c:tx>
            <c:rich>
              <a:bodyPr/>
              <a:lstStyle/>
              <a:p>
                <a:pPr>
                  <a:defRPr sz="1200" b="0" i="0" u="none" strike="noStrike">
                    <a:solidFill>
                      <a:srgbClr val="4A5568"/>
                    </a:solidFill>
                    <a:latin typeface="Arial"/>
                  </a:defRPr>
                </a:pPr>
                <a:r>
                  <a:rPr sz="1200" b="0" i="0" u="none" strike="noStrike">
                    <a:solidFill>
                      <a:srgbClr val="4A5568"/>
                    </a:solidFill>
                    <a:latin typeface="Arial"/>
                  </a:rPr>
                  <a:t>AUC-ROC</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23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235"/>
                </a:solidFill>
                <a:latin typeface="+mn-lt"/>
              </a:defRPr>
            </a:pPr>
            <a:r>
              <a:rPr sz="1300" b="0" i="0" u="none" strike="noStrike">
                <a:solidFill>
                  <a:srgbClr val="1B2235"/>
                </a:solidFill>
                <a:latin typeface="+mn-lt"/>
              </a:rPr>
              <a:t>Acciones elegidas en la evaluación final</a:t>
            </a:r>
          </a:p>
        </c:rich>
      </c:tx>
      <c:layout/>
      <c:overlay val="0"/>
    </c:title>
    <c:autoTitleDeleted val="0"/>
    <c:plotArea>
      <c:layout/>
      <c:doughnutChart>
        <c:varyColors val="1"/>
        <c:ser>
          <c:idx val="0"/>
          <c:order val="0"/>
          <c:tx>
            <c:strRef>
              <c:f>Sheet1!$B$1</c:f>
              <c:strCache>
                <c:ptCount val="1"/>
                <c:pt idx="0">
                  <c:v>Acciones</c:v>
                </c:pt>
              </c:strCache>
            </c:strRef>
          </c:tx>
          <c:spPr>
            <a:solidFill>
              <a:schemeClr val="accent1"/>
            </a:solidFill>
            <a:ln w="9525" cap="flat">
              <a:solidFill>
                <a:srgbClr val="F9F9F9"/>
              </a:solidFill>
              <a:prstDash val="solid"/>
              <a:round/>
            </a:ln>
            <a:effectLst/>
          </c:spPr>
          <c:dPt>
            <c:idx val="0"/>
            <c:bubble3D val="0"/>
            <c:spPr>
              <a:solidFill>
                <a:srgbClr val="0F7C80"/>
              </a:solidFill>
              <a:effectLst/>
            </c:spPr>
          </c:dPt>
          <c:dPt>
            <c:idx val="1"/>
            <c:bubble3D val="0"/>
            <c:spPr>
              <a:solidFill>
                <a:srgbClr val="5B4FC4"/>
              </a:solidFill>
              <a:effectLst/>
            </c:spPr>
          </c:dPt>
          <c:dLbls>
            <c:dLbl>
              <c:idx val="0"/>
              <c:numFmt formatCode="0.0&quot;%&quot;"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1"/>
              <c:numFmt formatCode="0.0&quot;%&quot;"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numFmt formatCode="0.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Update features</c:v>
                </c:pt>
                <c:pt idx="1">
                  <c:v>Update model</c:v>
                </c:pt>
              </c:strCache>
            </c:strRef>
          </c:cat>
          <c:val>
            <c:numRef>
              <c:f>Sheet1!$B$2:$B$3</c:f>
              <c:numCache>
                <c:ptCount val="2"/>
                <c:pt idx="0">
                  <c:v>59.86</c:v>
                </c:pt>
                <c:pt idx="1">
                  <c:v>40.14</c:v>
                </c:pt>
              </c:numCache>
            </c:numRef>
          </c:val>
        </c:ser>
        <c:firstSliceAng val="0"/>
        <c:holeSize val="55"/>
      </c:doughnutChart>
      <c:spPr>
        <a:noFill/>
        <a:ln>
          <a:noFill/>
        </a:ln>
        <a:effectLst/>
      </c:spPr>
    </c:plotArea>
    <c:legend>
      <c:legendPos val="b"/>
      <c:overlay val="0"/>
      <c:txPr>
        <a:bodyPr/>
        <a:lstStyle/>
        <a:p>
          <a:pPr>
            <a:defRPr sz="1300">
              <a:solidFill>
                <a:srgbClr val="1B223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235"/>
                </a:solidFill>
                <a:latin typeface="+mn-lt"/>
              </a:defRPr>
            </a:pPr>
            <a:r>
              <a:rPr sz="1300" b="0" i="0" u="none" strike="noStrike">
                <a:solidFill>
                  <a:srgbClr val="1B2235"/>
                </a:solidFill>
                <a:latin typeface="+mn-lt"/>
              </a:rPr>
              <a:t>PhysioNet: A3 sola supera a A4</a:t>
            </a:r>
          </a:p>
        </c:rich>
      </c:tx>
      <c:layout/>
      <c:overlay val="0"/>
    </c:title>
    <c:autoTitleDeleted val="0"/>
    <c:plotArea>
      <c:layout/>
      <c:barChart>
        <c:barDir val="col"/>
        <c:grouping val="clustered"/>
        <c:varyColors val="0"/>
        <c:ser>
          <c:idx val="0"/>
          <c:order val="0"/>
          <c:tx>
            <c:strRef>
              <c:f>Sheet1!$B$1</c:f>
              <c:strCache>
                <c:ptCount val="1"/>
                <c:pt idx="0">
                  <c:v>A1 Defer</c:v>
                </c:pt>
              </c:strCache>
            </c:strRef>
          </c:tx>
          <c:spPr>
            <a:solidFill>
              <a:srgbClr val="D9534F"/>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Sheet1!$A$2:$A$4</c:f>
              <c:multiLvlStrCache>
                <c:ptCount val="3"/>
                <c:lvl>
                  <c:pt idx="0">
                    <c:v>γ = 0.8</c:v>
                  </c:pt>
                  <c:pt idx="1">
                    <c:v>γ = 1.0</c:v>
                  </c:pt>
                  <c:pt idx="2">
                    <c:v>γ = 1.2</c:v>
                  </c:pt>
                </c:lvl>
              </c:multiLvlStrCache>
            </c:multiLvlStrRef>
          </c:cat>
          <c:val>
            <c:numRef>
              <c:f>Sheet1!$B$2:$B$4</c:f>
              <c:numCache>
                <c:formatCode>General</c:formatCode>
                <c:ptCount val="3"/>
                <c:pt idx="0">
                  <c:v>0.474</c:v>
                </c:pt>
                <c:pt idx="1">
                  <c:v>0.414</c:v>
                </c:pt>
                <c:pt idx="2">
                  <c:v>0.336</c:v>
                </c:pt>
              </c:numCache>
            </c:numRef>
          </c:val>
        </c:ser>
        <c:ser>
          <c:idx val="1"/>
          <c:order val="1"/>
          <c:tx>
            <c:strRef>
              <c:f>Sheet1!$C$1</c:f>
              <c:strCache>
                <c:ptCount val="1"/>
                <c:pt idx="0">
                  <c:v>A3 Update model</c:v>
                </c:pt>
              </c:strCache>
            </c:strRef>
          </c:tx>
          <c:spPr>
            <a:solidFill>
              <a:srgbClr val="5B4FC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Sheet1!$A$2:$A$4</c:f>
              <c:multiLvlStrCache>
                <c:ptCount val="3"/>
                <c:lvl>
                  <c:pt idx="0">
                    <c:v>γ = 0.8</c:v>
                  </c:pt>
                  <c:pt idx="1">
                    <c:v>γ = 1.0</c:v>
                  </c:pt>
                  <c:pt idx="2">
                    <c:v>γ = 1.2</c:v>
                  </c:pt>
                </c:lvl>
              </c:multiLvlStrCache>
            </c:multiLvlStrRef>
          </c:cat>
          <c:val>
            <c:numRef>
              <c:f>Sheet1!$C$2:$C$4</c:f>
              <c:numCache>
                <c:formatCode>General</c:formatCode>
                <c:ptCount val="3"/>
                <c:pt idx="0">
                  <c:v>0.528</c:v>
                </c:pt>
                <c:pt idx="1">
                  <c:v>0.591</c:v>
                </c:pt>
                <c:pt idx="2">
                  <c:v>0.672</c:v>
                </c:pt>
              </c:numCache>
            </c:numRef>
          </c:val>
        </c:ser>
        <c:ser>
          <c:idx val="2"/>
          <c:order val="2"/>
          <c:tx>
            <c:strRef>
              <c:f>Sheet1!$D$1</c:f>
              <c:strCache>
                <c:ptCount val="1"/>
                <c:pt idx="0">
                  <c:v>A4 Retrain all</c:v>
                </c:pt>
              </c:strCache>
            </c:strRef>
          </c:tx>
          <c:spPr>
            <a:solidFill>
              <a:srgbClr val="2E8B57"/>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Sheet1!$A$2:$A$4</c:f>
              <c:multiLvlStrCache>
                <c:ptCount val="3"/>
                <c:lvl>
                  <c:pt idx="0">
                    <c:v>γ = 0.8</c:v>
                  </c:pt>
                  <c:pt idx="1">
                    <c:v>γ = 1.0</c:v>
                  </c:pt>
                  <c:pt idx="2">
                    <c:v>γ = 1.2</c:v>
                  </c:pt>
                </c:lvl>
              </c:multiLvlStrCache>
            </c:multiLvlStrRef>
          </c:cat>
          <c:val>
            <c:numRef>
              <c:f>Sheet1!$D$2:$D$4</c:f>
              <c:numCache>
                <c:formatCode>General</c:formatCode>
                <c:ptCount val="3"/>
                <c:pt idx="0">
                  <c:v>0.515</c:v>
                </c:pt>
                <c:pt idx="1">
                  <c:v>0.538</c:v>
                </c:pt>
                <c:pt idx="2">
                  <c:v>0.55</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7"/>
          <c:min val="0.3"/>
        </c:scaling>
        <c:delete val="0"/>
        <c:axPos val="l"/>
        <c:majorGridlines>
          <c:spPr>
            <a:ln w="6350" cap="flat">
              <a:solidFill>
                <a:srgbClr val="E2E6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23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235"/>
                </a:solidFill>
                <a:latin typeface="+mn-lt"/>
              </a:defRPr>
            </a:pPr>
            <a:r>
              <a:rPr sz="1300" b="0" i="0" u="none" strike="noStrike">
                <a:solidFill>
                  <a:srgbClr val="1B2235"/>
                </a:solidFill>
                <a:latin typeface="+mn-lt"/>
              </a:rPr>
              <a:t>Diabetes: ninguna acción se separa de A1</a:t>
            </a:r>
          </a:p>
        </c:rich>
      </c:tx>
      <c:layout/>
      <c:overlay val="0"/>
    </c:title>
    <c:autoTitleDeleted val="0"/>
    <c:plotArea>
      <c:layout/>
      <c:barChart>
        <c:barDir val="col"/>
        <c:grouping val="clustered"/>
        <c:varyColors val="0"/>
        <c:ser>
          <c:idx val="0"/>
          <c:order val="0"/>
          <c:tx>
            <c:strRef>
              <c:f>Sheet1!$B$1</c:f>
              <c:strCache>
                <c:ptCount val="1"/>
                <c:pt idx="0">
                  <c:v>A1 Defer</c:v>
                </c:pt>
              </c:strCache>
            </c:strRef>
          </c:tx>
          <c:spPr>
            <a:solidFill>
              <a:srgbClr val="D9534F"/>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Sheet1!$A$2:$A$4</c:f>
              <c:multiLvlStrCache>
                <c:ptCount val="3"/>
                <c:lvl>
                  <c:pt idx="0">
                    <c:v>γ = 0.8</c:v>
                  </c:pt>
                  <c:pt idx="1">
                    <c:v>γ = 1.0</c:v>
                  </c:pt>
                  <c:pt idx="2">
                    <c:v>γ = 1.2</c:v>
                  </c:pt>
                </c:lvl>
              </c:multiLvlStrCache>
            </c:multiLvlStrRef>
          </c:cat>
          <c:val>
            <c:numRef>
              <c:f>Sheet1!$B$2:$B$4</c:f>
              <c:numCache>
                <c:formatCode>General</c:formatCode>
                <c:ptCount val="3"/>
                <c:pt idx="0">
                  <c:v>0.579</c:v>
                </c:pt>
                <c:pt idx="1">
                  <c:v>0.559</c:v>
                </c:pt>
                <c:pt idx="2">
                  <c:v>0.54</c:v>
                </c:pt>
              </c:numCache>
            </c:numRef>
          </c:val>
        </c:ser>
        <c:ser>
          <c:idx val="1"/>
          <c:order val="1"/>
          <c:tx>
            <c:strRef>
              <c:f>Sheet1!$C$1</c:f>
              <c:strCache>
                <c:ptCount val="1"/>
                <c:pt idx="0">
                  <c:v>A3 Update model</c:v>
                </c:pt>
              </c:strCache>
            </c:strRef>
          </c:tx>
          <c:spPr>
            <a:solidFill>
              <a:srgbClr val="5B4FC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Sheet1!$A$2:$A$4</c:f>
              <c:multiLvlStrCache>
                <c:ptCount val="3"/>
                <c:lvl>
                  <c:pt idx="0">
                    <c:v>γ = 0.8</c:v>
                  </c:pt>
                  <c:pt idx="1">
                    <c:v>γ = 1.0</c:v>
                  </c:pt>
                  <c:pt idx="2">
                    <c:v>γ = 1.2</c:v>
                  </c:pt>
                </c:lvl>
              </c:multiLvlStrCache>
            </c:multiLvlStrRef>
          </c:cat>
          <c:val>
            <c:numRef>
              <c:f>Sheet1!$C$2:$C$4</c:f>
              <c:numCache>
                <c:formatCode>General</c:formatCode>
                <c:ptCount val="3"/>
                <c:pt idx="0">
                  <c:v>0.584</c:v>
                </c:pt>
                <c:pt idx="1">
                  <c:v>0.558</c:v>
                </c:pt>
                <c:pt idx="2">
                  <c:v>0.545</c:v>
                </c:pt>
              </c:numCache>
            </c:numRef>
          </c:val>
        </c:ser>
        <c:ser>
          <c:idx val="2"/>
          <c:order val="2"/>
          <c:tx>
            <c:strRef>
              <c:f>Sheet1!$D$1</c:f>
              <c:strCache>
                <c:ptCount val="1"/>
                <c:pt idx="0">
                  <c:v>A4 Retrain all</c:v>
                </c:pt>
              </c:strCache>
            </c:strRef>
          </c:tx>
          <c:spPr>
            <a:solidFill>
              <a:srgbClr val="2E8B57"/>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Sheet1!$A$2:$A$4</c:f>
              <c:multiLvlStrCache>
                <c:ptCount val="3"/>
                <c:lvl>
                  <c:pt idx="0">
                    <c:v>γ = 0.8</c:v>
                  </c:pt>
                  <c:pt idx="1">
                    <c:v>γ = 1.0</c:v>
                  </c:pt>
                  <c:pt idx="2">
                    <c:v>γ = 1.2</c:v>
                  </c:pt>
                </c:lvl>
              </c:multiLvlStrCache>
            </c:multiLvlStrRef>
          </c:cat>
          <c:val>
            <c:numRef>
              <c:f>Sheet1!$D$2:$D$4</c:f>
              <c:numCache>
                <c:formatCode>General</c:formatCode>
                <c:ptCount val="3"/>
                <c:pt idx="0">
                  <c:v>0.583</c:v>
                </c:pt>
                <c:pt idx="1">
                  <c:v>0.56</c:v>
                </c:pt>
                <c:pt idx="2">
                  <c:v>0.544</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7"/>
          <c:min val="0.3"/>
        </c:scaling>
        <c:delete val="0"/>
        <c:axPos val="l"/>
        <c:majorGridlines>
          <c:spPr>
            <a:ln w="6350" cap="flat">
              <a:solidFill>
                <a:srgbClr val="E2E6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23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avance de tesis DARL. Recorrido: problemática, objetivos, diseño de la solución actual, resultados preliminares, limitaciones y próximos pasos. Los cuatro íconos representan las cuatro acciones del agente: diferir, actualizar features, actualizar modelo y reentrenar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Estructura de la exposición, alineada con los criterios: problema, objetivos, diseño, resultados con plan de validación, y limitaciones con siguientes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Gancho: TableShift evalúa 15 tareas tabulares reales en finanzas, salud, educación y políticas públicas. En todas, un modelo bien ajustado cae al pasar a datos fuera de distribución, y ninguno de los 18 modelos evaluados cierra la brecha. En teal resaltamos los dos datasets que usamos: sepsis (PhysioNet) y readmisión hospitalaria. Mensaje: el modelo no cambia, pero los datos sí, y el rendimiento cae en silencio.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pipelines tabulares se usan en dominios críticos. Nuestros dos casos son clínicos: predicción de sepsis en las próximas 6 horas y readmisión de pacientes diabéticos. En ambos, el cambio de población baja el rendimiento cerca de 6 puntos. En la práctica, eso significa alertas que no se disparan o recursos mal asignados.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pipeline tabular tiene dos etapas. La distribución conjunta se factoriza en P(X) por P(Y|X), y cada factor que cambia afecta una etapa distinta (Cai et al.; Gama et al.). Si cambia P(X), se desactualiza el preprocesamiento; si cambia P(Y|X), el modelo. La respuesta habitual es reentrenar todo, que es caro. Pero si solo falló una etapa, actualizar solo esa podría recuperar el rendimiento a una fracción del costo.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DISDE y SHIFT diagnostican el tipo de drift pero no dicen qué hacer. CARA y Severity-Aware deciden cuándo reentrenar considerando costo, pero tratan el pipeline como una unidad y usan umbrales fijos. TableShift caracteriza el problema sin proponer adaptación. Self-Healing organiza estrategias sin evaluarlas. Los propios autores señalan como trabajo futuro adaptar al tipo de drift (Shakhovska) e integrar RL (Tanna). DARL ocupa ese espacio.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pregunta central. El agente no reentrena por defecto: elige una de cuatro acciones según las señales de drift, la caída de rendimiento y el costo.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general y los cuatro específicos, con su estado honesto. OE2 está formalizado. OE1 tiene PSI y KS implementados y el inyector validado; falta integrar C2ST y el severity score en el vector de observación. OE3 es una demo PPO funcional sobre escenarios sintéticos. OE4 solo tiene la tabla empírica en PhysioNet.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diseño es un ciclo de seis módulos. La detección de drift no es el fin: las métricas son señales para decidir. El agente nunca ve las distribuciones reales; solo ve las métricas, por eso es un POMDP.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dos datasets con regímenes distintos: uno numérico (sepsis) y uno categórico (readmisión). El drift se inyecta de forma controlada para conocer siempre el tipo y la severidad reales. La fórmula de concept drift que mostramos es la versión final del inyector, que se explica en la siguiente lámina.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parte importante de nuestro trabajo. El label flipping solo agrega ruido: el AUC cae a 0.5 casi de inmediato. La inversión por mediana en realidad modificaba X. Amplificar la relación aprendida no degrada al modelo, porque un modelo que ya conoce la relación sigue ordenando bien. La versión final rota los pesos de la relación: a severidad 0.5 la relación desaparece y a 1 se invierte. El AUC cae de forma ordenada (0.650 a 0.537) y KS y PSI quedan en 0, lo que confirma que es concept drift puro. En sepsis, por ser un evento raro, además hay que desplazar el intercepto.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Conectamos el inyector con las acciones. Bajo concept drift puro, las acciones que corrigen X (A2 y A2c) son numéricamente idénticas a no hacer nada, porque X nunca cambió. Reentrenar el modelo (A3) recupera, y A4 no agrega nada sobre A3. Es la primera confirmación empírica en nuestro repositorio de que el remedio correcto depende del tipo de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POMDP porque el agente solo observa métricas estimadas sobre ventanas finitas, no las distribuciones reales. La recompensa compara contra el mismo estado sin mantenimiento y resta el costo normalizado contra reentrenar todo; así evitamos que el agente elija siempre Retrain all. PPO se eligió por el espacio de acciones pequeño y la estabilidad del clipping.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de decisión empírica en PhysioNet con XGBoost. Para cada tipo y severidad ejecutamos todas las acciones y elegimos la que minimiza la degradación residual más el costo. A4 nunca es la óptima. En drift leve, no hacer nada puede bastar; en moderado y severo, A3 es el mejor compromiso. Ejemplo: en covariate moderado, A3 recupera 96.6 % contra 96.7 % de A4, pagando 55 % menos.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Evaluación determinística de la política entrenada: 5000 decisiones con recompensa positiva promedio. El agente eligió Update features en el 60 % de los pasos y Update model en el 40 %, nunca los extremos. Es coherente con la recompensa, pero hay que ser honestos: la demo usa escenarios sintéticos y livianos. Valida que el diseño es ejecutable, no que sea superior.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Covariate y concept simultáneos. En PhysioNet, actualizar solo el modelo supera incluso a reentrenar todo, con un margen que crece con la severidad: reajustar el QuantileTransformer cambia el sistema de referencia y estorba. En Diabetes ninguna acción se separa más de un punto de no hacer nada. Nuestra hipótesis es que con este mecanismo la señal aprendible es muy débil; lo verificaremos con un AUC oráculo. Conclusión: la acción ideal depende del contexto, que es justo el argumento para aprender la política.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vamos a validar. Tres hipótesis falsables: H1 y H2 sobre qué acción conviene según el tipo de drift (ya hay evidencia preliminar a favor), y H3 sobre la política aprendida, que es la contribución principal. Medimos la recuperación de AUC frente a un oráculo (el mejor AUC alcanzable), el costo, la tasa de acción óptima y el regret. Comparamos contra baselines simples, porque si un umbral o un clasificador supervisado rinden igual, el RL no se justifica. Evaluamos en combinaciones de tipo y severidad no vistas, con 5 semillas e intervalos de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Separamos dos tipos de limitaciones. Las de alcance son decisiones conscientes. Las encontradas son hallazgos del trabajo: la más importante es que en la demo los pasos son independientes, así que se parece más a un bandido contextual que a un problema secuencial. Eso es lo que atacamos en el siguiente 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Propuesta para cerrar la tesis: usar un dataset con drift temporal real. IEEE-CIS tiene un reloj por transacción y 182 días etiquetados. Simulamos producción con ventanas deslizantes: el modelo que se elige hoy enfrenta los datos de mañana. Eso convierte el problema en secuencial y responde la crítica de que sin secuencialidad bastaría un clasificador. El estado discreto de 27 celdas permite Q-learning tabular como sanity check, como sugirió la asesora, y luego DQN. La recompensa compara contra no hacer nada en la misma ventana, para no premiar semanas que simplemente son más fáciles. Importante: el test de Kaggle no tiene etiquetas, así que todo ocurre dentro de los 182 días. Se plantea como caso de estudio adicional, a validar con la asesora porque amplía el alcance.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semanas. La primera es de decisión: si el modelo congelado en fraude no se degrada de forma clara, no vale la pena el escenario temporal y nos enfocamos en el laboratorio sintético. La segunda produce el mapa de acción ideal según tipo, severidad y variables afectadas. La tercera compara el agente contra baselines simples, que es lo que exige el jurado. La cuarta actualiza la 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mensajes para cerrar. Primero: el tipo de drift determina qué etapa actualizar. Segundo: el costo cambia la decisión, y reentrenar todo no fue la acción óptima en ningún escenario de la tabla. Tercero: como la acción ideal varía entre datasets, tiene sentido aprender la política con RL en lugar de fijarla con umbrales.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en formato IEEE con numeración propia de la presentación. Las referencias 12 a 15 todavía no están en referencias.bib de la 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10698480" cy="1188720"/>
          </a:xfrm>
          <a:prstGeom prst="rect">
            <a:avLst/>
          </a:prstGeom>
          <a:noFill/>
          <a:ln/>
        </p:spPr>
        <p:txBody>
          <a:bodyPr wrap="square" rtlCol="0"/>
          <a:lstStyle>
            <a:lvl1pPr indent="0" marL="0">
              <a:buNone/>
              <a:defRPr lang="en-US" sz="6600" b="1" dirty="0">
                <a:solidFill>
                  <a:schemeClr val="bg1"/>
                </a:solidFill>
                <a:latin typeface="Cambria" pitchFamily="34" charset="0"/>
                <a:ea typeface="Cambria" pitchFamily="34" charset="-122"/>
                <a:cs typeface="Cambria" pitchFamily="34" charset="-120"/>
              </a:defRPr>
            </a:lvl1pPr>
          </a:lstStyle>
          <a:p>
            <a:pPr indent="0" marL="0">
              <a:buNone/>
            </a:pPr>
            <a:endParaRPr lang="en-US" sz="6600" dirty="0"/>
          </a:p>
        </p:txBody>
      </p:sp>
      <p:sp>
        <p:nvSpPr>
          <p:cNvPr id="3" name="Text 0"/>
          <p:cNvSpPr/>
          <p:nvPr>
            <p:ph idx="101" type="body" hasCustomPrompt="1"/>
          </p:nvPr>
        </p:nvSpPr>
        <p:spPr>
          <a:xfrm>
            <a:off x="731520" y="2743200"/>
            <a:ext cx="10241280" cy="109728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indent="0" marL="0">
              <a:buNone/>
              <a:defRPr lang="en-US" sz="3200" b="1" dirty="0">
                <a:solidFill>
                  <a:schemeClr val="bg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2800" b="1" dirty="0">
                <a:solidFill>
                  <a:schemeClr val="tx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image" Target="../media/image-16-1.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10698480" cy="1188720"/>
          </a:xfrm>
          <a:prstGeom prst="rect">
            <a:avLst/>
          </a:prstGeom>
          <a:noFill/>
          <a:ln/>
        </p:spPr>
        <p:txBody>
          <a:bodyPr wrap="square" lIns="0" tIns="0" rIns="0" bIns="0" rtlCol="0" anchor="b"/>
          <a:lstStyle/>
          <a:p>
            <a:pPr indent="0" marL="0">
              <a:buNone/>
            </a:pPr>
            <a:r>
              <a:rPr lang="en-US" sz="6600" b="1" dirty="0">
                <a:solidFill>
                  <a:schemeClr val="bg1"/>
                </a:solidFill>
                <a:latin typeface="Cambria" pitchFamily="34" charset="0"/>
                <a:ea typeface="Cambria" pitchFamily="34" charset="-122"/>
                <a:cs typeface="Cambria" pitchFamily="34" charset="-120"/>
              </a:rPr>
              <a:t>DARL</a:t>
            </a:r>
            <a:endParaRPr lang="en-US" sz="6600" dirty="0"/>
          </a:p>
        </p:txBody>
      </p:sp>
      <p:sp>
        <p:nvSpPr>
          <p:cNvPr id="3" name="Text 0"/>
          <p:cNvSpPr/>
          <p:nvPr>
            <p:ph idx="101" type="body" hasCustomPrompt="1"/>
          </p:nvPr>
        </p:nvSpPr>
        <p:spPr>
          <a:xfrm>
            <a:off x="731520" y="2743200"/>
            <a:ext cx="10241280" cy="1097280"/>
          </a:xfrm>
          <a:prstGeom prst="rect">
            <a:avLst/>
          </a:prstGeom>
          <a:noFill/>
          <a:ln/>
        </p:spPr>
        <p:txBody>
          <a:bodyPr wrap="square" lIns="0" tIns="0" rIns="0" bIns="0" rtlCol="0" anchor="t"/>
          <a:lstStyle/>
          <a:p>
            <a:pPr indent="0" marL="0">
              <a:buNone/>
            </a:pPr>
            <a:r>
              <a:rPr lang="en-US" sz="2200" dirty="0">
                <a:solidFill>
                  <a:schemeClr val="accent2"/>
                </a:solidFill>
              </a:rPr>
              <a:t>Aprendizaje por refuerzo con diagnóstico de drift para la actualización selectiva de pipelines tabulares de ML de dos etapas</a:t>
            </a:r>
            <a:endParaRPr lang="en-US" sz="2200" dirty="0"/>
          </a:p>
        </p:txBody>
      </p:sp>
      <p:sp>
        <p:nvSpPr>
          <p:cNvPr id="4" name="icon-circle"/>
          <p:cNvSpPr/>
          <p:nvPr/>
        </p:nvSpPr>
        <p:spPr>
          <a:xfrm>
            <a:off x="731520" y="4160520"/>
            <a:ext cx="548640" cy="548640"/>
          </a:xfrm>
          <a:prstGeom prst="ellipse">
            <a:avLst/>
          </a:prstGeom>
          <a:solidFill>
            <a:schemeClr val="accent6"/>
          </a:solidFill>
          <a:ln/>
        </p:spPr>
      </p:sp>
      <p:pic>
        <p:nvPicPr>
          <p:cNvPr id="5" name="icon" descr="preencoded.png">    </p:cNvPr>
          <p:cNvPicPr>
            <a:picLocks noChangeAspect="1"/>
          </p:cNvPicPr>
          <p:nvPr/>
        </p:nvPicPr>
        <p:blipFill>
          <a:blip r:embed="rId1"/>
          <a:stretch>
            <a:fillRect/>
          </a:stretch>
        </p:blipFill>
        <p:spPr>
          <a:xfrm>
            <a:off x="863194" y="4292194"/>
            <a:ext cx="285293" cy="285293"/>
          </a:xfrm>
          <a:prstGeom prst="rect">
            <a:avLst/>
          </a:prstGeom>
        </p:spPr>
      </p:pic>
      <p:sp>
        <p:nvSpPr>
          <p:cNvPr id="6" name="icon-circle"/>
          <p:cNvSpPr/>
          <p:nvPr/>
        </p:nvSpPr>
        <p:spPr>
          <a:xfrm>
            <a:off x="1463040" y="4160520"/>
            <a:ext cx="548640" cy="548640"/>
          </a:xfrm>
          <a:prstGeom prst="ellipse">
            <a:avLst/>
          </a:prstGeom>
          <a:solidFill>
            <a:schemeClr val="accent1"/>
          </a:solidFill>
          <a:ln/>
        </p:spPr>
      </p:sp>
      <p:pic>
        <p:nvPicPr>
          <p:cNvPr id="7" name="icon" descr="preencoded.png">    </p:cNvPr>
          <p:cNvPicPr>
            <a:picLocks noChangeAspect="1"/>
          </p:cNvPicPr>
          <p:nvPr/>
        </p:nvPicPr>
        <p:blipFill>
          <a:blip r:embed="rId2"/>
          <a:stretch>
            <a:fillRect/>
          </a:stretch>
        </p:blipFill>
        <p:spPr>
          <a:xfrm>
            <a:off x="1594714" y="4292194"/>
            <a:ext cx="285293" cy="285293"/>
          </a:xfrm>
          <a:prstGeom prst="rect">
            <a:avLst/>
          </a:prstGeom>
        </p:spPr>
      </p:pic>
      <p:sp>
        <p:nvSpPr>
          <p:cNvPr id="8" name="icon-circle"/>
          <p:cNvSpPr/>
          <p:nvPr/>
        </p:nvSpPr>
        <p:spPr>
          <a:xfrm>
            <a:off x="2194560" y="4160520"/>
            <a:ext cx="548640" cy="548640"/>
          </a:xfrm>
          <a:prstGeom prst="ellipse">
            <a:avLst/>
          </a:prstGeom>
          <a:solidFill>
            <a:schemeClr val="accent4"/>
          </a:solidFill>
          <a:ln/>
        </p:spPr>
      </p:sp>
      <p:pic>
        <p:nvPicPr>
          <p:cNvPr id="9" name="icon" descr="preencoded.png">    </p:cNvPr>
          <p:cNvPicPr>
            <a:picLocks noChangeAspect="1"/>
          </p:cNvPicPr>
          <p:nvPr/>
        </p:nvPicPr>
        <p:blipFill>
          <a:blip r:embed="rId3"/>
          <a:stretch>
            <a:fillRect/>
          </a:stretch>
        </p:blipFill>
        <p:spPr>
          <a:xfrm>
            <a:off x="2326234" y="4292194"/>
            <a:ext cx="285293" cy="285293"/>
          </a:xfrm>
          <a:prstGeom prst="rect">
            <a:avLst/>
          </a:prstGeom>
        </p:spPr>
      </p:pic>
      <p:sp>
        <p:nvSpPr>
          <p:cNvPr id="10" name="icon-circle"/>
          <p:cNvSpPr/>
          <p:nvPr/>
        </p:nvSpPr>
        <p:spPr>
          <a:xfrm>
            <a:off x="2926080" y="4160520"/>
            <a:ext cx="548640" cy="548640"/>
          </a:xfrm>
          <a:prstGeom prst="ellipse">
            <a:avLst/>
          </a:prstGeom>
          <a:solidFill>
            <a:schemeClr val="accent5"/>
          </a:solidFill>
          <a:ln/>
        </p:spPr>
      </p:sp>
      <p:pic>
        <p:nvPicPr>
          <p:cNvPr id="11" name="icon" descr="preencoded.png">    </p:cNvPr>
          <p:cNvPicPr>
            <a:picLocks noChangeAspect="1"/>
          </p:cNvPicPr>
          <p:nvPr/>
        </p:nvPicPr>
        <p:blipFill>
          <a:blip r:embed="rId4"/>
          <a:stretch>
            <a:fillRect/>
          </a:stretch>
        </p:blipFill>
        <p:spPr>
          <a:xfrm>
            <a:off x="3057754" y="4292194"/>
            <a:ext cx="285293" cy="285293"/>
          </a:xfrm>
          <a:prstGeom prst="rect">
            <a:avLst/>
          </a:prstGeom>
        </p:spPr>
      </p:pic>
      <p:sp>
        <p:nvSpPr>
          <p:cNvPr id="12" name="Text 6"/>
          <p:cNvSpPr txBox="1"/>
          <p:nvPr/>
        </p:nvSpPr>
        <p:spPr>
          <a:xfrm>
            <a:off x="731520" y="5120640"/>
            <a:ext cx="10058400" cy="365760"/>
          </a:xfrm>
          <a:prstGeom prst="rect">
            <a:avLst/>
          </a:prstGeom>
          <a:noFill/>
          <a:ln/>
        </p:spPr>
        <p:txBody>
          <a:bodyPr wrap="square" lIns="0" tIns="0" rIns="0" bIns="0" rtlCol="0" anchor="t"/>
          <a:lstStyle/>
          <a:p>
            <a:pPr indent="0" marL="0">
              <a:buNone/>
            </a:pPr>
            <a:r>
              <a:rPr lang="en-US" sz="1800" dirty="0">
                <a:solidFill>
                  <a:schemeClr val="bg1"/>
                </a:solidFill>
              </a:rPr>
              <a:t>Jeffrey Antonio Monja Castro  ·  Brigitte Dayane Rojas</a:t>
            </a:r>
            <a:endParaRPr lang="en-US" sz="1800" dirty="0"/>
          </a:p>
        </p:txBody>
      </p:sp>
      <p:sp>
        <p:nvSpPr>
          <p:cNvPr id="13" name="Text 7"/>
          <p:cNvSpPr txBox="1"/>
          <p:nvPr/>
        </p:nvSpPr>
        <p:spPr>
          <a:xfrm>
            <a:off x="731520" y="5532120"/>
            <a:ext cx="10058400" cy="365760"/>
          </a:xfrm>
          <a:prstGeom prst="rect">
            <a:avLst/>
          </a:prstGeom>
          <a:noFill/>
          <a:ln/>
        </p:spPr>
        <p:txBody>
          <a:bodyPr wrap="square" lIns="0" tIns="0" rIns="0" bIns="0" rtlCol="0" anchor="t"/>
          <a:lstStyle/>
          <a:p>
            <a:pPr indent="0" marL="0">
              <a:buNone/>
            </a:pPr>
            <a:r>
              <a:rPr lang="en-US" sz="1400" dirty="0">
                <a:solidFill>
                  <a:schemeClr val="accent6"/>
                </a:solidFill>
              </a:rPr>
              <a:t>Asesora: Ariana Mirella Villegas Suárez   |   Ciencia de la Computación — UTEC,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Agenda</a:t>
            </a:r>
            <a:endParaRPr lang="en-US" sz="2800" dirty="0"/>
          </a:p>
        </p:txBody>
      </p:sp>
      <p:sp>
        <p:nvSpPr>
          <p:cNvPr id="3" name="icon-circle"/>
          <p:cNvSpPr/>
          <p:nvPr/>
        </p:nvSpPr>
        <p:spPr>
          <a:xfrm>
            <a:off x="548640" y="1417320"/>
            <a:ext cx="685800" cy="685800"/>
          </a:xfrm>
          <a:prstGeom prst="ellipse">
            <a:avLst/>
          </a:prstGeom>
          <a:solidFill>
            <a:schemeClr val="accent3"/>
          </a:solidFill>
          <a:ln/>
        </p:spPr>
      </p:sp>
      <p:pic>
        <p:nvPicPr>
          <p:cNvPr id="4" name="icon" descr="preencoded.png">    </p:cNvPr>
          <p:cNvPicPr>
            <a:picLocks noChangeAspect="1"/>
          </p:cNvPicPr>
          <p:nvPr/>
        </p:nvPicPr>
        <p:blipFill>
          <a:blip r:embed="rId1"/>
          <a:stretch>
            <a:fillRect/>
          </a:stretch>
        </p:blipFill>
        <p:spPr>
          <a:xfrm>
            <a:off x="713232" y="1581912"/>
            <a:ext cx="356616" cy="356616"/>
          </a:xfrm>
          <a:prstGeom prst="rect">
            <a:avLst/>
          </a:prstGeom>
        </p:spPr>
      </p:pic>
      <p:sp>
        <p:nvSpPr>
          <p:cNvPr id="5" name="Text 2"/>
          <p:cNvSpPr txBox="1"/>
          <p:nvPr/>
        </p:nvSpPr>
        <p:spPr>
          <a:xfrm>
            <a:off x="1463040" y="1371600"/>
            <a:ext cx="4206240" cy="777240"/>
          </a:xfrm>
          <a:prstGeom prst="rect">
            <a:avLst/>
          </a:prstGeom>
          <a:noFill/>
          <a:ln/>
        </p:spPr>
        <p:txBody>
          <a:bodyPr wrap="square" lIns="0" tIns="0" rIns="0" bIns="0" rtlCol="0" anchor="ctr"/>
          <a:lstStyle/>
          <a:p>
            <a:pPr indent="0" marL="0">
              <a:buNone/>
            </a:pPr>
            <a:r>
              <a:rPr lang="en-US" sz="2000" b="1" dirty="0">
                <a:solidFill>
                  <a:schemeClr val="tx1"/>
                </a:solidFill>
              </a:rPr>
              <a:t>1. Problemática</a:t>
            </a:r>
            <a:endParaRPr lang="en-US" sz="2000" dirty="0"/>
          </a:p>
        </p:txBody>
      </p:sp>
      <p:sp>
        <p:nvSpPr>
          <p:cNvPr id="6" name="Text 3"/>
          <p:cNvSpPr txBox="1"/>
          <p:nvPr/>
        </p:nvSpPr>
        <p:spPr>
          <a:xfrm>
            <a:off x="5669280" y="1371600"/>
            <a:ext cx="5943600" cy="777240"/>
          </a:xfrm>
          <a:prstGeom prst="rect">
            <a:avLst/>
          </a:prstGeom>
          <a:noFill/>
          <a:ln/>
        </p:spPr>
        <p:txBody>
          <a:bodyPr wrap="square" lIns="0" tIns="0" rIns="0" bIns="0" rtlCol="0" anchor="ctr"/>
          <a:lstStyle/>
          <a:p>
            <a:pPr indent="0" marL="0">
              <a:buNone/>
            </a:pPr>
            <a:r>
              <a:rPr lang="en-US" sz="1600" dirty="0">
                <a:solidFill>
                  <a:schemeClr val="tx2"/>
                </a:solidFill>
              </a:rPr>
              <a:t>Por qué los pipelines se degradan y qué falta en la literatura</a:t>
            </a:r>
            <a:endParaRPr lang="en-US" sz="1600" dirty="0"/>
          </a:p>
        </p:txBody>
      </p:sp>
      <p:sp>
        <p:nvSpPr>
          <p:cNvPr id="7" name="icon-circle"/>
          <p:cNvSpPr/>
          <p:nvPr/>
        </p:nvSpPr>
        <p:spPr>
          <a:xfrm>
            <a:off x="548640" y="2377440"/>
            <a:ext cx="685800" cy="685800"/>
          </a:xfrm>
          <a:prstGeom prst="ellipse">
            <a:avLst/>
          </a:prstGeom>
          <a:solidFill>
            <a:schemeClr val="accent1"/>
          </a:solidFill>
          <a:ln/>
        </p:spPr>
      </p:sp>
      <p:pic>
        <p:nvPicPr>
          <p:cNvPr id="8" name="icon" descr="preencoded.png">    </p:cNvPr>
          <p:cNvPicPr>
            <a:picLocks noChangeAspect="1"/>
          </p:cNvPicPr>
          <p:nvPr/>
        </p:nvPicPr>
        <p:blipFill>
          <a:blip r:embed="rId2"/>
          <a:stretch>
            <a:fillRect/>
          </a:stretch>
        </p:blipFill>
        <p:spPr>
          <a:xfrm>
            <a:off x="713232" y="2542032"/>
            <a:ext cx="356616" cy="356616"/>
          </a:xfrm>
          <a:prstGeom prst="rect">
            <a:avLst/>
          </a:prstGeom>
        </p:spPr>
      </p:pic>
      <p:sp>
        <p:nvSpPr>
          <p:cNvPr id="9" name="Text 5"/>
          <p:cNvSpPr txBox="1"/>
          <p:nvPr/>
        </p:nvSpPr>
        <p:spPr>
          <a:xfrm>
            <a:off x="1463040" y="2331720"/>
            <a:ext cx="4206240" cy="777240"/>
          </a:xfrm>
          <a:prstGeom prst="rect">
            <a:avLst/>
          </a:prstGeom>
          <a:noFill/>
          <a:ln/>
        </p:spPr>
        <p:txBody>
          <a:bodyPr wrap="square" lIns="0" tIns="0" rIns="0" bIns="0" rtlCol="0" anchor="ctr"/>
          <a:lstStyle/>
          <a:p>
            <a:pPr indent="0" marL="0">
              <a:buNone/>
            </a:pPr>
            <a:r>
              <a:rPr lang="en-US" sz="2000" b="1" dirty="0">
                <a:solidFill>
                  <a:schemeClr val="tx1"/>
                </a:solidFill>
              </a:rPr>
              <a:t>2. Objetivos</a:t>
            </a:r>
            <a:endParaRPr lang="en-US" sz="2000" dirty="0"/>
          </a:p>
        </p:txBody>
      </p:sp>
      <p:sp>
        <p:nvSpPr>
          <p:cNvPr id="10" name="Text 6"/>
          <p:cNvSpPr txBox="1"/>
          <p:nvPr/>
        </p:nvSpPr>
        <p:spPr>
          <a:xfrm>
            <a:off x="5669280" y="2331720"/>
            <a:ext cx="5943600" cy="777240"/>
          </a:xfrm>
          <a:prstGeom prst="rect">
            <a:avLst/>
          </a:prstGeom>
          <a:noFill/>
          <a:ln/>
        </p:spPr>
        <p:txBody>
          <a:bodyPr wrap="square" lIns="0" tIns="0" rIns="0" bIns="0" rtlCol="0" anchor="ctr"/>
          <a:lstStyle/>
          <a:p>
            <a:pPr indent="0" marL="0">
              <a:buNone/>
            </a:pPr>
            <a:r>
              <a:rPr lang="en-US" sz="1600" dirty="0">
                <a:solidFill>
                  <a:schemeClr val="tx2"/>
                </a:solidFill>
              </a:rPr>
              <a:t>Pregunta, objetivo general y específicos</a:t>
            </a:r>
            <a:endParaRPr lang="en-US" sz="1600" dirty="0"/>
          </a:p>
        </p:txBody>
      </p:sp>
      <p:sp>
        <p:nvSpPr>
          <p:cNvPr id="11" name="icon-circle"/>
          <p:cNvSpPr/>
          <p:nvPr/>
        </p:nvSpPr>
        <p:spPr>
          <a:xfrm>
            <a:off x="548640" y="3337560"/>
            <a:ext cx="685800" cy="685800"/>
          </a:xfrm>
          <a:prstGeom prst="ellipse">
            <a:avLst/>
          </a:prstGeom>
          <a:solidFill>
            <a:schemeClr val="accent4"/>
          </a:solidFill>
          <a:ln/>
        </p:spPr>
      </p:sp>
      <p:pic>
        <p:nvPicPr>
          <p:cNvPr id="12" name="icon" descr="preencoded.png">    </p:cNvPr>
          <p:cNvPicPr>
            <a:picLocks noChangeAspect="1"/>
          </p:cNvPicPr>
          <p:nvPr/>
        </p:nvPicPr>
        <p:blipFill>
          <a:blip r:embed="rId3"/>
          <a:stretch>
            <a:fillRect/>
          </a:stretch>
        </p:blipFill>
        <p:spPr>
          <a:xfrm>
            <a:off x="713232" y="3502152"/>
            <a:ext cx="356616" cy="356616"/>
          </a:xfrm>
          <a:prstGeom prst="rect">
            <a:avLst/>
          </a:prstGeom>
        </p:spPr>
      </p:pic>
      <p:sp>
        <p:nvSpPr>
          <p:cNvPr id="13" name="Text 8"/>
          <p:cNvSpPr txBox="1"/>
          <p:nvPr/>
        </p:nvSpPr>
        <p:spPr>
          <a:xfrm>
            <a:off x="1463040" y="3291840"/>
            <a:ext cx="4206240" cy="777240"/>
          </a:xfrm>
          <a:prstGeom prst="rect">
            <a:avLst/>
          </a:prstGeom>
          <a:noFill/>
          <a:ln/>
        </p:spPr>
        <p:txBody>
          <a:bodyPr wrap="square" lIns="0" tIns="0" rIns="0" bIns="0" rtlCol="0" anchor="ctr"/>
          <a:lstStyle/>
          <a:p>
            <a:pPr indent="0" marL="0">
              <a:buNone/>
            </a:pPr>
            <a:r>
              <a:rPr lang="en-US" sz="2000" b="1" dirty="0">
                <a:solidFill>
                  <a:schemeClr val="tx1"/>
                </a:solidFill>
              </a:rPr>
              <a:t>3. Diseño de la solución</a:t>
            </a:r>
            <a:endParaRPr lang="en-US" sz="2000" dirty="0"/>
          </a:p>
        </p:txBody>
      </p:sp>
      <p:sp>
        <p:nvSpPr>
          <p:cNvPr id="14" name="Text 9"/>
          <p:cNvSpPr txBox="1"/>
          <p:nvPr/>
        </p:nvSpPr>
        <p:spPr>
          <a:xfrm>
            <a:off x="5669280" y="3291840"/>
            <a:ext cx="5943600" cy="777240"/>
          </a:xfrm>
          <a:prstGeom prst="rect">
            <a:avLst/>
          </a:prstGeom>
          <a:noFill/>
          <a:ln/>
        </p:spPr>
        <p:txBody>
          <a:bodyPr wrap="square" lIns="0" tIns="0" rIns="0" bIns="0" rtlCol="0" anchor="ctr"/>
          <a:lstStyle/>
          <a:p>
            <a:pPr indent="0" marL="0">
              <a:buNone/>
            </a:pPr>
            <a:r>
              <a:rPr lang="en-US" sz="1600" dirty="0">
                <a:solidFill>
                  <a:schemeClr val="tx2"/>
                </a:solidFill>
              </a:rPr>
              <a:t>Pipeline de dos etapas, inyección de drift y agente POMDP</a:t>
            </a:r>
            <a:endParaRPr lang="en-US" sz="1600" dirty="0"/>
          </a:p>
        </p:txBody>
      </p:sp>
      <p:sp>
        <p:nvSpPr>
          <p:cNvPr id="15" name="icon-circle"/>
          <p:cNvSpPr/>
          <p:nvPr/>
        </p:nvSpPr>
        <p:spPr>
          <a:xfrm>
            <a:off x="548640" y="4297680"/>
            <a:ext cx="685800" cy="685800"/>
          </a:xfrm>
          <a:prstGeom prst="ellipse">
            <a:avLst/>
          </a:prstGeom>
          <a:solidFill>
            <a:schemeClr val="accent5"/>
          </a:solidFill>
          <a:ln/>
        </p:spPr>
      </p:sp>
      <p:pic>
        <p:nvPicPr>
          <p:cNvPr id="16" name="icon" descr="preencoded.png">    </p:cNvPr>
          <p:cNvPicPr>
            <a:picLocks noChangeAspect="1"/>
          </p:cNvPicPr>
          <p:nvPr/>
        </p:nvPicPr>
        <p:blipFill>
          <a:blip r:embed="rId4"/>
          <a:stretch>
            <a:fillRect/>
          </a:stretch>
        </p:blipFill>
        <p:spPr>
          <a:xfrm>
            <a:off x="713232" y="4462272"/>
            <a:ext cx="356616" cy="356616"/>
          </a:xfrm>
          <a:prstGeom prst="rect">
            <a:avLst/>
          </a:prstGeom>
        </p:spPr>
      </p:pic>
      <p:sp>
        <p:nvSpPr>
          <p:cNvPr id="17" name="Text 11"/>
          <p:cNvSpPr txBox="1"/>
          <p:nvPr/>
        </p:nvSpPr>
        <p:spPr>
          <a:xfrm>
            <a:off x="1463040" y="4251960"/>
            <a:ext cx="4206240" cy="777240"/>
          </a:xfrm>
          <a:prstGeom prst="rect">
            <a:avLst/>
          </a:prstGeom>
          <a:noFill/>
          <a:ln/>
        </p:spPr>
        <p:txBody>
          <a:bodyPr wrap="square" lIns="0" tIns="0" rIns="0" bIns="0" rtlCol="0" anchor="ctr"/>
          <a:lstStyle/>
          <a:p>
            <a:pPr indent="0" marL="0">
              <a:buNone/>
            </a:pPr>
            <a:r>
              <a:rPr lang="en-US" sz="2000" b="1" dirty="0">
                <a:solidFill>
                  <a:schemeClr val="tx1"/>
                </a:solidFill>
              </a:rPr>
              <a:t>4. Resultados y validación</a:t>
            </a:r>
            <a:endParaRPr lang="en-US" sz="2000" dirty="0"/>
          </a:p>
        </p:txBody>
      </p:sp>
      <p:sp>
        <p:nvSpPr>
          <p:cNvPr id="18" name="Text 12"/>
          <p:cNvSpPr txBox="1"/>
          <p:nvPr/>
        </p:nvSpPr>
        <p:spPr>
          <a:xfrm>
            <a:off x="5669280" y="4251960"/>
            <a:ext cx="5943600" cy="777240"/>
          </a:xfrm>
          <a:prstGeom prst="rect">
            <a:avLst/>
          </a:prstGeom>
          <a:noFill/>
          <a:ln/>
        </p:spPr>
        <p:txBody>
          <a:bodyPr wrap="square" lIns="0" tIns="0" rIns="0" bIns="0" rtlCol="0" anchor="ctr"/>
          <a:lstStyle/>
          <a:p>
            <a:pPr indent="0" marL="0">
              <a:buNone/>
            </a:pPr>
            <a:r>
              <a:rPr lang="en-US" sz="1600" dirty="0">
                <a:solidFill>
                  <a:schemeClr val="tx2"/>
                </a:solidFill>
              </a:rPr>
              <a:t>Avances empíricos y plan de validación</a:t>
            </a:r>
            <a:endParaRPr lang="en-US" sz="1600" dirty="0"/>
          </a:p>
        </p:txBody>
      </p:sp>
      <p:sp>
        <p:nvSpPr>
          <p:cNvPr id="19" name="icon-circle"/>
          <p:cNvSpPr/>
          <p:nvPr/>
        </p:nvSpPr>
        <p:spPr>
          <a:xfrm>
            <a:off x="548640" y="5257800"/>
            <a:ext cx="685800" cy="685800"/>
          </a:xfrm>
          <a:prstGeom prst="ellipse">
            <a:avLst/>
          </a:prstGeom>
          <a:solidFill>
            <a:schemeClr val="accent2"/>
          </a:solidFill>
          <a:ln/>
        </p:spPr>
      </p:sp>
      <p:pic>
        <p:nvPicPr>
          <p:cNvPr id="20" name="icon" descr="preencoded.png">    </p:cNvPr>
          <p:cNvPicPr>
            <a:picLocks noChangeAspect="1"/>
          </p:cNvPicPr>
          <p:nvPr/>
        </p:nvPicPr>
        <p:blipFill>
          <a:blip r:embed="rId5"/>
          <a:stretch>
            <a:fillRect/>
          </a:stretch>
        </p:blipFill>
        <p:spPr>
          <a:xfrm>
            <a:off x="713232" y="5422392"/>
            <a:ext cx="356616" cy="356616"/>
          </a:xfrm>
          <a:prstGeom prst="rect">
            <a:avLst/>
          </a:prstGeom>
        </p:spPr>
      </p:pic>
      <p:sp>
        <p:nvSpPr>
          <p:cNvPr id="21" name="Text 14"/>
          <p:cNvSpPr txBox="1"/>
          <p:nvPr/>
        </p:nvSpPr>
        <p:spPr>
          <a:xfrm>
            <a:off x="1463040" y="5212080"/>
            <a:ext cx="4206240" cy="777240"/>
          </a:xfrm>
          <a:prstGeom prst="rect">
            <a:avLst/>
          </a:prstGeom>
          <a:noFill/>
          <a:ln/>
        </p:spPr>
        <p:txBody>
          <a:bodyPr wrap="square" lIns="0" tIns="0" rIns="0" bIns="0" rtlCol="0" anchor="ctr"/>
          <a:lstStyle/>
          <a:p>
            <a:pPr indent="0" marL="0">
              <a:buNone/>
            </a:pPr>
            <a:r>
              <a:rPr lang="en-US" sz="2000" b="1" dirty="0">
                <a:solidFill>
                  <a:schemeClr val="tx1"/>
                </a:solidFill>
              </a:rPr>
              <a:t>5. Limitaciones y siguientes pasos</a:t>
            </a:r>
            <a:endParaRPr lang="en-US" sz="2000" dirty="0"/>
          </a:p>
        </p:txBody>
      </p:sp>
      <p:sp>
        <p:nvSpPr>
          <p:cNvPr id="22" name="Text 15"/>
          <p:cNvSpPr txBox="1"/>
          <p:nvPr/>
        </p:nvSpPr>
        <p:spPr>
          <a:xfrm>
            <a:off x="5669280" y="5212080"/>
            <a:ext cx="5943600" cy="777240"/>
          </a:xfrm>
          <a:prstGeom prst="rect">
            <a:avLst/>
          </a:prstGeom>
          <a:noFill/>
          <a:ln/>
        </p:spPr>
        <p:txBody>
          <a:bodyPr wrap="square" lIns="0" tIns="0" rIns="0" bIns="0" rtlCol="0" anchor="ctr"/>
          <a:lstStyle/>
          <a:p>
            <a:pPr indent="0" marL="0">
              <a:buNone/>
            </a:pPr>
            <a:r>
              <a:rPr lang="en-US" sz="1600" dirty="0">
                <a:solidFill>
                  <a:schemeClr val="tx2"/>
                </a:solidFill>
              </a:rPr>
              <a:t>Qué falta y cómo lo cerraremos</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Los modelos tabulares se degradan cuando cambian los datos</a:t>
            </a:r>
            <a:endParaRPr lang="en-US" sz="2800" dirty="0"/>
          </a:p>
        </p:txBody>
      </p:sp>
      <p:sp>
        <p:nvSpPr>
          <p:cNvPr id="3" name="stat-card"/>
          <p:cNvSpPr/>
          <p:nvPr/>
        </p:nvSpPr>
        <p:spPr>
          <a:xfrm>
            <a:off x="548640" y="1417320"/>
            <a:ext cx="4206240" cy="1371600"/>
          </a:xfrm>
          <a:prstGeom prst="roundRect">
            <a:avLst>
              <a:gd name="adj" fmla="val 8000"/>
            </a:avLst>
          </a:prstGeom>
          <a:solidFill>
            <a:schemeClr val="bg2"/>
          </a:solidFill>
          <a:ln/>
        </p:spPr>
      </p:sp>
      <p:sp>
        <p:nvSpPr>
          <p:cNvPr id="4" name="Text 2"/>
          <p:cNvSpPr txBox="1"/>
          <p:nvPr/>
        </p:nvSpPr>
        <p:spPr>
          <a:xfrm>
            <a:off x="777240" y="1527048"/>
            <a:ext cx="38404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15 / 15</a:t>
            </a:r>
            <a:endParaRPr lang="en-US" sz="4000" dirty="0"/>
          </a:p>
        </p:txBody>
      </p:sp>
      <p:sp>
        <p:nvSpPr>
          <p:cNvPr id="5" name="Text 3"/>
          <p:cNvSpPr txBox="1"/>
          <p:nvPr/>
        </p:nvSpPr>
        <p:spPr>
          <a:xfrm>
            <a:off x="777240" y="2194560"/>
            <a:ext cx="3840480" cy="548640"/>
          </a:xfrm>
          <a:prstGeom prst="rect">
            <a:avLst/>
          </a:prstGeom>
          <a:noFill/>
          <a:ln/>
        </p:spPr>
        <p:txBody>
          <a:bodyPr wrap="square" lIns="0" tIns="0" rIns="0" bIns="0" rtlCol="0" anchor="t"/>
          <a:lstStyle/>
          <a:p>
            <a:pPr indent="0" marL="0">
              <a:buNone/>
            </a:pPr>
            <a:r>
              <a:rPr lang="en-US" sz="1400" dirty="0">
                <a:solidFill>
                  <a:schemeClr val="tx2"/>
                </a:solidFill>
              </a:rPr>
              <a:t>tareas tabulares de TableShift con caída significativa fuera de distribución</a:t>
            </a:r>
            <a:endParaRPr lang="en-US" sz="1400" dirty="0"/>
          </a:p>
        </p:txBody>
      </p:sp>
      <p:sp>
        <p:nvSpPr>
          <p:cNvPr id="6" name="stat-card"/>
          <p:cNvSpPr/>
          <p:nvPr/>
        </p:nvSpPr>
        <p:spPr>
          <a:xfrm>
            <a:off x="548640" y="3017520"/>
            <a:ext cx="4206240" cy="1371600"/>
          </a:xfrm>
          <a:prstGeom prst="roundRect">
            <a:avLst>
              <a:gd name="adj" fmla="val 8000"/>
            </a:avLst>
          </a:prstGeom>
          <a:solidFill>
            <a:schemeClr val="bg2"/>
          </a:solidFill>
          <a:ln/>
        </p:spPr>
      </p:sp>
      <p:sp>
        <p:nvSpPr>
          <p:cNvPr id="7" name="Text 5"/>
          <p:cNvSpPr txBox="1"/>
          <p:nvPr/>
        </p:nvSpPr>
        <p:spPr>
          <a:xfrm>
            <a:off x="777240" y="3127248"/>
            <a:ext cx="38404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18</a:t>
            </a:r>
            <a:endParaRPr lang="en-US" sz="4000" dirty="0"/>
          </a:p>
        </p:txBody>
      </p:sp>
      <p:sp>
        <p:nvSpPr>
          <p:cNvPr id="8" name="Text 6"/>
          <p:cNvSpPr txBox="1"/>
          <p:nvPr/>
        </p:nvSpPr>
        <p:spPr>
          <a:xfrm>
            <a:off x="777240" y="3794760"/>
            <a:ext cx="3840480" cy="548640"/>
          </a:xfrm>
          <a:prstGeom prst="rect">
            <a:avLst/>
          </a:prstGeom>
          <a:noFill/>
          <a:ln/>
        </p:spPr>
        <p:txBody>
          <a:bodyPr wrap="square" lIns="0" tIns="0" rIns="0" bIns="0" rtlCol="0" anchor="t"/>
          <a:lstStyle/>
          <a:p>
            <a:pPr indent="0" marL="0">
              <a:buNone/>
            </a:pPr>
            <a:r>
              <a:rPr lang="en-US" sz="1400" dirty="0">
                <a:solidFill>
                  <a:schemeClr val="tx2"/>
                </a:solidFill>
              </a:rPr>
              <a:t>modelos evaluados; ninguno cierra la brecha de forma consistente</a:t>
            </a:r>
            <a:endParaRPr lang="en-US" sz="1400" dirty="0"/>
          </a:p>
        </p:txBody>
      </p:sp>
      <p:sp>
        <p:nvSpPr>
          <p:cNvPr id="9" name="stat-card"/>
          <p:cNvSpPr/>
          <p:nvPr/>
        </p:nvSpPr>
        <p:spPr>
          <a:xfrm>
            <a:off x="548640" y="4617720"/>
            <a:ext cx="4206240" cy="1371600"/>
          </a:xfrm>
          <a:prstGeom prst="roundRect">
            <a:avLst>
              <a:gd name="adj" fmla="val 8000"/>
            </a:avLst>
          </a:prstGeom>
          <a:solidFill>
            <a:schemeClr val="bg2"/>
          </a:solidFill>
          <a:ln/>
        </p:spPr>
      </p:sp>
      <p:sp>
        <p:nvSpPr>
          <p:cNvPr id="10" name="Text 8"/>
          <p:cNvSpPr txBox="1"/>
          <p:nvPr/>
        </p:nvSpPr>
        <p:spPr>
          <a:xfrm>
            <a:off x="777240" y="4727448"/>
            <a:ext cx="3840480" cy="68580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−34.5 %</a:t>
            </a:r>
            <a:endParaRPr lang="en-US" sz="4000" dirty="0"/>
          </a:p>
        </p:txBody>
      </p:sp>
      <p:sp>
        <p:nvSpPr>
          <p:cNvPr id="11" name="Text 9"/>
          <p:cNvSpPr txBox="1"/>
          <p:nvPr/>
        </p:nvSpPr>
        <p:spPr>
          <a:xfrm>
            <a:off x="777240" y="5394960"/>
            <a:ext cx="3840480" cy="548640"/>
          </a:xfrm>
          <a:prstGeom prst="rect">
            <a:avLst/>
          </a:prstGeom>
          <a:noFill/>
          <a:ln/>
        </p:spPr>
        <p:txBody>
          <a:bodyPr wrap="square" lIns="0" tIns="0" rIns="0" bIns="0" rtlCol="0" anchor="t"/>
          <a:lstStyle/>
          <a:p>
            <a:pPr indent="0" marL="0">
              <a:buNone/>
            </a:pPr>
            <a:r>
              <a:rPr lang="en-US" sz="1400" dirty="0">
                <a:solidFill>
                  <a:schemeClr val="tx2"/>
                </a:solidFill>
              </a:rPr>
              <a:t>caída máxima de accuracy (ASSISTments); −22.6 % en crédito (FICO)</a:t>
            </a:r>
            <a:endParaRPr lang="en-US" sz="1400" dirty="0"/>
          </a:p>
        </p:txBody>
      </p:sp>
      <p:graphicFrame>
        <p:nvGraphicFramePr>
          <p:cNvPr id="12" name="chart-tableshift" descr=""/>
          <p:cNvGraphicFramePr/>
          <p:nvPr/>
        </p:nvGraphicFramePr>
        <p:xfrm>
          <a:off x="5120640" y="1325880"/>
          <a:ext cx="6583680" cy="4937760"/>
        </p:xfrm>
        <a:graphic xmlns:a="http://schemas.openxmlformats.org/drawingml/2006/main">
          <a:graphicData uri="http://schemas.openxmlformats.org/drawingml/2006/chart">
            <c:chart xmlns:c="http://schemas.openxmlformats.org/drawingml/2006/chart" r:id="rId1"/>
          </a:graphicData>
        </a:graphic>
      </p:graphicFrame>
      <p:sp>
        <p:nvSpPr>
          <p:cNvPr id="13"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 [1] Gardner, Popović y Schmidt, TableShift, NeurIPS 2024 (shift gap de XGBoost/LightGBM ajustados).</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En salud, esa caída afecta decisiones clínicas</a:t>
            </a:r>
            <a:endParaRPr lang="en-US" sz="2800" dirty="0"/>
          </a:p>
        </p:txBody>
      </p:sp>
      <p:sp>
        <p:nvSpPr>
          <p:cNvPr id="3" name="domain-card"/>
          <p:cNvSpPr/>
          <p:nvPr/>
        </p:nvSpPr>
        <p:spPr>
          <a:xfrm>
            <a:off x="548640" y="1417320"/>
            <a:ext cx="5394960" cy="4023360"/>
          </a:xfrm>
          <a:prstGeom prst="roundRect">
            <a:avLst>
              <a:gd name="adj" fmla="val 2727"/>
            </a:avLst>
          </a:prstGeom>
          <a:solidFill>
            <a:schemeClr val="bg1"/>
          </a:solidFill>
          <a:ln/>
          <a:effectLst>
            <a:outerShdw sx="100000" sy="100000" kx="0" ky="0" algn="bl" rotWithShape="0" blurRad="76200" dist="25400" dir="5400000">
              <a:srgbClr val="1B2235">
                <a:alpha val="15000"/>
              </a:srgbClr>
            </a:outerShdw>
          </a:effectLst>
        </p:spPr>
      </p:sp>
      <p:sp>
        <p:nvSpPr>
          <p:cNvPr id="4" name="icon-circle"/>
          <p:cNvSpPr/>
          <p:nvPr/>
        </p:nvSpPr>
        <p:spPr>
          <a:xfrm>
            <a:off x="868680" y="1691640"/>
            <a:ext cx="731520" cy="731520"/>
          </a:xfrm>
          <a:prstGeom prst="ellipse">
            <a:avLst/>
          </a:prstGeom>
          <a:solidFill>
            <a:schemeClr val="accent3"/>
          </a:solidFill>
          <a:ln/>
        </p:spPr>
      </p:sp>
      <p:pic>
        <p:nvPicPr>
          <p:cNvPr id="5" name="icon" descr="preencoded.png">    </p:cNvPr>
          <p:cNvPicPr>
            <a:picLocks noChangeAspect="1"/>
          </p:cNvPicPr>
          <p:nvPr/>
        </p:nvPicPr>
        <p:blipFill>
          <a:blip r:embed="rId1"/>
          <a:stretch>
            <a:fillRect/>
          </a:stretch>
        </p:blipFill>
        <p:spPr>
          <a:xfrm>
            <a:off x="1044245" y="1867205"/>
            <a:ext cx="380390" cy="380390"/>
          </a:xfrm>
          <a:prstGeom prst="rect">
            <a:avLst/>
          </a:prstGeom>
        </p:spPr>
      </p:pic>
      <p:sp>
        <p:nvSpPr>
          <p:cNvPr id="6" name="Text 3"/>
          <p:cNvSpPr txBox="1"/>
          <p:nvPr/>
        </p:nvSpPr>
        <p:spPr>
          <a:xfrm>
            <a:off x="1783080" y="1691640"/>
            <a:ext cx="3931920" cy="731520"/>
          </a:xfrm>
          <a:prstGeom prst="rect">
            <a:avLst/>
          </a:prstGeom>
          <a:noFill/>
          <a:ln/>
        </p:spPr>
        <p:txBody>
          <a:bodyPr wrap="square" lIns="0" tIns="0" rIns="0" bIns="0" rtlCol="0" anchor="ctr"/>
          <a:lstStyle/>
          <a:p>
            <a:pPr indent="0" marL="0">
              <a:buNone/>
            </a:pPr>
            <a:r>
              <a:rPr lang="en-US" sz="2000" b="1" dirty="0">
                <a:solidFill>
                  <a:schemeClr val="tx1"/>
                </a:solidFill>
              </a:rPr>
              <a:t>Sepsis en UCI</a:t>
            </a:r>
            <a:endParaRPr lang="en-US" sz="2000" dirty="0"/>
          </a:p>
        </p:txBody>
      </p:sp>
      <p:sp>
        <p:nvSpPr>
          <p:cNvPr id="7" name="Text 4"/>
          <p:cNvSpPr txBox="1"/>
          <p:nvPr/>
        </p:nvSpPr>
        <p:spPr>
          <a:xfrm>
            <a:off x="868680" y="2697480"/>
            <a:ext cx="4754880"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−6.05 %</a:t>
            </a:r>
            <a:endParaRPr lang="en-US" sz="5400" dirty="0"/>
          </a:p>
        </p:txBody>
      </p:sp>
      <p:sp>
        <p:nvSpPr>
          <p:cNvPr id="8" name="Text 5"/>
          <p:cNvSpPr txBox="1"/>
          <p:nvPr/>
        </p:nvSpPr>
        <p:spPr>
          <a:xfrm>
            <a:off x="868680" y="3657600"/>
            <a:ext cx="4754880" cy="685800"/>
          </a:xfrm>
          <a:prstGeom prst="rect">
            <a:avLst/>
          </a:prstGeom>
          <a:noFill/>
          <a:ln/>
        </p:spPr>
        <p:txBody>
          <a:bodyPr wrap="square" lIns="0" tIns="0" rIns="0" bIns="0" rtlCol="0" anchor="t"/>
          <a:lstStyle/>
          <a:p>
            <a:pPr indent="0" marL="0">
              <a:buNone/>
            </a:pPr>
            <a:r>
              <a:rPr lang="en-US" sz="1600" dirty="0">
                <a:solidFill>
                  <a:schemeClr val="tx1"/>
                </a:solidFill>
              </a:rPr>
              <a:t>de accuracy al pasar de estancias ≤ 47 h a estancias largas [1]</a:t>
            </a:r>
            <a:endParaRPr lang="en-US" sz="1600" dirty="0"/>
          </a:p>
        </p:txBody>
      </p:sp>
      <p:sp>
        <p:nvSpPr>
          <p:cNvPr id="9" name="Text 6"/>
          <p:cNvSpPr txBox="1"/>
          <p:nvPr/>
        </p:nvSpPr>
        <p:spPr>
          <a:xfrm>
            <a:off x="868680" y="4526280"/>
            <a:ext cx="4754880" cy="685800"/>
          </a:xfrm>
          <a:prstGeom prst="rect">
            <a:avLst/>
          </a:prstGeom>
          <a:noFill/>
          <a:ln/>
        </p:spPr>
        <p:txBody>
          <a:bodyPr wrap="square" lIns="0" tIns="0" rIns="0" bIns="0" rtlCol="0" anchor="t"/>
          <a:lstStyle/>
          <a:p>
            <a:pPr indent="0" marL="0">
              <a:buNone/>
            </a:pPr>
            <a:r>
              <a:rPr lang="en-US" sz="1400" dirty="0">
                <a:solidFill>
                  <a:schemeClr val="tx2"/>
                </a:solidFill>
              </a:rPr>
              <a:t>&gt; 60 000 pacientes de UCI, 40 variables clínicas por hora [12]</a:t>
            </a:r>
            <a:endParaRPr lang="en-US" sz="1400" dirty="0"/>
          </a:p>
        </p:txBody>
      </p:sp>
      <p:sp>
        <p:nvSpPr>
          <p:cNvPr id="10" name="domain-card"/>
          <p:cNvSpPr/>
          <p:nvPr/>
        </p:nvSpPr>
        <p:spPr>
          <a:xfrm>
            <a:off x="6217920" y="1417320"/>
            <a:ext cx="5394960" cy="4023360"/>
          </a:xfrm>
          <a:prstGeom prst="roundRect">
            <a:avLst>
              <a:gd name="adj" fmla="val 2727"/>
            </a:avLst>
          </a:prstGeom>
          <a:solidFill>
            <a:schemeClr val="bg1"/>
          </a:solidFill>
          <a:ln/>
          <a:effectLst>
            <a:outerShdw sx="100000" sy="100000" kx="0" ky="0" algn="bl" rotWithShape="0" blurRad="76200" dist="25400" dir="5400000">
              <a:srgbClr val="1B2235">
                <a:alpha val="15000"/>
              </a:srgbClr>
            </a:outerShdw>
          </a:effectLst>
        </p:spPr>
      </p:sp>
      <p:sp>
        <p:nvSpPr>
          <p:cNvPr id="11" name="icon-circle"/>
          <p:cNvSpPr/>
          <p:nvPr/>
        </p:nvSpPr>
        <p:spPr>
          <a:xfrm>
            <a:off x="6537960" y="1691640"/>
            <a:ext cx="731520" cy="731520"/>
          </a:xfrm>
          <a:prstGeom prst="ellipse">
            <a:avLst/>
          </a:prstGeom>
          <a:solidFill>
            <a:schemeClr val="accent1"/>
          </a:solidFill>
          <a:ln/>
        </p:spPr>
      </p:sp>
      <p:pic>
        <p:nvPicPr>
          <p:cNvPr id="12" name="icon" descr="preencoded.png">    </p:cNvPr>
          <p:cNvPicPr>
            <a:picLocks noChangeAspect="1"/>
          </p:cNvPicPr>
          <p:nvPr/>
        </p:nvPicPr>
        <p:blipFill>
          <a:blip r:embed="rId2"/>
          <a:stretch>
            <a:fillRect/>
          </a:stretch>
        </p:blipFill>
        <p:spPr>
          <a:xfrm>
            <a:off x="6713525" y="1867205"/>
            <a:ext cx="380390" cy="380390"/>
          </a:xfrm>
          <a:prstGeom prst="rect">
            <a:avLst/>
          </a:prstGeom>
        </p:spPr>
      </p:pic>
      <p:sp>
        <p:nvSpPr>
          <p:cNvPr id="13" name="Text 9"/>
          <p:cNvSpPr txBox="1"/>
          <p:nvPr/>
        </p:nvSpPr>
        <p:spPr>
          <a:xfrm>
            <a:off x="7452360" y="1691640"/>
            <a:ext cx="3931920" cy="731520"/>
          </a:xfrm>
          <a:prstGeom prst="rect">
            <a:avLst/>
          </a:prstGeom>
          <a:noFill/>
          <a:ln/>
        </p:spPr>
        <p:txBody>
          <a:bodyPr wrap="square" lIns="0" tIns="0" rIns="0" bIns="0" rtlCol="0" anchor="ctr"/>
          <a:lstStyle/>
          <a:p>
            <a:pPr indent="0" marL="0">
              <a:buNone/>
            </a:pPr>
            <a:r>
              <a:rPr lang="en-US" sz="2000" b="1" dirty="0">
                <a:solidFill>
                  <a:schemeClr val="tx1"/>
                </a:solidFill>
              </a:rPr>
              <a:t>Readmisión hospitalaria (diabetes)</a:t>
            </a:r>
            <a:endParaRPr lang="en-US" sz="2000" dirty="0"/>
          </a:p>
        </p:txBody>
      </p:sp>
      <p:sp>
        <p:nvSpPr>
          <p:cNvPr id="14" name="Text 10"/>
          <p:cNvSpPr txBox="1"/>
          <p:nvPr/>
        </p:nvSpPr>
        <p:spPr>
          <a:xfrm>
            <a:off x="6537960" y="2697480"/>
            <a:ext cx="475488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−5.94 %</a:t>
            </a:r>
            <a:endParaRPr lang="en-US" sz="5400" dirty="0"/>
          </a:p>
        </p:txBody>
      </p:sp>
      <p:sp>
        <p:nvSpPr>
          <p:cNvPr id="15" name="Text 11"/>
          <p:cNvSpPr txBox="1"/>
          <p:nvPr/>
        </p:nvSpPr>
        <p:spPr>
          <a:xfrm>
            <a:off x="6537960" y="3657600"/>
            <a:ext cx="4754880" cy="685800"/>
          </a:xfrm>
          <a:prstGeom prst="rect">
            <a:avLst/>
          </a:prstGeom>
          <a:noFill/>
          <a:ln/>
        </p:spPr>
        <p:txBody>
          <a:bodyPr wrap="square" lIns="0" tIns="0" rIns="0" bIns="0" rtlCol="0" anchor="t"/>
          <a:lstStyle/>
          <a:p>
            <a:pPr indent="0" marL="0">
              <a:buNone/>
            </a:pPr>
            <a:r>
              <a:rPr lang="en-US" sz="1600" dirty="0">
                <a:solidFill>
                  <a:schemeClr val="tx1"/>
                </a:solidFill>
              </a:rPr>
              <a:t>de accuracy al cambiar la fuente de admisión a emergencias [1]</a:t>
            </a:r>
            <a:endParaRPr lang="en-US" sz="1600" dirty="0"/>
          </a:p>
        </p:txBody>
      </p:sp>
      <p:sp>
        <p:nvSpPr>
          <p:cNvPr id="16" name="Text 12"/>
          <p:cNvSpPr txBox="1"/>
          <p:nvPr/>
        </p:nvSpPr>
        <p:spPr>
          <a:xfrm>
            <a:off x="6537960" y="4526280"/>
            <a:ext cx="4754880" cy="685800"/>
          </a:xfrm>
          <a:prstGeom prst="rect">
            <a:avLst/>
          </a:prstGeom>
          <a:noFill/>
          <a:ln/>
        </p:spPr>
        <p:txBody>
          <a:bodyPr wrap="square" lIns="0" tIns="0" rIns="0" bIns="0" rtlCol="0" anchor="t"/>
          <a:lstStyle/>
          <a:p>
            <a:pPr indent="0" marL="0">
              <a:buNone/>
            </a:pPr>
            <a:r>
              <a:rPr lang="en-US" sz="1400" dirty="0">
                <a:solidFill>
                  <a:schemeClr val="tx2"/>
                </a:solidFill>
              </a:rPr>
              <a:t>10 años de datos de 130 hospitales de EE. UU. [13]</a:t>
            </a:r>
            <a:endParaRPr lang="en-US" sz="1400" dirty="0"/>
          </a:p>
        </p:txBody>
      </p:sp>
      <p:sp>
        <p:nvSpPr>
          <p:cNvPr id="17" name="Text 13"/>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600" i="1" dirty="0">
                <a:solidFill>
                  <a:schemeClr val="accent1"/>
                </a:solidFill>
              </a:rPr>
              <a:t>Un modelo de riesgo que se degrada en silencio compromete la asignación de recursos clínicos.</a:t>
            </a:r>
            <a:endParaRPr lang="en-US" sz="1600" dirty="0"/>
          </a:p>
        </p:txBody>
      </p:sp>
      <p:sp>
        <p:nvSpPr>
          <p:cNvPr id="18"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Fuentes: [1] Gardner et al., 2024; [12] Reyna et al., 2020 (PhysioNet/CinC 2019); [13] Strack et al., 2014 (Diabetes 130-US).</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El problema real no es cuándo reentrenar, sino qué actualizar</a:t>
            </a:r>
            <a:endParaRPr lang="en-US" sz="2800" dirty="0"/>
          </a:p>
        </p:txBody>
      </p:sp>
      <p:sp>
        <p:nvSpPr>
          <p:cNvPr id="3" name="flow-box"/>
          <p:cNvSpPr/>
          <p:nvPr/>
        </p:nvSpPr>
        <p:spPr>
          <a:xfrm>
            <a:off x="548640" y="1463040"/>
            <a:ext cx="2468880" cy="1143000"/>
          </a:xfrm>
          <a:prstGeom prst="roundRect">
            <a:avLst>
              <a:gd name="adj" fmla="val 9600"/>
            </a:avLst>
          </a:prstGeom>
          <a:solidFill>
            <a:schemeClr val="bg2"/>
          </a:solidFill>
          <a:ln/>
        </p:spPr>
      </p:sp>
      <p:sp>
        <p:nvSpPr>
          <p:cNvPr id="4" name="icon-circle"/>
          <p:cNvSpPr/>
          <p:nvPr/>
        </p:nvSpPr>
        <p:spPr>
          <a:xfrm>
            <a:off x="731520" y="1691640"/>
            <a:ext cx="685800" cy="685800"/>
          </a:xfrm>
          <a:prstGeom prst="ellipse">
            <a:avLst/>
          </a:prstGeom>
          <a:solidFill>
            <a:schemeClr val="accent6"/>
          </a:solidFill>
          <a:ln/>
        </p:spPr>
      </p:sp>
      <p:pic>
        <p:nvPicPr>
          <p:cNvPr id="5" name="icon" descr="preencoded.png">    </p:cNvPr>
          <p:cNvPicPr>
            <a:picLocks noChangeAspect="1"/>
          </p:cNvPicPr>
          <p:nvPr/>
        </p:nvPicPr>
        <p:blipFill>
          <a:blip r:embed="rId1"/>
          <a:stretch>
            <a:fillRect/>
          </a:stretch>
        </p:blipFill>
        <p:spPr>
          <a:xfrm>
            <a:off x="896112" y="1856232"/>
            <a:ext cx="356616" cy="356616"/>
          </a:xfrm>
          <a:prstGeom prst="rect">
            <a:avLst/>
          </a:prstGeom>
        </p:spPr>
      </p:pic>
      <p:sp>
        <p:nvSpPr>
          <p:cNvPr id="6" name="Text 3"/>
          <p:cNvSpPr txBox="1"/>
          <p:nvPr/>
        </p:nvSpPr>
        <p:spPr>
          <a:xfrm>
            <a:off x="1508760" y="1508760"/>
            <a:ext cx="1417320" cy="1051560"/>
          </a:xfrm>
          <a:prstGeom prst="rect">
            <a:avLst/>
          </a:prstGeom>
          <a:noFill/>
          <a:ln/>
        </p:spPr>
        <p:txBody>
          <a:bodyPr wrap="square" lIns="0" tIns="0" rIns="0" bIns="0" rtlCol="0" anchor="ctr"/>
          <a:lstStyle/>
          <a:p>
            <a:pPr indent="0" marL="0">
              <a:buNone/>
            </a:pPr>
            <a:r>
              <a:rPr lang="en-US" sz="1400" b="1" dirty="0">
                <a:solidFill>
                  <a:schemeClr val="tx1"/>
                </a:solidFill>
              </a:rPr>
              <a:t>Datos tabulares</a:t>
            </a:r>
            <a:endParaRPr lang="en-US" sz="1400" dirty="0"/>
          </a:p>
        </p:txBody>
      </p:sp>
      <p:sp>
        <p:nvSpPr>
          <p:cNvPr id="7" name="arrow"/>
          <p:cNvSpPr/>
          <p:nvPr/>
        </p:nvSpPr>
        <p:spPr>
          <a:xfrm>
            <a:off x="3090672" y="1892808"/>
            <a:ext cx="274320" cy="292608"/>
          </a:xfrm>
          <a:prstGeom prst="rightArrow">
            <a:avLst/>
          </a:prstGeom>
          <a:solidFill>
            <a:schemeClr val="accent6"/>
          </a:solidFill>
          <a:ln/>
        </p:spPr>
      </p:sp>
      <p:sp>
        <p:nvSpPr>
          <p:cNvPr id="8" name="flow-box"/>
          <p:cNvSpPr/>
          <p:nvPr/>
        </p:nvSpPr>
        <p:spPr>
          <a:xfrm>
            <a:off x="3429000" y="1463040"/>
            <a:ext cx="2468880" cy="1143000"/>
          </a:xfrm>
          <a:prstGeom prst="roundRect">
            <a:avLst>
              <a:gd name="adj" fmla="val 9600"/>
            </a:avLst>
          </a:prstGeom>
          <a:solidFill>
            <a:schemeClr val="bg2"/>
          </a:solidFill>
          <a:ln/>
        </p:spPr>
      </p:sp>
      <p:sp>
        <p:nvSpPr>
          <p:cNvPr id="9" name="icon-circle"/>
          <p:cNvSpPr/>
          <p:nvPr/>
        </p:nvSpPr>
        <p:spPr>
          <a:xfrm>
            <a:off x="3611880" y="1691640"/>
            <a:ext cx="685800" cy="685800"/>
          </a:xfrm>
          <a:prstGeom prst="ellipse">
            <a:avLst/>
          </a:prstGeom>
          <a:solidFill>
            <a:schemeClr val="accent1"/>
          </a:solidFill>
          <a:ln/>
        </p:spPr>
      </p:sp>
      <p:pic>
        <p:nvPicPr>
          <p:cNvPr id="10" name="icon" descr="preencoded.png">    </p:cNvPr>
          <p:cNvPicPr>
            <a:picLocks noChangeAspect="1"/>
          </p:cNvPicPr>
          <p:nvPr/>
        </p:nvPicPr>
        <p:blipFill>
          <a:blip r:embed="rId2"/>
          <a:stretch>
            <a:fillRect/>
          </a:stretch>
        </p:blipFill>
        <p:spPr>
          <a:xfrm>
            <a:off x="3776472" y="1856232"/>
            <a:ext cx="356616" cy="356616"/>
          </a:xfrm>
          <a:prstGeom prst="rect">
            <a:avLst/>
          </a:prstGeom>
        </p:spPr>
      </p:pic>
      <p:sp>
        <p:nvSpPr>
          <p:cNvPr id="11" name="Text 7"/>
          <p:cNvSpPr txBox="1"/>
          <p:nvPr/>
        </p:nvSpPr>
        <p:spPr>
          <a:xfrm>
            <a:off x="4389120" y="1508760"/>
            <a:ext cx="1417320" cy="1051560"/>
          </a:xfrm>
          <a:prstGeom prst="rect">
            <a:avLst/>
          </a:prstGeom>
          <a:noFill/>
          <a:ln/>
        </p:spPr>
        <p:txBody>
          <a:bodyPr wrap="square" lIns="0" tIns="0" rIns="0" bIns="0" rtlCol="0" anchor="ctr"/>
          <a:lstStyle/>
          <a:p>
            <a:pPr indent="0" marL="0">
              <a:buNone/>
            </a:pPr>
            <a:r>
              <a:rPr lang="en-US" sz="1400" b="1" dirty="0">
                <a:solidFill>
                  <a:schemeClr val="tx1"/>
                </a:solidFill>
              </a:rPr>
              <a:t>Stage 1: preprocesamiento f_φ</a:t>
            </a:r>
            <a:endParaRPr lang="en-US" sz="1400" dirty="0"/>
          </a:p>
        </p:txBody>
      </p:sp>
      <p:sp>
        <p:nvSpPr>
          <p:cNvPr id="12" name="arrow"/>
          <p:cNvSpPr/>
          <p:nvPr/>
        </p:nvSpPr>
        <p:spPr>
          <a:xfrm>
            <a:off x="5971032" y="1892808"/>
            <a:ext cx="274320" cy="292608"/>
          </a:xfrm>
          <a:prstGeom prst="rightArrow">
            <a:avLst/>
          </a:prstGeom>
          <a:solidFill>
            <a:schemeClr val="accent6"/>
          </a:solidFill>
          <a:ln/>
        </p:spPr>
      </p:sp>
      <p:sp>
        <p:nvSpPr>
          <p:cNvPr id="13" name="flow-box"/>
          <p:cNvSpPr/>
          <p:nvPr/>
        </p:nvSpPr>
        <p:spPr>
          <a:xfrm>
            <a:off x="6309360" y="1463040"/>
            <a:ext cx="2468880" cy="1143000"/>
          </a:xfrm>
          <a:prstGeom prst="roundRect">
            <a:avLst>
              <a:gd name="adj" fmla="val 9600"/>
            </a:avLst>
          </a:prstGeom>
          <a:solidFill>
            <a:schemeClr val="bg2"/>
          </a:solidFill>
          <a:ln/>
        </p:spPr>
      </p:sp>
      <p:sp>
        <p:nvSpPr>
          <p:cNvPr id="14" name="icon-circle"/>
          <p:cNvSpPr/>
          <p:nvPr/>
        </p:nvSpPr>
        <p:spPr>
          <a:xfrm>
            <a:off x="6492240" y="1691640"/>
            <a:ext cx="685800" cy="685800"/>
          </a:xfrm>
          <a:prstGeom prst="ellipse">
            <a:avLst/>
          </a:prstGeom>
          <a:solidFill>
            <a:schemeClr val="accent4"/>
          </a:solidFill>
          <a:ln/>
        </p:spPr>
      </p:sp>
      <p:pic>
        <p:nvPicPr>
          <p:cNvPr id="15" name="icon" descr="preencoded.png">    </p:cNvPr>
          <p:cNvPicPr>
            <a:picLocks noChangeAspect="1"/>
          </p:cNvPicPr>
          <p:nvPr/>
        </p:nvPicPr>
        <p:blipFill>
          <a:blip r:embed="rId3"/>
          <a:stretch>
            <a:fillRect/>
          </a:stretch>
        </p:blipFill>
        <p:spPr>
          <a:xfrm>
            <a:off x="6656832" y="1856232"/>
            <a:ext cx="356616" cy="356616"/>
          </a:xfrm>
          <a:prstGeom prst="rect">
            <a:avLst/>
          </a:prstGeom>
        </p:spPr>
      </p:pic>
      <p:sp>
        <p:nvSpPr>
          <p:cNvPr id="16" name="Text 11"/>
          <p:cNvSpPr txBox="1"/>
          <p:nvPr/>
        </p:nvSpPr>
        <p:spPr>
          <a:xfrm>
            <a:off x="7269480" y="1508760"/>
            <a:ext cx="1417320" cy="1051560"/>
          </a:xfrm>
          <a:prstGeom prst="rect">
            <a:avLst/>
          </a:prstGeom>
          <a:noFill/>
          <a:ln/>
        </p:spPr>
        <p:txBody>
          <a:bodyPr wrap="square" lIns="0" tIns="0" rIns="0" bIns="0" rtlCol="0" anchor="ctr"/>
          <a:lstStyle/>
          <a:p>
            <a:pPr indent="0" marL="0">
              <a:buNone/>
            </a:pPr>
            <a:r>
              <a:rPr lang="en-US" sz="1400" b="1" dirty="0">
                <a:solidFill>
                  <a:schemeClr val="tx1"/>
                </a:solidFill>
              </a:rPr>
              <a:t>Stage 2: modelo g_θ (XGBoost)</a:t>
            </a:r>
            <a:endParaRPr lang="en-US" sz="1400" dirty="0"/>
          </a:p>
        </p:txBody>
      </p:sp>
      <p:sp>
        <p:nvSpPr>
          <p:cNvPr id="17" name="arrow"/>
          <p:cNvSpPr/>
          <p:nvPr/>
        </p:nvSpPr>
        <p:spPr>
          <a:xfrm>
            <a:off x="8851392" y="1892808"/>
            <a:ext cx="274320" cy="292608"/>
          </a:xfrm>
          <a:prstGeom prst="rightArrow">
            <a:avLst/>
          </a:prstGeom>
          <a:solidFill>
            <a:schemeClr val="accent6"/>
          </a:solidFill>
          <a:ln/>
        </p:spPr>
      </p:sp>
      <p:sp>
        <p:nvSpPr>
          <p:cNvPr id="18" name="flow-box"/>
          <p:cNvSpPr/>
          <p:nvPr/>
        </p:nvSpPr>
        <p:spPr>
          <a:xfrm>
            <a:off x="9189720" y="1463040"/>
            <a:ext cx="2468880" cy="1143000"/>
          </a:xfrm>
          <a:prstGeom prst="roundRect">
            <a:avLst>
              <a:gd name="adj" fmla="val 9600"/>
            </a:avLst>
          </a:prstGeom>
          <a:solidFill>
            <a:schemeClr val="bg2"/>
          </a:solidFill>
          <a:ln/>
        </p:spPr>
      </p:sp>
      <p:sp>
        <p:nvSpPr>
          <p:cNvPr id="19" name="icon-circle"/>
          <p:cNvSpPr/>
          <p:nvPr/>
        </p:nvSpPr>
        <p:spPr>
          <a:xfrm>
            <a:off x="9372600" y="1691640"/>
            <a:ext cx="685800" cy="685800"/>
          </a:xfrm>
          <a:prstGeom prst="ellipse">
            <a:avLst/>
          </a:prstGeom>
          <a:solidFill>
            <a:schemeClr val="accent5"/>
          </a:solidFill>
          <a:ln/>
        </p:spPr>
      </p:sp>
      <p:pic>
        <p:nvPicPr>
          <p:cNvPr id="20" name="icon" descr="preencoded.png">    </p:cNvPr>
          <p:cNvPicPr>
            <a:picLocks noChangeAspect="1"/>
          </p:cNvPicPr>
          <p:nvPr/>
        </p:nvPicPr>
        <p:blipFill>
          <a:blip r:embed="rId4"/>
          <a:stretch>
            <a:fillRect/>
          </a:stretch>
        </p:blipFill>
        <p:spPr>
          <a:xfrm>
            <a:off x="9537192" y="1856232"/>
            <a:ext cx="356616" cy="356616"/>
          </a:xfrm>
          <a:prstGeom prst="rect">
            <a:avLst/>
          </a:prstGeom>
        </p:spPr>
      </p:pic>
      <p:sp>
        <p:nvSpPr>
          <p:cNvPr id="21" name="Text 15"/>
          <p:cNvSpPr txBox="1"/>
          <p:nvPr/>
        </p:nvSpPr>
        <p:spPr>
          <a:xfrm>
            <a:off x="10149840" y="1508760"/>
            <a:ext cx="1417320" cy="1051560"/>
          </a:xfrm>
          <a:prstGeom prst="rect">
            <a:avLst/>
          </a:prstGeom>
          <a:noFill/>
          <a:ln/>
        </p:spPr>
        <p:txBody>
          <a:bodyPr wrap="square" lIns="0" tIns="0" rIns="0" bIns="0" rtlCol="0" anchor="ctr"/>
          <a:lstStyle/>
          <a:p>
            <a:pPr indent="0" marL="0">
              <a:buNone/>
            </a:pPr>
            <a:r>
              <a:rPr lang="en-US" sz="1400" b="1" dirty="0">
                <a:solidFill>
                  <a:schemeClr val="tx1"/>
                </a:solidFill>
              </a:rPr>
              <a:t>Predicción</a:t>
            </a:r>
            <a:endParaRPr lang="en-US" sz="1400" dirty="0"/>
          </a:p>
        </p:txBody>
      </p:sp>
      <p:sp>
        <p:nvSpPr>
          <p:cNvPr id="22" name="drift-card"/>
          <p:cNvSpPr/>
          <p:nvPr/>
        </p:nvSpPr>
        <p:spPr>
          <a:xfrm>
            <a:off x="548640" y="2971800"/>
            <a:ext cx="5440680" cy="1600200"/>
          </a:xfrm>
          <a:prstGeom prst="roundRect">
            <a:avLst>
              <a:gd name="adj" fmla="val 6857"/>
            </a:avLst>
          </a:prstGeom>
          <a:solidFill>
            <a:schemeClr val="bg1"/>
          </a:solidFill>
          <a:ln w="15875">
            <a:solidFill>
              <a:schemeClr val="accent1"/>
            </a:solidFill>
            <a:prstDash val="solid"/>
          </a:ln>
        </p:spPr>
      </p:sp>
      <p:sp>
        <p:nvSpPr>
          <p:cNvPr id="23" name="Text 17"/>
          <p:cNvSpPr txBox="1"/>
          <p:nvPr/>
        </p:nvSpPr>
        <p:spPr>
          <a:xfrm>
            <a:off x="777240" y="3108960"/>
            <a:ext cx="5029200" cy="411480"/>
          </a:xfrm>
          <a:prstGeom prst="rect">
            <a:avLst/>
          </a:prstGeom>
          <a:noFill/>
          <a:ln/>
        </p:spPr>
        <p:txBody>
          <a:bodyPr wrap="square" lIns="0" tIns="0" rIns="0" bIns="0" rtlCol="0" anchor="t"/>
          <a:lstStyle/>
          <a:p>
            <a:pPr indent="0" marL="0">
              <a:buNone/>
            </a:pPr>
            <a:r>
              <a:rPr lang="en-US" sz="1800" b="1" dirty="0">
                <a:solidFill>
                  <a:schemeClr val="accent1"/>
                </a:solidFill>
              </a:rPr>
              <a:t>Covariate shift</a:t>
            </a:r>
            <a:endParaRPr lang="en-US" sz="1800" dirty="0"/>
          </a:p>
        </p:txBody>
      </p:sp>
      <p:sp>
        <p:nvSpPr>
          <p:cNvPr id="24" name="Text 18"/>
          <p:cNvSpPr txBox="1"/>
          <p:nvPr/>
        </p:nvSpPr>
        <p:spPr>
          <a:xfrm>
            <a:off x="777240" y="3566160"/>
            <a:ext cx="5029200" cy="9144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Cambia P(X): rangos, frecuencias, combinaciones</a:t>
            </a:r>
            <a:endParaRPr lang="en-US" sz="1400" dirty="0"/>
          </a:p>
          <a:p>
            <a:pPr indent="0" marL="0">
              <a:spcAft>
                <a:spcPts val="400"/>
              </a:spcAft>
              <a:buNone/>
            </a:pPr>
            <a:r>
              <a:rPr lang="en-US" sz="1400" b="1" dirty="0">
                <a:solidFill>
                  <a:schemeClr val="tx1"/>
                </a:solidFill>
              </a:rPr>
              <a:t>→ Desactualiza el preprocesamiento (Stage 1)</a:t>
            </a:r>
            <a:endParaRPr lang="en-US" sz="1400" dirty="0"/>
          </a:p>
        </p:txBody>
      </p:sp>
      <p:sp>
        <p:nvSpPr>
          <p:cNvPr id="25" name="drift-card"/>
          <p:cNvSpPr/>
          <p:nvPr/>
        </p:nvSpPr>
        <p:spPr>
          <a:xfrm>
            <a:off x="6172200" y="2971800"/>
            <a:ext cx="5440680" cy="1600200"/>
          </a:xfrm>
          <a:prstGeom prst="roundRect">
            <a:avLst>
              <a:gd name="adj" fmla="val 6857"/>
            </a:avLst>
          </a:prstGeom>
          <a:solidFill>
            <a:schemeClr val="bg1"/>
          </a:solidFill>
          <a:ln w="15875">
            <a:solidFill>
              <a:schemeClr val="accent4"/>
            </a:solidFill>
            <a:prstDash val="solid"/>
          </a:ln>
        </p:spPr>
      </p:sp>
      <p:sp>
        <p:nvSpPr>
          <p:cNvPr id="26" name="Text 20"/>
          <p:cNvSpPr txBox="1"/>
          <p:nvPr/>
        </p:nvSpPr>
        <p:spPr>
          <a:xfrm>
            <a:off x="6400800" y="3108960"/>
            <a:ext cx="5029200" cy="411480"/>
          </a:xfrm>
          <a:prstGeom prst="rect">
            <a:avLst/>
          </a:prstGeom>
          <a:noFill/>
          <a:ln/>
        </p:spPr>
        <p:txBody>
          <a:bodyPr wrap="square" lIns="0" tIns="0" rIns="0" bIns="0" rtlCol="0" anchor="t"/>
          <a:lstStyle/>
          <a:p>
            <a:pPr indent="0" marL="0">
              <a:buNone/>
            </a:pPr>
            <a:r>
              <a:rPr lang="en-US" sz="1800" b="1" dirty="0">
                <a:solidFill>
                  <a:schemeClr val="accent4"/>
                </a:solidFill>
              </a:rPr>
              <a:t>Concept drift</a:t>
            </a:r>
            <a:endParaRPr lang="en-US" sz="1800" dirty="0"/>
          </a:p>
        </p:txBody>
      </p:sp>
      <p:sp>
        <p:nvSpPr>
          <p:cNvPr id="27" name="Text 21"/>
          <p:cNvSpPr txBox="1"/>
          <p:nvPr/>
        </p:nvSpPr>
        <p:spPr>
          <a:xfrm>
            <a:off x="6400800" y="3566160"/>
            <a:ext cx="5029200" cy="9144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Cambia P(Y|X): la regla que vincula X con Y</a:t>
            </a:r>
            <a:endParaRPr lang="en-US" sz="1400" dirty="0"/>
          </a:p>
          <a:p>
            <a:pPr indent="0" marL="0">
              <a:spcAft>
                <a:spcPts val="400"/>
              </a:spcAft>
              <a:buNone/>
            </a:pPr>
            <a:r>
              <a:rPr lang="en-US" sz="1400" b="1" dirty="0">
                <a:solidFill>
                  <a:schemeClr val="tx1"/>
                </a:solidFill>
              </a:rPr>
              <a:t>→ Invalida el modelo predictivo (Stage 2)</a:t>
            </a:r>
            <a:endParaRPr lang="en-US" sz="1400" dirty="0"/>
          </a:p>
        </p:txBody>
      </p:sp>
      <p:sp>
        <p:nvSpPr>
          <p:cNvPr id="28" name="callout"/>
          <p:cNvSpPr/>
          <p:nvPr/>
        </p:nvSpPr>
        <p:spPr>
          <a:xfrm>
            <a:off x="548640" y="4846320"/>
            <a:ext cx="11064240" cy="1325880"/>
          </a:xfrm>
          <a:prstGeom prst="roundRect">
            <a:avLst>
              <a:gd name="adj" fmla="val 8276"/>
            </a:avLst>
          </a:prstGeom>
          <a:solidFill>
            <a:schemeClr val="bg2"/>
          </a:solidFill>
          <a:ln/>
        </p:spPr>
      </p:sp>
      <p:sp>
        <p:nvSpPr>
          <p:cNvPr id="29" name="icon-circle"/>
          <p:cNvSpPr/>
          <p:nvPr/>
        </p:nvSpPr>
        <p:spPr>
          <a:xfrm>
            <a:off x="777240" y="5074920"/>
            <a:ext cx="822960" cy="822960"/>
          </a:xfrm>
          <a:prstGeom prst="ellipse">
            <a:avLst/>
          </a:prstGeom>
          <a:solidFill>
            <a:schemeClr val="accent2"/>
          </a:solidFill>
          <a:ln/>
        </p:spPr>
      </p:sp>
      <p:pic>
        <p:nvPicPr>
          <p:cNvPr id="30" name="icon" descr="preencoded.png">    </p:cNvPr>
          <p:cNvPicPr>
            <a:picLocks noChangeAspect="1"/>
          </p:cNvPicPr>
          <p:nvPr/>
        </p:nvPicPr>
        <p:blipFill>
          <a:blip r:embed="rId5"/>
          <a:stretch>
            <a:fillRect/>
          </a:stretch>
        </p:blipFill>
        <p:spPr>
          <a:xfrm>
            <a:off x="974750" y="5272430"/>
            <a:ext cx="427939" cy="427939"/>
          </a:xfrm>
          <a:prstGeom prst="rect">
            <a:avLst/>
          </a:prstGeom>
        </p:spPr>
      </p:pic>
      <p:sp>
        <p:nvSpPr>
          <p:cNvPr id="31" name="Text 24"/>
          <p:cNvSpPr txBox="1"/>
          <p:nvPr/>
        </p:nvSpPr>
        <p:spPr>
          <a:xfrm>
            <a:off x="1828800" y="4956048"/>
            <a:ext cx="9601200" cy="1097280"/>
          </a:xfrm>
          <a:prstGeom prst="rect">
            <a:avLst/>
          </a:prstGeom>
          <a:noFill/>
          <a:ln/>
        </p:spPr>
        <p:txBody>
          <a:bodyPr wrap="square" lIns="0" tIns="0" rIns="0" bIns="0" rtlCol="0" anchor="ctr"/>
          <a:lstStyle/>
          <a:p>
            <a:pPr indent="0" marL="0">
              <a:spcAft>
                <a:spcPts val="400"/>
              </a:spcAft>
              <a:buNone/>
            </a:pPr>
            <a:r>
              <a:rPr lang="en-US" sz="1500" b="1" dirty="0">
                <a:solidFill>
                  <a:schemeClr val="tx1"/>
                </a:solidFill>
              </a:rPr>
              <a:t>Práctica habitual: reentrenar todo el pipeline ante cualquier caída, lo que es costoso [2]. </a:t>
            </a:r>
            <a:endParaRPr lang="en-US" sz="1500" dirty="0"/>
          </a:p>
          <a:p>
            <a:pPr indent="0" marL="0">
              <a:spcAft>
                <a:spcPts val="400"/>
              </a:spcAft>
              <a:buNone/>
            </a:pPr>
            <a:r>
              <a:rPr lang="en-US" sz="1500" dirty="0">
                <a:solidFill>
                  <a:schemeClr val="tx1"/>
                </a:solidFill>
              </a:rPr>
              <a:t>Pero una acción parcial puede bastar: solo transformar por cuantiles reduce el estadístico KS de 0.0559 a 0.0072 sin reentrenar [5].</a:t>
            </a:r>
            <a:endParaRPr lang="en-US" sz="1500" dirty="0"/>
          </a:p>
        </p:txBody>
      </p:sp>
      <p:sp>
        <p:nvSpPr>
          <p:cNvPr id="32"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Fuentes: [2] Mahadevan y Mathioudakis, 2024; [3] Cai et al., 2023; [5] Shakhovska y Pukach, 2025; [7] Gama et al., 2014.</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Ningún trabajo previo decide qué etapa actualizar</a:t>
            </a:r>
            <a:endParaRPr lang="en-US" sz="2800" dirty="0"/>
          </a:p>
        </p:txBody>
      </p:sp>
      <p:graphicFrame>
        <p:nvGraphicFramePr>
          <p:cNvPr id="7" name="tabla-brecha"/>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1828800"/>
                <a:gridCol w="914400"/>
                <a:gridCol w="914400"/>
                <a:gridCol w="1005840"/>
                <a:gridCol w="1188720"/>
                <a:gridCol w="731520"/>
                <a:gridCol w="914400"/>
              </a:tblGrid>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Trabajo</a:t>
                      </a:r>
                      <a:endParaRPr lang="en-US" sz="12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Tipo de drift</a:t>
                      </a:r>
                      <a:endParaRPr lang="en-US" sz="12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Severidad</a:t>
                      </a:r>
                      <a:endParaRPr lang="en-US" sz="12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Pipeline 2 etapas</a:t>
                      </a:r>
                      <a:endParaRPr lang="en-US" sz="12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Recuperación</a:t>
                      </a:r>
                      <a:endParaRPr lang="en-US" sz="12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Costo</a:t>
                      </a:r>
                      <a:endParaRPr lang="en-US" sz="12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Política RL</a:t>
                      </a:r>
                      <a:endParaRPr lang="en-US" sz="12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r>
              <a:tr h="502920">
                <a:tc>
                  <a:txBody>
                    <a:bodyPr/>
                    <a:lstStyle/>
                    <a:p>
                      <a:pPr algn="l" indent="0" marL="0">
                        <a:buNone/>
                      </a:pPr>
                      <a:r>
                        <a:rPr lang="en-US" sz="1400" b="1" dirty="0">
                          <a:solidFill>
                            <a:srgbClr val="1B2235"/>
                          </a:solidFill>
                          <a:latin typeface="Calibri" pitchFamily="34" charset="0"/>
                          <a:ea typeface="Calibri" pitchFamily="34" charset="-122"/>
                          <a:cs typeface="Calibri" pitchFamily="34" charset="-120"/>
                        </a:rPr>
                        <a:t>DISDE [3]</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r h="502920">
                <a:tc>
                  <a:txBody>
                    <a:bodyPr/>
                    <a:lstStyle/>
                    <a:p>
                      <a:pPr algn="l" indent="0" marL="0">
                        <a:buNone/>
                      </a:pPr>
                      <a:r>
                        <a:rPr lang="en-US" sz="1400" b="1" dirty="0">
                          <a:solidFill>
                            <a:srgbClr val="1B2235"/>
                          </a:solidFill>
                          <a:latin typeface="Calibri" pitchFamily="34" charset="0"/>
                          <a:ea typeface="Calibri" pitchFamily="34" charset="-122"/>
                          <a:cs typeface="Calibri" pitchFamily="34" charset="-120"/>
                        </a:rPr>
                        <a:t>SHIFT [4]</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1B2235"/>
                          </a:solidFill>
                          <a:latin typeface="Calibri" pitchFamily="34" charset="0"/>
                          <a:ea typeface="Calibri" pitchFamily="34" charset="-122"/>
                          <a:cs typeface="Calibri" pitchFamily="34" charset="-120"/>
                        </a:rPr>
                        <a:t>TableShift [1]</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r h="502920">
                <a:tc>
                  <a:txBody>
                    <a:bodyPr/>
                    <a:lstStyle/>
                    <a:p>
                      <a:pPr algn="l" indent="0" marL="0">
                        <a:buNone/>
                      </a:pPr>
                      <a:r>
                        <a:rPr lang="en-US" sz="1400" b="1" dirty="0">
                          <a:solidFill>
                            <a:srgbClr val="1B2235"/>
                          </a:solidFill>
                          <a:latin typeface="Calibri" pitchFamily="34" charset="0"/>
                          <a:ea typeface="Calibri" pitchFamily="34" charset="-122"/>
                          <a:cs typeface="Calibri" pitchFamily="34" charset="-120"/>
                        </a:rPr>
                        <a:t>CARA [2]</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1B2235"/>
                          </a:solidFill>
                          <a:latin typeface="Calibri" pitchFamily="34" charset="0"/>
                          <a:ea typeface="Calibri" pitchFamily="34" charset="-122"/>
                          <a:cs typeface="Calibri" pitchFamily="34" charset="-120"/>
                        </a:rPr>
                        <a:t>Severity-Aware [5]</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r h="502920">
                <a:tc>
                  <a:txBody>
                    <a:bodyPr/>
                    <a:lstStyle/>
                    <a:p>
                      <a:pPr algn="l" indent="0" marL="0">
                        <a:buNone/>
                      </a:pPr>
                      <a:r>
                        <a:rPr lang="en-US" sz="1400" b="1" dirty="0">
                          <a:solidFill>
                            <a:srgbClr val="1B2235"/>
                          </a:solidFill>
                          <a:latin typeface="Calibri" pitchFamily="34" charset="0"/>
                          <a:ea typeface="Calibri" pitchFamily="34" charset="-122"/>
                          <a:cs typeface="Calibri" pitchFamily="34" charset="-120"/>
                        </a:rPr>
                        <a:t>Self-Healing [6]</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0B7C3"/>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1B2235"/>
                          </a:solidFill>
                          <a:latin typeface="Calibri" pitchFamily="34" charset="0"/>
                          <a:ea typeface="Calibri" pitchFamily="34" charset="-122"/>
                          <a:cs typeface="Calibri" pitchFamily="34" charset="-120"/>
                        </a:rPr>
                        <a:t>DARL (esta tesis)</a:t>
                      </a:r>
                      <a:endParaRPr lang="en-US" sz="14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3F1F1"/>
                    </a:solidFill>
                  </a:tcPr>
                </a:tc>
                <a:tc>
                  <a:txBody>
                    <a:bodyPr/>
                    <a:lstStyle/>
                    <a:p>
                      <a:pPr algn="ctr" indent="0" marL="0">
                        <a:buNone/>
                      </a:pPr>
                      <a:r>
                        <a:rPr lang="en-US" sz="1800" b="1"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3F1F1"/>
                    </a:solidFill>
                  </a:tcPr>
                </a:tc>
                <a:tc>
                  <a:txBody>
                    <a:bodyPr/>
                    <a:lstStyle/>
                    <a:p>
                      <a:pPr algn="ctr" indent="0" marL="0">
                        <a:buNone/>
                      </a:pPr>
                      <a:r>
                        <a:rPr lang="en-US" sz="1800" b="1"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3F1F1"/>
                    </a:solidFill>
                  </a:tcPr>
                </a:tc>
                <a:tc>
                  <a:txBody>
                    <a:bodyPr/>
                    <a:lstStyle/>
                    <a:p>
                      <a:pPr algn="ctr" indent="0" marL="0">
                        <a:buNone/>
                      </a:pPr>
                      <a:r>
                        <a:rPr lang="en-US" sz="1800" b="1"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3F1F1"/>
                    </a:solidFill>
                  </a:tcPr>
                </a:tc>
                <a:tc>
                  <a:txBody>
                    <a:bodyPr/>
                    <a:lstStyle/>
                    <a:p>
                      <a:pPr algn="ctr" indent="0" marL="0">
                        <a:buNone/>
                      </a:pPr>
                      <a:r>
                        <a:rPr lang="en-US" sz="1800" b="1"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3F1F1"/>
                    </a:solidFill>
                  </a:tcPr>
                </a:tc>
                <a:tc>
                  <a:txBody>
                    <a:bodyPr/>
                    <a:lstStyle/>
                    <a:p>
                      <a:pPr algn="ctr" indent="0" marL="0">
                        <a:buNone/>
                      </a:pPr>
                      <a:r>
                        <a:rPr lang="en-US" sz="1800" b="1"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3F1F1"/>
                    </a:solidFill>
                  </a:tcPr>
                </a:tc>
                <a:tc>
                  <a:txBody>
                    <a:bodyPr/>
                    <a:lstStyle/>
                    <a:p>
                      <a:pPr algn="ctr" indent="0" marL="0">
                        <a:buNone/>
                      </a:pPr>
                      <a:r>
                        <a:rPr lang="en-US" sz="1800" b="1" dirty="0">
                          <a:solidFill>
                            <a:srgbClr val="0F7C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E3F1F1"/>
                    </a:solidFill>
                  </a:tcPr>
                </a:tc>
              </a:tr>
            </a:tbl>
          </a:graphicData>
        </a:graphic>
      </p:graphicFrame>
      <p:sp>
        <p:nvSpPr>
          <p:cNvPr id="4" name="gap-callout"/>
          <p:cNvSpPr/>
          <p:nvPr/>
        </p:nvSpPr>
        <p:spPr>
          <a:xfrm>
            <a:off x="8412480" y="1371600"/>
            <a:ext cx="3200400" cy="4526280"/>
          </a:xfrm>
          <a:prstGeom prst="roundRect">
            <a:avLst>
              <a:gd name="adj" fmla="val 3429"/>
            </a:avLst>
          </a:prstGeom>
          <a:solidFill>
            <a:schemeClr val="bg2"/>
          </a:solidFill>
          <a:ln/>
        </p:spPr>
      </p:sp>
      <p:sp>
        <p:nvSpPr>
          <p:cNvPr id="5" name="icon-circle"/>
          <p:cNvSpPr/>
          <p:nvPr/>
        </p:nvSpPr>
        <p:spPr>
          <a:xfrm>
            <a:off x="8641080" y="1600200"/>
            <a:ext cx="640080" cy="640080"/>
          </a:xfrm>
          <a:prstGeom prst="ellipse">
            <a:avLst/>
          </a:prstGeom>
          <a:solidFill>
            <a:schemeClr val="accent3"/>
          </a:solidFill>
          <a:ln/>
        </p:spPr>
      </p:sp>
      <p:pic>
        <p:nvPicPr>
          <p:cNvPr id="6" name="icon" descr="preencoded.png">    </p:cNvPr>
          <p:cNvPicPr>
            <a:picLocks noChangeAspect="1"/>
          </p:cNvPicPr>
          <p:nvPr/>
        </p:nvPicPr>
        <p:blipFill>
          <a:blip r:embed="rId1"/>
          <a:stretch>
            <a:fillRect/>
          </a:stretch>
        </p:blipFill>
        <p:spPr>
          <a:xfrm>
            <a:off x="8794699" y="1753819"/>
            <a:ext cx="332842" cy="332842"/>
          </a:xfrm>
          <a:prstGeom prst="rect">
            <a:avLst/>
          </a:prstGeom>
        </p:spPr>
      </p:pic>
      <p:sp>
        <p:nvSpPr>
          <p:cNvPr id="7" name="Text 3"/>
          <p:cNvSpPr txBox="1"/>
          <p:nvPr/>
        </p:nvSpPr>
        <p:spPr>
          <a:xfrm>
            <a:off x="9418320" y="1645920"/>
            <a:ext cx="2103120" cy="548640"/>
          </a:xfrm>
          <a:prstGeom prst="rect">
            <a:avLst/>
          </a:prstGeom>
          <a:noFill/>
          <a:ln/>
        </p:spPr>
        <p:txBody>
          <a:bodyPr wrap="square" lIns="0" tIns="0" rIns="0" bIns="0" rtlCol="0" anchor="ctr"/>
          <a:lstStyle/>
          <a:p>
            <a:pPr indent="0" marL="0">
              <a:buNone/>
            </a:pPr>
            <a:r>
              <a:rPr lang="en-US" sz="2000" b="1" dirty="0">
                <a:solidFill>
                  <a:schemeClr val="tx1"/>
                </a:solidFill>
              </a:rPr>
              <a:t>La brecha</a:t>
            </a:r>
            <a:endParaRPr lang="en-US" sz="2000" dirty="0"/>
          </a:p>
        </p:txBody>
      </p:sp>
      <p:sp>
        <p:nvSpPr>
          <p:cNvPr id="8" name="Text 4"/>
          <p:cNvSpPr txBox="1"/>
          <p:nvPr/>
        </p:nvSpPr>
        <p:spPr>
          <a:xfrm>
            <a:off x="8641080" y="2423160"/>
            <a:ext cx="2788920" cy="338328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Diagnostican el drift o deciden cuándo reentrenar, pero tratan el pipeline como una sola pieza.</a:t>
            </a:r>
            <a:endParaRPr lang="en-US" sz="1400" dirty="0"/>
          </a:p>
          <a:p>
            <a:pPr indent="0" marL="0">
              <a:spcAft>
                <a:spcPts val="1000"/>
              </a:spcAft>
              <a:buNone/>
            </a:pPr>
            <a:r>
              <a:rPr lang="en-US" sz="1400" dirty="0">
                <a:solidFill>
                  <a:schemeClr val="tx1"/>
                </a:solidFill>
              </a:rPr>
              <a:t>Shakhovska y Pukach piden como trabajo futuro adaptar "también al tipo de drift" [5].</a:t>
            </a:r>
            <a:endParaRPr lang="en-US" sz="1400" dirty="0"/>
          </a:p>
          <a:p>
            <a:pPr indent="0" marL="0">
              <a:spcAft>
                <a:spcPts val="1000"/>
              </a:spcAft>
              <a:buNone/>
            </a:pPr>
            <a:r>
              <a:rPr lang="en-US" sz="1400" dirty="0">
                <a:solidFill>
                  <a:schemeClr val="tx1"/>
                </a:solidFill>
              </a:rPr>
              <a:t>Tanna propone integrar aprendizaje por refuerzo en la remediación [6].</a:t>
            </a:r>
            <a:endParaRPr lang="en-US" sz="1400" dirty="0"/>
          </a:p>
        </p:txBody>
      </p:sp>
      <p:sp>
        <p:nvSpPr>
          <p:cNvPr id="9"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Fuentes: [1]–[6]; tabla comparativa del Cap. I de la tesis.</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Pregunta de investigación</a:t>
            </a:r>
            <a:endParaRPr lang="en-US" sz="3200" dirty="0"/>
          </a:p>
        </p:txBody>
      </p:sp>
      <p:sp>
        <p:nvSpPr>
          <p:cNvPr id="3" name="Text 1"/>
          <p:cNvSpPr txBox="1"/>
          <p:nvPr/>
        </p:nvSpPr>
        <p:spPr>
          <a:xfrm>
            <a:off x="548640" y="1417320"/>
            <a:ext cx="11064240" cy="1554480"/>
          </a:xfrm>
          <a:prstGeom prst="rect">
            <a:avLst/>
          </a:prstGeom>
          <a:noFill/>
          <a:ln/>
        </p:spPr>
        <p:txBody>
          <a:bodyPr wrap="square" lIns="0" tIns="0" rIns="0" bIns="0" rtlCol="0" anchor="t"/>
          <a:lstStyle/>
          <a:p>
            <a:pPr indent="0" marL="0">
              <a:buNone/>
            </a:pPr>
            <a:r>
              <a:rPr lang="en-US" sz="2400" i="1" dirty="0">
                <a:solidFill>
                  <a:schemeClr val="bg1"/>
                </a:solidFill>
                <a:latin typeface="Cambria" pitchFamily="34" charset="0"/>
                <a:ea typeface="Cambria" pitchFamily="34" charset="-122"/>
                <a:cs typeface="Cambria" pitchFamily="34" charset="-120"/>
              </a:rPr>
              <a:t>¿Puede una política de aprendizaje por refuerzo elegir, a partir de señales de monitoreo, la actualización selectiva que maximiza la recuperación del rendimiento al menor costo computacional?</a:t>
            </a:r>
            <a:endParaRPr lang="en-US" sz="2400" dirty="0"/>
          </a:p>
        </p:txBody>
      </p:sp>
      <p:sp>
        <p:nvSpPr>
          <p:cNvPr id="4" name="action-card"/>
          <p:cNvSpPr/>
          <p:nvPr/>
        </p:nvSpPr>
        <p:spPr>
          <a:xfrm>
            <a:off x="548640" y="3429000"/>
            <a:ext cx="2606040" cy="2377440"/>
          </a:xfrm>
          <a:prstGeom prst="roundRect">
            <a:avLst>
              <a:gd name="adj" fmla="val 4615"/>
            </a:avLst>
          </a:prstGeom>
          <a:solidFill>
            <a:srgbClr val="2A3349"/>
          </a:solidFill>
          <a:ln/>
        </p:spPr>
      </p:sp>
      <p:sp>
        <p:nvSpPr>
          <p:cNvPr id="5" name="icon-circle"/>
          <p:cNvSpPr/>
          <p:nvPr/>
        </p:nvSpPr>
        <p:spPr>
          <a:xfrm>
            <a:off x="777240" y="3657600"/>
            <a:ext cx="731520" cy="731520"/>
          </a:xfrm>
          <a:prstGeom prst="ellipse">
            <a:avLst/>
          </a:prstGeom>
          <a:solidFill>
            <a:schemeClr val="accent6"/>
          </a:solidFill>
          <a:ln/>
        </p:spPr>
      </p:sp>
      <p:pic>
        <p:nvPicPr>
          <p:cNvPr id="6" name="icon" descr="preencoded.png">    </p:cNvPr>
          <p:cNvPicPr>
            <a:picLocks noChangeAspect="1"/>
          </p:cNvPicPr>
          <p:nvPr/>
        </p:nvPicPr>
        <p:blipFill>
          <a:blip r:embed="rId1"/>
          <a:stretch>
            <a:fillRect/>
          </a:stretch>
        </p:blipFill>
        <p:spPr>
          <a:xfrm>
            <a:off x="952805" y="3833165"/>
            <a:ext cx="380390" cy="380390"/>
          </a:xfrm>
          <a:prstGeom prst="rect">
            <a:avLst/>
          </a:prstGeom>
        </p:spPr>
      </p:pic>
      <p:sp>
        <p:nvSpPr>
          <p:cNvPr id="7" name="Text 4"/>
          <p:cNvSpPr txBox="1"/>
          <p:nvPr/>
        </p:nvSpPr>
        <p:spPr>
          <a:xfrm>
            <a:off x="777240" y="4526280"/>
            <a:ext cx="2194560" cy="457200"/>
          </a:xfrm>
          <a:prstGeom prst="rect">
            <a:avLst/>
          </a:prstGeom>
          <a:noFill/>
          <a:ln/>
        </p:spPr>
        <p:txBody>
          <a:bodyPr wrap="square" lIns="0" tIns="0" rIns="0" bIns="0" rtlCol="0" anchor="t"/>
          <a:lstStyle/>
          <a:p>
            <a:pPr indent="0" marL="0">
              <a:buNone/>
            </a:pPr>
            <a:r>
              <a:rPr lang="en-US" sz="1700" b="1" dirty="0">
                <a:solidFill>
                  <a:schemeClr val="bg1"/>
                </a:solidFill>
              </a:rPr>
              <a:t>A1 · Defer</a:t>
            </a:r>
            <a:endParaRPr lang="en-US" sz="1700" dirty="0"/>
          </a:p>
        </p:txBody>
      </p:sp>
      <p:sp>
        <p:nvSpPr>
          <p:cNvPr id="8" name="Text 5"/>
          <p:cNvSpPr txBox="1"/>
          <p:nvPr/>
        </p:nvSpPr>
        <p:spPr>
          <a:xfrm>
            <a:off x="777240" y="4983480"/>
            <a:ext cx="2194560" cy="731520"/>
          </a:xfrm>
          <a:prstGeom prst="rect">
            <a:avLst/>
          </a:prstGeom>
          <a:noFill/>
          <a:ln/>
        </p:spPr>
        <p:txBody>
          <a:bodyPr wrap="square" lIns="0" tIns="0" rIns="0" bIns="0" rtlCol="0" anchor="t"/>
          <a:lstStyle/>
          <a:p>
            <a:pPr indent="0" marL="0">
              <a:buNone/>
            </a:pPr>
            <a:r>
              <a:rPr lang="en-US" sz="1400" dirty="0">
                <a:solidFill>
                  <a:srgbClr val="C9CFD8"/>
                </a:solidFill>
              </a:rPr>
              <a:t>No intervenir si el costo no se justifica</a:t>
            </a:r>
            <a:endParaRPr lang="en-US" sz="1400" dirty="0"/>
          </a:p>
        </p:txBody>
      </p:sp>
      <p:sp>
        <p:nvSpPr>
          <p:cNvPr id="9" name="action-card"/>
          <p:cNvSpPr/>
          <p:nvPr/>
        </p:nvSpPr>
        <p:spPr>
          <a:xfrm>
            <a:off x="3383280" y="3429000"/>
            <a:ext cx="2606040" cy="2377440"/>
          </a:xfrm>
          <a:prstGeom prst="roundRect">
            <a:avLst>
              <a:gd name="adj" fmla="val 4615"/>
            </a:avLst>
          </a:prstGeom>
          <a:solidFill>
            <a:srgbClr val="2A3349"/>
          </a:solidFill>
          <a:ln/>
        </p:spPr>
      </p:sp>
      <p:sp>
        <p:nvSpPr>
          <p:cNvPr id="10" name="icon-circle"/>
          <p:cNvSpPr/>
          <p:nvPr/>
        </p:nvSpPr>
        <p:spPr>
          <a:xfrm>
            <a:off x="3611880" y="3657600"/>
            <a:ext cx="731520" cy="731520"/>
          </a:xfrm>
          <a:prstGeom prst="ellipse">
            <a:avLst/>
          </a:prstGeom>
          <a:solidFill>
            <a:schemeClr val="accent1"/>
          </a:solidFill>
          <a:ln/>
        </p:spPr>
      </p:sp>
      <p:pic>
        <p:nvPicPr>
          <p:cNvPr id="11" name="icon" descr="preencoded.png">    </p:cNvPr>
          <p:cNvPicPr>
            <a:picLocks noChangeAspect="1"/>
          </p:cNvPicPr>
          <p:nvPr/>
        </p:nvPicPr>
        <p:blipFill>
          <a:blip r:embed="rId2"/>
          <a:stretch>
            <a:fillRect/>
          </a:stretch>
        </p:blipFill>
        <p:spPr>
          <a:xfrm>
            <a:off x="3787445" y="3833165"/>
            <a:ext cx="380390" cy="380390"/>
          </a:xfrm>
          <a:prstGeom prst="rect">
            <a:avLst/>
          </a:prstGeom>
        </p:spPr>
      </p:pic>
      <p:sp>
        <p:nvSpPr>
          <p:cNvPr id="12" name="Text 8"/>
          <p:cNvSpPr txBox="1"/>
          <p:nvPr/>
        </p:nvSpPr>
        <p:spPr>
          <a:xfrm>
            <a:off x="3611880" y="4526280"/>
            <a:ext cx="2194560" cy="457200"/>
          </a:xfrm>
          <a:prstGeom prst="rect">
            <a:avLst/>
          </a:prstGeom>
          <a:noFill/>
          <a:ln/>
        </p:spPr>
        <p:txBody>
          <a:bodyPr wrap="square" lIns="0" tIns="0" rIns="0" bIns="0" rtlCol="0" anchor="t"/>
          <a:lstStyle/>
          <a:p>
            <a:pPr indent="0" marL="0">
              <a:buNone/>
            </a:pPr>
            <a:r>
              <a:rPr lang="en-US" sz="1700" b="1" dirty="0">
                <a:solidFill>
                  <a:schemeClr val="bg1"/>
                </a:solidFill>
              </a:rPr>
              <a:t>A2 · Update features</a:t>
            </a:r>
            <a:endParaRPr lang="en-US" sz="1700" dirty="0"/>
          </a:p>
        </p:txBody>
      </p:sp>
      <p:sp>
        <p:nvSpPr>
          <p:cNvPr id="13" name="Text 9"/>
          <p:cNvSpPr txBox="1"/>
          <p:nvPr/>
        </p:nvSpPr>
        <p:spPr>
          <a:xfrm>
            <a:off x="3611880" y="4983480"/>
            <a:ext cx="2194560" cy="731520"/>
          </a:xfrm>
          <a:prstGeom prst="rect">
            <a:avLst/>
          </a:prstGeom>
          <a:noFill/>
          <a:ln/>
        </p:spPr>
        <p:txBody>
          <a:bodyPr wrap="square" lIns="0" tIns="0" rIns="0" bIns="0" rtlCol="0" anchor="t"/>
          <a:lstStyle/>
          <a:p>
            <a:pPr indent="0" marL="0">
              <a:buNone/>
            </a:pPr>
            <a:r>
              <a:rPr lang="en-US" sz="1400" dirty="0">
                <a:solidFill>
                  <a:srgbClr val="C9CFD8"/>
                </a:solidFill>
              </a:rPr>
              <a:t>Reajustar Stage 1 (f_φ)</a:t>
            </a:r>
            <a:endParaRPr lang="en-US" sz="1400" dirty="0"/>
          </a:p>
        </p:txBody>
      </p:sp>
      <p:sp>
        <p:nvSpPr>
          <p:cNvPr id="14" name="action-card"/>
          <p:cNvSpPr/>
          <p:nvPr/>
        </p:nvSpPr>
        <p:spPr>
          <a:xfrm>
            <a:off x="6217920" y="3429000"/>
            <a:ext cx="2606040" cy="2377440"/>
          </a:xfrm>
          <a:prstGeom prst="roundRect">
            <a:avLst>
              <a:gd name="adj" fmla="val 4615"/>
            </a:avLst>
          </a:prstGeom>
          <a:solidFill>
            <a:srgbClr val="2A3349"/>
          </a:solidFill>
          <a:ln/>
        </p:spPr>
      </p:sp>
      <p:sp>
        <p:nvSpPr>
          <p:cNvPr id="15" name="icon-circle"/>
          <p:cNvSpPr/>
          <p:nvPr/>
        </p:nvSpPr>
        <p:spPr>
          <a:xfrm>
            <a:off x="6446520" y="3657600"/>
            <a:ext cx="731520" cy="731520"/>
          </a:xfrm>
          <a:prstGeom prst="ellipse">
            <a:avLst/>
          </a:prstGeom>
          <a:solidFill>
            <a:schemeClr val="accent4"/>
          </a:solidFill>
          <a:ln/>
        </p:spPr>
      </p:sp>
      <p:pic>
        <p:nvPicPr>
          <p:cNvPr id="16" name="icon" descr="preencoded.png">    </p:cNvPr>
          <p:cNvPicPr>
            <a:picLocks noChangeAspect="1"/>
          </p:cNvPicPr>
          <p:nvPr/>
        </p:nvPicPr>
        <p:blipFill>
          <a:blip r:embed="rId3"/>
          <a:stretch>
            <a:fillRect/>
          </a:stretch>
        </p:blipFill>
        <p:spPr>
          <a:xfrm>
            <a:off x="6622085" y="3833165"/>
            <a:ext cx="380390" cy="380390"/>
          </a:xfrm>
          <a:prstGeom prst="rect">
            <a:avLst/>
          </a:prstGeom>
        </p:spPr>
      </p:pic>
      <p:sp>
        <p:nvSpPr>
          <p:cNvPr id="17" name="Text 12"/>
          <p:cNvSpPr txBox="1"/>
          <p:nvPr/>
        </p:nvSpPr>
        <p:spPr>
          <a:xfrm>
            <a:off x="6446520" y="4526280"/>
            <a:ext cx="2194560" cy="457200"/>
          </a:xfrm>
          <a:prstGeom prst="rect">
            <a:avLst/>
          </a:prstGeom>
          <a:noFill/>
          <a:ln/>
        </p:spPr>
        <p:txBody>
          <a:bodyPr wrap="square" lIns="0" tIns="0" rIns="0" bIns="0" rtlCol="0" anchor="t"/>
          <a:lstStyle/>
          <a:p>
            <a:pPr indent="0" marL="0">
              <a:buNone/>
            </a:pPr>
            <a:r>
              <a:rPr lang="en-US" sz="1700" b="1" dirty="0">
                <a:solidFill>
                  <a:schemeClr val="bg1"/>
                </a:solidFill>
              </a:rPr>
              <a:t>A3 · Update model</a:t>
            </a:r>
            <a:endParaRPr lang="en-US" sz="1700" dirty="0"/>
          </a:p>
        </p:txBody>
      </p:sp>
      <p:sp>
        <p:nvSpPr>
          <p:cNvPr id="18" name="Text 13"/>
          <p:cNvSpPr txBox="1"/>
          <p:nvPr/>
        </p:nvSpPr>
        <p:spPr>
          <a:xfrm>
            <a:off x="6446520" y="4983480"/>
            <a:ext cx="2194560" cy="731520"/>
          </a:xfrm>
          <a:prstGeom prst="rect">
            <a:avLst/>
          </a:prstGeom>
          <a:noFill/>
          <a:ln/>
        </p:spPr>
        <p:txBody>
          <a:bodyPr wrap="square" lIns="0" tIns="0" rIns="0" bIns="0" rtlCol="0" anchor="t"/>
          <a:lstStyle/>
          <a:p>
            <a:pPr indent="0" marL="0">
              <a:buNone/>
            </a:pPr>
            <a:r>
              <a:rPr lang="en-US" sz="1400" dirty="0">
                <a:solidFill>
                  <a:srgbClr val="C9CFD8"/>
                </a:solidFill>
              </a:rPr>
              <a:t>Reentrenar Stage 2 (g_θ)</a:t>
            </a:r>
            <a:endParaRPr lang="en-US" sz="1400" dirty="0"/>
          </a:p>
        </p:txBody>
      </p:sp>
      <p:sp>
        <p:nvSpPr>
          <p:cNvPr id="19" name="action-card"/>
          <p:cNvSpPr/>
          <p:nvPr/>
        </p:nvSpPr>
        <p:spPr>
          <a:xfrm>
            <a:off x="9052560" y="3429000"/>
            <a:ext cx="2606040" cy="2377440"/>
          </a:xfrm>
          <a:prstGeom prst="roundRect">
            <a:avLst>
              <a:gd name="adj" fmla="val 4615"/>
            </a:avLst>
          </a:prstGeom>
          <a:solidFill>
            <a:srgbClr val="2A3349"/>
          </a:solidFill>
          <a:ln/>
        </p:spPr>
      </p:sp>
      <p:sp>
        <p:nvSpPr>
          <p:cNvPr id="20" name="icon-circle"/>
          <p:cNvSpPr/>
          <p:nvPr/>
        </p:nvSpPr>
        <p:spPr>
          <a:xfrm>
            <a:off x="9281160" y="3657600"/>
            <a:ext cx="731520" cy="731520"/>
          </a:xfrm>
          <a:prstGeom prst="ellipse">
            <a:avLst/>
          </a:prstGeom>
          <a:solidFill>
            <a:schemeClr val="accent5"/>
          </a:solidFill>
          <a:ln/>
        </p:spPr>
      </p:sp>
      <p:pic>
        <p:nvPicPr>
          <p:cNvPr id="21" name="icon" descr="preencoded.png">    </p:cNvPr>
          <p:cNvPicPr>
            <a:picLocks noChangeAspect="1"/>
          </p:cNvPicPr>
          <p:nvPr/>
        </p:nvPicPr>
        <p:blipFill>
          <a:blip r:embed="rId4"/>
          <a:stretch>
            <a:fillRect/>
          </a:stretch>
        </p:blipFill>
        <p:spPr>
          <a:xfrm>
            <a:off x="9456725" y="3833165"/>
            <a:ext cx="380390" cy="380390"/>
          </a:xfrm>
          <a:prstGeom prst="rect">
            <a:avLst/>
          </a:prstGeom>
        </p:spPr>
      </p:pic>
      <p:sp>
        <p:nvSpPr>
          <p:cNvPr id="22" name="Text 16"/>
          <p:cNvSpPr txBox="1"/>
          <p:nvPr/>
        </p:nvSpPr>
        <p:spPr>
          <a:xfrm>
            <a:off x="9281160" y="4526280"/>
            <a:ext cx="2194560" cy="457200"/>
          </a:xfrm>
          <a:prstGeom prst="rect">
            <a:avLst/>
          </a:prstGeom>
          <a:noFill/>
          <a:ln/>
        </p:spPr>
        <p:txBody>
          <a:bodyPr wrap="square" lIns="0" tIns="0" rIns="0" bIns="0" rtlCol="0" anchor="t"/>
          <a:lstStyle/>
          <a:p>
            <a:pPr indent="0" marL="0">
              <a:buNone/>
            </a:pPr>
            <a:r>
              <a:rPr lang="en-US" sz="1700" b="1" dirty="0">
                <a:solidFill>
                  <a:schemeClr val="bg1"/>
                </a:solidFill>
              </a:rPr>
              <a:t>A4 · Retrain all</a:t>
            </a:r>
            <a:endParaRPr lang="en-US" sz="1700" dirty="0"/>
          </a:p>
        </p:txBody>
      </p:sp>
      <p:sp>
        <p:nvSpPr>
          <p:cNvPr id="23" name="Text 17"/>
          <p:cNvSpPr txBox="1"/>
          <p:nvPr/>
        </p:nvSpPr>
        <p:spPr>
          <a:xfrm>
            <a:off x="9281160" y="4983480"/>
            <a:ext cx="2194560" cy="731520"/>
          </a:xfrm>
          <a:prstGeom prst="rect">
            <a:avLst/>
          </a:prstGeom>
          <a:noFill/>
          <a:ln/>
        </p:spPr>
        <p:txBody>
          <a:bodyPr wrap="square" lIns="0" tIns="0" rIns="0" bIns="0" rtlCol="0" anchor="t"/>
          <a:lstStyle/>
          <a:p>
            <a:pPr indent="0" marL="0">
              <a:buNone/>
            </a:pPr>
            <a:r>
              <a:rPr lang="en-US" sz="1400" dirty="0">
                <a:solidFill>
                  <a:srgbClr val="C9CFD8"/>
                </a:solidFill>
              </a:rPr>
              <a:t>Reajustar ambas etapas</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Objetivos de la investigación</a:t>
            </a:r>
            <a:endParaRPr lang="en-US" sz="2800" dirty="0"/>
          </a:p>
        </p:txBody>
      </p:sp>
      <p:sp>
        <p:nvSpPr>
          <p:cNvPr id="3" name="obj-general"/>
          <p:cNvSpPr/>
          <p:nvPr/>
        </p:nvSpPr>
        <p:spPr>
          <a:xfrm>
            <a:off x="548640" y="1325880"/>
            <a:ext cx="11064240" cy="1051560"/>
          </a:xfrm>
          <a:prstGeom prst="roundRect">
            <a:avLst>
              <a:gd name="adj" fmla="val 10435"/>
            </a:avLst>
          </a:prstGeom>
          <a:solidFill>
            <a:schemeClr val="bg2"/>
          </a:solidFill>
          <a:ln/>
        </p:spPr>
      </p:sp>
      <p:sp>
        <p:nvSpPr>
          <p:cNvPr id="4" name="Text 2"/>
          <p:cNvSpPr txBox="1"/>
          <p:nvPr/>
        </p:nvSpPr>
        <p:spPr>
          <a:xfrm>
            <a:off x="777240" y="1371600"/>
            <a:ext cx="10607040" cy="960120"/>
          </a:xfrm>
          <a:prstGeom prst="rect">
            <a:avLst/>
          </a:prstGeom>
          <a:noFill/>
          <a:ln/>
        </p:spPr>
        <p:txBody>
          <a:bodyPr wrap="square" lIns="0" tIns="0" rIns="0" bIns="0" rtlCol="0" anchor="ctr"/>
          <a:lstStyle/>
          <a:p>
            <a:pPr indent="0" marL="0">
              <a:buNone/>
            </a:pPr>
            <a:r>
              <a:rPr lang="en-US" sz="1600" b="1" dirty="0">
                <a:solidFill>
                  <a:srgbClr val="0F7C80"/>
                </a:solidFill>
              </a:rPr>
              <a:t>Objetivo general: </a:t>
            </a:r>
            <a:pPr indent="0" marL="0">
              <a:buNone/>
            </a:pPr>
            <a:r>
              <a:rPr lang="en-US" sz="1600" dirty="0">
                <a:solidFill>
                  <a:schemeClr val="tx1"/>
                </a:solidFill>
              </a:rPr>
              <a:t>diseñar, implementar y evaluar DARL, un framework que aprende con RL sobre un POMDP [8] qué etapa del pipeline actualizar según el tipo y la severidad del drift, y cuantifica la recuperación y el costo de cada acción.</a:t>
            </a:r>
            <a:endParaRPr lang="en-US" sz="1600" dirty="0"/>
          </a:p>
        </p:txBody>
      </p:sp>
      <p:sp>
        <p:nvSpPr>
          <p:cNvPr id="5" name="icon-circle"/>
          <p:cNvSpPr/>
          <p:nvPr/>
        </p:nvSpPr>
        <p:spPr>
          <a:xfrm>
            <a:off x="548640" y="2670048"/>
            <a:ext cx="594360" cy="59436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691286" y="2812694"/>
            <a:ext cx="309067" cy="309067"/>
          </a:xfrm>
          <a:prstGeom prst="rect">
            <a:avLst/>
          </a:prstGeom>
        </p:spPr>
      </p:pic>
      <p:sp>
        <p:nvSpPr>
          <p:cNvPr id="7" name="Text 4"/>
          <p:cNvSpPr txBox="1"/>
          <p:nvPr/>
        </p:nvSpPr>
        <p:spPr>
          <a:xfrm>
            <a:off x="1325880" y="2606040"/>
            <a:ext cx="731520" cy="731520"/>
          </a:xfrm>
          <a:prstGeom prst="rect">
            <a:avLst/>
          </a:prstGeom>
          <a:noFill/>
          <a:ln/>
        </p:spPr>
        <p:txBody>
          <a:bodyPr wrap="square" lIns="0" tIns="0" rIns="0" bIns="0" rtlCol="0" anchor="ctr"/>
          <a:lstStyle/>
          <a:p>
            <a:pPr indent="0" marL="0">
              <a:buNone/>
            </a:pPr>
            <a:r>
              <a:rPr lang="en-US" sz="1800" b="1" dirty="0">
                <a:solidFill>
                  <a:schemeClr val="accent1"/>
                </a:solidFill>
              </a:rPr>
              <a:t>OE1</a:t>
            </a:r>
            <a:endParaRPr lang="en-US" sz="1800" dirty="0"/>
          </a:p>
        </p:txBody>
      </p:sp>
      <p:sp>
        <p:nvSpPr>
          <p:cNvPr id="8" name="Text 5"/>
          <p:cNvSpPr txBox="1"/>
          <p:nvPr/>
        </p:nvSpPr>
        <p:spPr>
          <a:xfrm>
            <a:off x="2103120" y="2606040"/>
            <a:ext cx="7406640" cy="731520"/>
          </a:xfrm>
          <a:prstGeom prst="rect">
            <a:avLst/>
          </a:prstGeom>
          <a:noFill/>
          <a:ln/>
        </p:spPr>
        <p:txBody>
          <a:bodyPr wrap="square" lIns="0" tIns="0" rIns="0" bIns="0" rtlCol="0" anchor="ctr"/>
          <a:lstStyle/>
          <a:p>
            <a:pPr indent="0" marL="0">
              <a:buNone/>
            </a:pPr>
            <a:r>
              <a:rPr lang="en-US" sz="1500" dirty="0">
                <a:solidFill>
                  <a:schemeClr val="tx1"/>
                </a:solidFill>
              </a:rPr>
              <a:t>Módulo de monitoreo: detectar y clasificar covariate shift y concept drift, y su severidad (PSI, KS, C2ST)</a:t>
            </a:r>
            <a:endParaRPr lang="en-US" sz="1500" dirty="0"/>
          </a:p>
        </p:txBody>
      </p:sp>
      <p:sp>
        <p:nvSpPr>
          <p:cNvPr id="9" name="status-chip"/>
          <p:cNvSpPr/>
          <p:nvPr/>
        </p:nvSpPr>
        <p:spPr>
          <a:xfrm>
            <a:off x="9784080" y="2761488"/>
            <a:ext cx="1828800" cy="420624"/>
          </a:xfrm>
          <a:prstGeom prst="roundRect">
            <a:avLst>
              <a:gd name="adj" fmla="val 50000"/>
            </a:avLst>
          </a:prstGeom>
          <a:solidFill>
            <a:schemeClr val="accent2"/>
          </a:solidFill>
          <a:ln/>
        </p:spPr>
      </p:sp>
      <p:sp>
        <p:nvSpPr>
          <p:cNvPr id="10" name="Text 7"/>
          <p:cNvSpPr txBox="1"/>
          <p:nvPr/>
        </p:nvSpPr>
        <p:spPr>
          <a:xfrm>
            <a:off x="9784080" y="2761488"/>
            <a:ext cx="1828800" cy="420624"/>
          </a:xfrm>
          <a:prstGeom prst="rect">
            <a:avLst/>
          </a:prstGeom>
          <a:noFill/>
          <a:ln/>
        </p:spPr>
        <p:txBody>
          <a:bodyPr wrap="square" lIns="0" tIns="0" rIns="0" bIns="0" rtlCol="0" anchor="ctr"/>
          <a:lstStyle/>
          <a:p>
            <a:pPr algn="ctr" indent="0" marL="0">
              <a:buNone/>
            </a:pPr>
            <a:r>
              <a:rPr lang="en-US" sz="1300" b="1" dirty="0">
                <a:solidFill>
                  <a:schemeClr val="bg1"/>
                </a:solidFill>
              </a:rPr>
              <a:t>Parcial</a:t>
            </a:r>
            <a:endParaRPr lang="en-US" sz="1300" dirty="0"/>
          </a:p>
        </p:txBody>
      </p:sp>
      <p:sp>
        <p:nvSpPr>
          <p:cNvPr id="11" name="icon-circle"/>
          <p:cNvSpPr/>
          <p:nvPr/>
        </p:nvSpPr>
        <p:spPr>
          <a:xfrm>
            <a:off x="548640" y="3538728"/>
            <a:ext cx="594360" cy="594360"/>
          </a:xfrm>
          <a:prstGeom prst="ellipse">
            <a:avLst/>
          </a:prstGeom>
          <a:solidFill>
            <a:schemeClr val="accent1"/>
          </a:solidFill>
          <a:ln/>
        </p:spPr>
      </p:sp>
      <p:pic>
        <p:nvPicPr>
          <p:cNvPr id="12" name="icon" descr="preencoded.png">    </p:cNvPr>
          <p:cNvPicPr>
            <a:picLocks noChangeAspect="1"/>
          </p:cNvPicPr>
          <p:nvPr/>
        </p:nvPicPr>
        <p:blipFill>
          <a:blip r:embed="rId2"/>
          <a:stretch>
            <a:fillRect/>
          </a:stretch>
        </p:blipFill>
        <p:spPr>
          <a:xfrm>
            <a:off x="691286" y="3681374"/>
            <a:ext cx="309067" cy="309067"/>
          </a:xfrm>
          <a:prstGeom prst="rect">
            <a:avLst/>
          </a:prstGeom>
        </p:spPr>
      </p:pic>
      <p:sp>
        <p:nvSpPr>
          <p:cNvPr id="13" name="Text 9"/>
          <p:cNvSpPr txBox="1"/>
          <p:nvPr/>
        </p:nvSpPr>
        <p:spPr>
          <a:xfrm>
            <a:off x="1325880" y="3474720"/>
            <a:ext cx="731520" cy="731520"/>
          </a:xfrm>
          <a:prstGeom prst="rect">
            <a:avLst/>
          </a:prstGeom>
          <a:noFill/>
          <a:ln/>
        </p:spPr>
        <p:txBody>
          <a:bodyPr wrap="square" lIns="0" tIns="0" rIns="0" bIns="0" rtlCol="0" anchor="ctr"/>
          <a:lstStyle/>
          <a:p>
            <a:pPr indent="0" marL="0">
              <a:buNone/>
            </a:pPr>
            <a:r>
              <a:rPr lang="en-US" sz="1800" b="1" dirty="0">
                <a:solidFill>
                  <a:schemeClr val="accent1"/>
                </a:solidFill>
              </a:rPr>
              <a:t>OE2</a:t>
            </a:r>
            <a:endParaRPr lang="en-US" sz="1800" dirty="0"/>
          </a:p>
        </p:txBody>
      </p:sp>
      <p:sp>
        <p:nvSpPr>
          <p:cNvPr id="14" name="Text 10"/>
          <p:cNvSpPr txBox="1"/>
          <p:nvPr/>
        </p:nvSpPr>
        <p:spPr>
          <a:xfrm>
            <a:off x="2103120" y="3474720"/>
            <a:ext cx="7406640" cy="731520"/>
          </a:xfrm>
          <a:prstGeom prst="rect">
            <a:avLst/>
          </a:prstGeom>
          <a:noFill/>
          <a:ln/>
        </p:spPr>
        <p:txBody>
          <a:bodyPr wrap="square" lIns="0" tIns="0" rIns="0" bIns="0" rtlCol="0" anchor="ctr"/>
          <a:lstStyle/>
          <a:p>
            <a:pPr indent="0" marL="0">
              <a:buNone/>
            </a:pPr>
            <a:r>
              <a:rPr lang="en-US" sz="1500" dirty="0">
                <a:solidFill>
                  <a:schemeClr val="tx1"/>
                </a:solidFill>
              </a:rPr>
              <a:t>Formalizar la decisión como POMDP: 4 acciones y recompensa AUC–costo</a:t>
            </a:r>
            <a:endParaRPr lang="en-US" sz="1500" dirty="0"/>
          </a:p>
        </p:txBody>
      </p:sp>
      <p:sp>
        <p:nvSpPr>
          <p:cNvPr id="15" name="status-chip"/>
          <p:cNvSpPr/>
          <p:nvPr/>
        </p:nvSpPr>
        <p:spPr>
          <a:xfrm>
            <a:off x="9784080" y="3630168"/>
            <a:ext cx="1828800" cy="420624"/>
          </a:xfrm>
          <a:prstGeom prst="roundRect">
            <a:avLst>
              <a:gd name="adj" fmla="val 50000"/>
            </a:avLst>
          </a:prstGeom>
          <a:solidFill>
            <a:schemeClr val="accent5"/>
          </a:solidFill>
          <a:ln/>
        </p:spPr>
      </p:sp>
      <p:sp>
        <p:nvSpPr>
          <p:cNvPr id="16" name="Text 12"/>
          <p:cNvSpPr txBox="1"/>
          <p:nvPr/>
        </p:nvSpPr>
        <p:spPr>
          <a:xfrm>
            <a:off x="9784080" y="3630168"/>
            <a:ext cx="1828800" cy="420624"/>
          </a:xfrm>
          <a:prstGeom prst="rect">
            <a:avLst/>
          </a:prstGeom>
          <a:noFill/>
          <a:ln/>
        </p:spPr>
        <p:txBody>
          <a:bodyPr wrap="square" lIns="0" tIns="0" rIns="0" bIns="0" rtlCol="0" anchor="ctr"/>
          <a:lstStyle/>
          <a:p>
            <a:pPr algn="ctr" indent="0" marL="0">
              <a:buNone/>
            </a:pPr>
            <a:r>
              <a:rPr lang="en-US" sz="1300" b="1" dirty="0">
                <a:solidFill>
                  <a:schemeClr val="bg1"/>
                </a:solidFill>
              </a:rPr>
              <a:t>Hecho</a:t>
            </a:r>
            <a:endParaRPr lang="en-US" sz="1300" dirty="0"/>
          </a:p>
        </p:txBody>
      </p:sp>
      <p:sp>
        <p:nvSpPr>
          <p:cNvPr id="17" name="icon-circle"/>
          <p:cNvSpPr/>
          <p:nvPr/>
        </p:nvSpPr>
        <p:spPr>
          <a:xfrm>
            <a:off x="548640" y="4407408"/>
            <a:ext cx="594360" cy="594360"/>
          </a:xfrm>
          <a:prstGeom prst="ellipse">
            <a:avLst/>
          </a:prstGeom>
          <a:solidFill>
            <a:schemeClr val="accent1"/>
          </a:solidFill>
          <a:ln/>
        </p:spPr>
      </p:sp>
      <p:pic>
        <p:nvPicPr>
          <p:cNvPr id="18" name="icon" descr="preencoded.png">    </p:cNvPr>
          <p:cNvPicPr>
            <a:picLocks noChangeAspect="1"/>
          </p:cNvPicPr>
          <p:nvPr/>
        </p:nvPicPr>
        <p:blipFill>
          <a:blip r:embed="rId3"/>
          <a:stretch>
            <a:fillRect/>
          </a:stretch>
        </p:blipFill>
        <p:spPr>
          <a:xfrm>
            <a:off x="691286" y="4550054"/>
            <a:ext cx="309067" cy="309067"/>
          </a:xfrm>
          <a:prstGeom prst="rect">
            <a:avLst/>
          </a:prstGeom>
        </p:spPr>
      </p:pic>
      <p:sp>
        <p:nvSpPr>
          <p:cNvPr id="19" name="Text 14"/>
          <p:cNvSpPr txBox="1"/>
          <p:nvPr/>
        </p:nvSpPr>
        <p:spPr>
          <a:xfrm>
            <a:off x="1325880" y="4343400"/>
            <a:ext cx="731520" cy="731520"/>
          </a:xfrm>
          <a:prstGeom prst="rect">
            <a:avLst/>
          </a:prstGeom>
          <a:noFill/>
          <a:ln/>
        </p:spPr>
        <p:txBody>
          <a:bodyPr wrap="square" lIns="0" tIns="0" rIns="0" bIns="0" rtlCol="0" anchor="ctr"/>
          <a:lstStyle/>
          <a:p>
            <a:pPr indent="0" marL="0">
              <a:buNone/>
            </a:pPr>
            <a:r>
              <a:rPr lang="en-US" sz="1800" b="1" dirty="0">
                <a:solidFill>
                  <a:schemeClr val="accent1"/>
                </a:solidFill>
              </a:rPr>
              <a:t>OE3</a:t>
            </a:r>
            <a:endParaRPr lang="en-US" sz="1800" dirty="0"/>
          </a:p>
        </p:txBody>
      </p:sp>
      <p:sp>
        <p:nvSpPr>
          <p:cNvPr id="20" name="Text 15"/>
          <p:cNvSpPr txBox="1"/>
          <p:nvPr/>
        </p:nvSpPr>
        <p:spPr>
          <a:xfrm>
            <a:off x="2103120" y="4343400"/>
            <a:ext cx="7406640" cy="731520"/>
          </a:xfrm>
          <a:prstGeom prst="rect">
            <a:avLst/>
          </a:prstGeom>
          <a:noFill/>
          <a:ln/>
        </p:spPr>
        <p:txBody>
          <a:bodyPr wrap="square" lIns="0" tIns="0" rIns="0" bIns="0" rtlCol="0" anchor="ctr"/>
          <a:lstStyle/>
          <a:p>
            <a:pPr indent="0" marL="0">
              <a:buNone/>
            </a:pPr>
            <a:r>
              <a:rPr lang="en-US" sz="1500" dirty="0">
                <a:solidFill>
                  <a:schemeClr val="tx1"/>
                </a:solidFill>
              </a:rPr>
              <a:t>Entrenar el agente (PPO [9]) con episodios de drift sintético en PhysioNet y Diabetes [1]</a:t>
            </a:r>
            <a:endParaRPr lang="en-US" sz="1500" dirty="0"/>
          </a:p>
        </p:txBody>
      </p:sp>
      <p:sp>
        <p:nvSpPr>
          <p:cNvPr id="21" name="status-chip"/>
          <p:cNvSpPr/>
          <p:nvPr/>
        </p:nvSpPr>
        <p:spPr>
          <a:xfrm>
            <a:off x="9784080" y="4498848"/>
            <a:ext cx="1828800" cy="420624"/>
          </a:xfrm>
          <a:prstGeom prst="roundRect">
            <a:avLst>
              <a:gd name="adj" fmla="val 50000"/>
            </a:avLst>
          </a:prstGeom>
          <a:solidFill>
            <a:schemeClr val="accent2"/>
          </a:solidFill>
          <a:ln/>
        </p:spPr>
      </p:sp>
      <p:sp>
        <p:nvSpPr>
          <p:cNvPr id="22" name="Text 17"/>
          <p:cNvSpPr txBox="1"/>
          <p:nvPr/>
        </p:nvSpPr>
        <p:spPr>
          <a:xfrm>
            <a:off x="9784080" y="4498848"/>
            <a:ext cx="1828800" cy="420624"/>
          </a:xfrm>
          <a:prstGeom prst="rect">
            <a:avLst/>
          </a:prstGeom>
          <a:noFill/>
          <a:ln/>
        </p:spPr>
        <p:txBody>
          <a:bodyPr wrap="square" lIns="0" tIns="0" rIns="0" bIns="0" rtlCol="0" anchor="ctr"/>
          <a:lstStyle/>
          <a:p>
            <a:pPr algn="ctr" indent="0" marL="0">
              <a:buNone/>
            </a:pPr>
            <a:r>
              <a:rPr lang="en-US" sz="1300" b="1" dirty="0">
                <a:solidFill>
                  <a:schemeClr val="bg1"/>
                </a:solidFill>
              </a:rPr>
              <a:t>Demo</a:t>
            </a:r>
            <a:endParaRPr lang="en-US" sz="1300" dirty="0"/>
          </a:p>
        </p:txBody>
      </p:sp>
      <p:sp>
        <p:nvSpPr>
          <p:cNvPr id="23" name="icon-circle"/>
          <p:cNvSpPr/>
          <p:nvPr/>
        </p:nvSpPr>
        <p:spPr>
          <a:xfrm>
            <a:off x="548640" y="5276088"/>
            <a:ext cx="594360" cy="594360"/>
          </a:xfrm>
          <a:prstGeom prst="ellipse">
            <a:avLst/>
          </a:prstGeom>
          <a:solidFill>
            <a:schemeClr val="accent1"/>
          </a:solidFill>
          <a:ln/>
        </p:spPr>
      </p:sp>
      <p:pic>
        <p:nvPicPr>
          <p:cNvPr id="24" name="icon" descr="preencoded.png">    </p:cNvPr>
          <p:cNvPicPr>
            <a:picLocks noChangeAspect="1"/>
          </p:cNvPicPr>
          <p:nvPr/>
        </p:nvPicPr>
        <p:blipFill>
          <a:blip r:embed="rId4"/>
          <a:stretch>
            <a:fillRect/>
          </a:stretch>
        </p:blipFill>
        <p:spPr>
          <a:xfrm>
            <a:off x="691286" y="5418734"/>
            <a:ext cx="309067" cy="309067"/>
          </a:xfrm>
          <a:prstGeom prst="rect">
            <a:avLst/>
          </a:prstGeom>
        </p:spPr>
      </p:pic>
      <p:sp>
        <p:nvSpPr>
          <p:cNvPr id="25" name="Text 19"/>
          <p:cNvSpPr txBox="1"/>
          <p:nvPr/>
        </p:nvSpPr>
        <p:spPr>
          <a:xfrm>
            <a:off x="1325880" y="5212080"/>
            <a:ext cx="731520" cy="731520"/>
          </a:xfrm>
          <a:prstGeom prst="rect">
            <a:avLst/>
          </a:prstGeom>
          <a:noFill/>
          <a:ln/>
        </p:spPr>
        <p:txBody>
          <a:bodyPr wrap="square" lIns="0" tIns="0" rIns="0" bIns="0" rtlCol="0" anchor="ctr"/>
          <a:lstStyle/>
          <a:p>
            <a:pPr indent="0" marL="0">
              <a:buNone/>
            </a:pPr>
            <a:r>
              <a:rPr lang="en-US" sz="1800" b="1" dirty="0">
                <a:solidFill>
                  <a:schemeClr val="accent1"/>
                </a:solidFill>
              </a:rPr>
              <a:t>OE4</a:t>
            </a:r>
            <a:endParaRPr lang="en-US" sz="1800" dirty="0"/>
          </a:p>
        </p:txBody>
      </p:sp>
      <p:sp>
        <p:nvSpPr>
          <p:cNvPr id="26" name="Text 20"/>
          <p:cNvSpPr txBox="1"/>
          <p:nvPr/>
        </p:nvSpPr>
        <p:spPr>
          <a:xfrm>
            <a:off x="2103120" y="5212080"/>
            <a:ext cx="7406640" cy="731520"/>
          </a:xfrm>
          <a:prstGeom prst="rect">
            <a:avLst/>
          </a:prstGeom>
          <a:noFill/>
          <a:ln/>
        </p:spPr>
        <p:txBody>
          <a:bodyPr wrap="square" lIns="0" tIns="0" rIns="0" bIns="0" rtlCol="0" anchor="ctr"/>
          <a:lstStyle/>
          <a:p>
            <a:pPr indent="0" marL="0">
              <a:buNone/>
            </a:pPr>
            <a:r>
              <a:rPr lang="en-US" sz="1500" dirty="0">
                <a:solidFill>
                  <a:schemeClr val="tx1"/>
                </a:solidFill>
              </a:rPr>
              <a:t>Evaluar la política frente a una tabla de decisión empírica (AUC-ROC y costo relativo)</a:t>
            </a:r>
            <a:endParaRPr lang="en-US" sz="1500" dirty="0"/>
          </a:p>
        </p:txBody>
      </p:sp>
      <p:sp>
        <p:nvSpPr>
          <p:cNvPr id="27" name="status-chip"/>
          <p:cNvSpPr/>
          <p:nvPr/>
        </p:nvSpPr>
        <p:spPr>
          <a:xfrm>
            <a:off x="9784080" y="5367528"/>
            <a:ext cx="1828800" cy="420624"/>
          </a:xfrm>
          <a:prstGeom prst="roundRect">
            <a:avLst>
              <a:gd name="adj" fmla="val 50000"/>
            </a:avLst>
          </a:prstGeom>
          <a:solidFill>
            <a:schemeClr val="accent3"/>
          </a:solidFill>
          <a:ln/>
        </p:spPr>
      </p:sp>
      <p:sp>
        <p:nvSpPr>
          <p:cNvPr id="28" name="Text 22"/>
          <p:cNvSpPr txBox="1"/>
          <p:nvPr/>
        </p:nvSpPr>
        <p:spPr>
          <a:xfrm>
            <a:off x="9784080" y="5367528"/>
            <a:ext cx="1828800" cy="420624"/>
          </a:xfrm>
          <a:prstGeom prst="rect">
            <a:avLst/>
          </a:prstGeom>
          <a:noFill/>
          <a:ln/>
        </p:spPr>
        <p:txBody>
          <a:bodyPr wrap="square" lIns="0" tIns="0" rIns="0" bIns="0" rtlCol="0" anchor="ctr"/>
          <a:lstStyle/>
          <a:p>
            <a:pPr algn="ctr" indent="0" marL="0">
              <a:buNone/>
            </a:pPr>
            <a:r>
              <a:rPr lang="en-US" sz="1300" b="1" dirty="0">
                <a:solidFill>
                  <a:schemeClr val="bg1"/>
                </a:solidFill>
              </a:rPr>
              <a:t>Solo PhysioNet</a:t>
            </a:r>
            <a:endParaRPr lang="en-US" sz="1300" dirty="0"/>
          </a:p>
        </p:txBody>
      </p:sp>
      <p:sp>
        <p:nvSpPr>
          <p:cNvPr id="29"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 Introducción de la tesis; estado según resultados del Cap. IV y notebooks del repositorio.</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DARL funciona como un ciclo de decisión de seis módulos</a:t>
            </a:r>
            <a:endParaRPr lang="en-US" sz="2800" dirty="0"/>
          </a:p>
        </p:txBody>
      </p:sp>
      <p:sp>
        <p:nvSpPr>
          <p:cNvPr id="3" name="step-card"/>
          <p:cNvSpPr/>
          <p:nvPr/>
        </p:nvSpPr>
        <p:spPr>
          <a:xfrm>
            <a:off x="548640" y="1417320"/>
            <a:ext cx="3429000" cy="2011680"/>
          </a:xfrm>
          <a:prstGeom prst="roundRect">
            <a:avLst>
              <a:gd name="adj" fmla="val 5455"/>
            </a:avLst>
          </a:prstGeom>
          <a:solidFill>
            <a:schemeClr val="bg2"/>
          </a:solidFill>
          <a:ln/>
        </p:spPr>
      </p:sp>
      <p:sp>
        <p:nvSpPr>
          <p:cNvPr id="4" name="icon-circle"/>
          <p:cNvSpPr/>
          <p:nvPr/>
        </p:nvSpPr>
        <p:spPr>
          <a:xfrm>
            <a:off x="777240" y="1645920"/>
            <a:ext cx="640080" cy="640080"/>
          </a:xfrm>
          <a:prstGeom prst="ellipse">
            <a:avLst/>
          </a:prstGeom>
          <a:solidFill>
            <a:schemeClr val="accent1"/>
          </a:solidFill>
          <a:ln/>
        </p:spPr>
      </p:sp>
      <p:pic>
        <p:nvPicPr>
          <p:cNvPr id="5" name="icon" descr="preencoded.png">    </p:cNvPr>
          <p:cNvPicPr>
            <a:picLocks noChangeAspect="1"/>
          </p:cNvPicPr>
          <p:nvPr/>
        </p:nvPicPr>
        <p:blipFill>
          <a:blip r:embed="rId1"/>
          <a:stretch>
            <a:fillRect/>
          </a:stretch>
        </p:blipFill>
        <p:spPr>
          <a:xfrm>
            <a:off x="930859" y="1799539"/>
            <a:ext cx="332842" cy="332842"/>
          </a:xfrm>
          <a:prstGeom prst="rect">
            <a:avLst/>
          </a:prstGeom>
        </p:spPr>
      </p:pic>
      <p:sp>
        <p:nvSpPr>
          <p:cNvPr id="6" name="Text 3"/>
          <p:cNvSpPr txBox="1"/>
          <p:nvPr/>
        </p:nvSpPr>
        <p:spPr>
          <a:xfrm>
            <a:off x="1554480" y="1645920"/>
            <a:ext cx="2286000" cy="640080"/>
          </a:xfrm>
          <a:prstGeom prst="rect">
            <a:avLst/>
          </a:prstGeom>
          <a:noFill/>
          <a:ln/>
        </p:spPr>
        <p:txBody>
          <a:bodyPr wrap="square" lIns="0" tIns="0" rIns="0" bIns="0" rtlCol="0" anchor="ctr"/>
          <a:lstStyle/>
          <a:p>
            <a:pPr indent="0" marL="0">
              <a:buNone/>
            </a:pPr>
            <a:r>
              <a:rPr lang="en-US" sz="1700" b="1" dirty="0">
                <a:solidFill>
                  <a:schemeClr val="tx1"/>
                </a:solidFill>
              </a:rPr>
              <a:t>1. Datos + pipeline base</a:t>
            </a:r>
            <a:endParaRPr lang="en-US" sz="1700" dirty="0"/>
          </a:p>
        </p:txBody>
      </p:sp>
      <p:sp>
        <p:nvSpPr>
          <p:cNvPr id="7" name="Text 4"/>
          <p:cNvSpPr txBox="1"/>
          <p:nvPr/>
        </p:nvSpPr>
        <p:spPr>
          <a:xfrm>
            <a:off x="777240" y="2423160"/>
            <a:ext cx="3017520" cy="868680"/>
          </a:xfrm>
          <a:prstGeom prst="rect">
            <a:avLst/>
          </a:prstGeom>
          <a:noFill/>
          <a:ln/>
        </p:spPr>
        <p:txBody>
          <a:bodyPr wrap="square" lIns="0" tIns="0" rIns="0" bIns="0" rtlCol="0" anchor="t"/>
          <a:lstStyle/>
          <a:p>
            <a:pPr indent="0" marL="0">
              <a:buNone/>
            </a:pPr>
            <a:r>
              <a:rPr lang="en-US" sz="1400" dirty="0">
                <a:solidFill>
                  <a:schemeClr val="tx2"/>
                </a:solidFill>
              </a:rPr>
              <a:t>TableShift; XGBoost [11] con regresión logística como línea base</a:t>
            </a:r>
            <a:endParaRPr lang="en-US" sz="1400" dirty="0"/>
          </a:p>
        </p:txBody>
      </p:sp>
      <p:sp>
        <p:nvSpPr>
          <p:cNvPr id="8" name="arrow"/>
          <p:cNvSpPr/>
          <p:nvPr/>
        </p:nvSpPr>
        <p:spPr>
          <a:xfrm>
            <a:off x="4023360" y="2286000"/>
            <a:ext cx="274320" cy="274320"/>
          </a:xfrm>
          <a:prstGeom prst="rightArrow">
            <a:avLst/>
          </a:prstGeom>
          <a:solidFill>
            <a:schemeClr val="accent6"/>
          </a:solidFill>
          <a:ln/>
        </p:spPr>
      </p:sp>
      <p:sp>
        <p:nvSpPr>
          <p:cNvPr id="9" name="step-card"/>
          <p:cNvSpPr/>
          <p:nvPr/>
        </p:nvSpPr>
        <p:spPr>
          <a:xfrm>
            <a:off x="4343400" y="1417320"/>
            <a:ext cx="3429000" cy="2011680"/>
          </a:xfrm>
          <a:prstGeom prst="roundRect">
            <a:avLst>
              <a:gd name="adj" fmla="val 5455"/>
            </a:avLst>
          </a:prstGeom>
          <a:solidFill>
            <a:schemeClr val="bg2"/>
          </a:solidFill>
          <a:ln/>
        </p:spPr>
      </p:sp>
      <p:sp>
        <p:nvSpPr>
          <p:cNvPr id="10" name="icon-circle"/>
          <p:cNvSpPr/>
          <p:nvPr/>
        </p:nvSpPr>
        <p:spPr>
          <a:xfrm>
            <a:off x="4572000" y="1645920"/>
            <a:ext cx="640080" cy="640080"/>
          </a:xfrm>
          <a:prstGeom prst="ellipse">
            <a:avLst/>
          </a:prstGeom>
          <a:solidFill>
            <a:schemeClr val="accent1"/>
          </a:solidFill>
          <a:ln/>
        </p:spPr>
      </p:sp>
      <p:pic>
        <p:nvPicPr>
          <p:cNvPr id="11" name="icon" descr="preencoded.png">    </p:cNvPr>
          <p:cNvPicPr>
            <a:picLocks noChangeAspect="1"/>
          </p:cNvPicPr>
          <p:nvPr/>
        </p:nvPicPr>
        <p:blipFill>
          <a:blip r:embed="rId2"/>
          <a:stretch>
            <a:fillRect/>
          </a:stretch>
        </p:blipFill>
        <p:spPr>
          <a:xfrm>
            <a:off x="4725619" y="1799539"/>
            <a:ext cx="332842" cy="332842"/>
          </a:xfrm>
          <a:prstGeom prst="rect">
            <a:avLst/>
          </a:prstGeom>
        </p:spPr>
      </p:pic>
      <p:sp>
        <p:nvSpPr>
          <p:cNvPr id="12" name="Text 8"/>
          <p:cNvSpPr txBox="1"/>
          <p:nvPr/>
        </p:nvSpPr>
        <p:spPr>
          <a:xfrm>
            <a:off x="5349240" y="1645920"/>
            <a:ext cx="2286000" cy="640080"/>
          </a:xfrm>
          <a:prstGeom prst="rect">
            <a:avLst/>
          </a:prstGeom>
          <a:noFill/>
          <a:ln/>
        </p:spPr>
        <p:txBody>
          <a:bodyPr wrap="square" lIns="0" tIns="0" rIns="0" bIns="0" rtlCol="0" anchor="ctr"/>
          <a:lstStyle/>
          <a:p>
            <a:pPr indent="0" marL="0">
              <a:buNone/>
            </a:pPr>
            <a:r>
              <a:rPr lang="en-US" sz="1700" b="1" dirty="0">
                <a:solidFill>
                  <a:schemeClr val="tx1"/>
                </a:solidFill>
              </a:rPr>
              <a:t>2. Inyección de drift</a:t>
            </a:r>
            <a:endParaRPr lang="en-US" sz="1700" dirty="0"/>
          </a:p>
        </p:txBody>
      </p:sp>
      <p:sp>
        <p:nvSpPr>
          <p:cNvPr id="13" name="Text 9"/>
          <p:cNvSpPr txBox="1"/>
          <p:nvPr/>
        </p:nvSpPr>
        <p:spPr>
          <a:xfrm>
            <a:off x="4572000" y="2423160"/>
            <a:ext cx="3017520" cy="868680"/>
          </a:xfrm>
          <a:prstGeom prst="rect">
            <a:avLst/>
          </a:prstGeom>
          <a:noFill/>
          <a:ln/>
        </p:spPr>
        <p:txBody>
          <a:bodyPr wrap="square" lIns="0" tIns="0" rIns="0" bIns="0" rtlCol="0" anchor="t"/>
          <a:lstStyle/>
          <a:p>
            <a:pPr indent="0" marL="0">
              <a:buNone/>
            </a:pPr>
            <a:r>
              <a:rPr lang="en-US" sz="1400" dirty="0">
                <a:solidFill>
                  <a:schemeClr val="tx2"/>
                </a:solidFill>
              </a:rPr>
              <a:t>Covariate, concept o combinado; severidad γ ∈ [0,1]</a:t>
            </a:r>
            <a:endParaRPr lang="en-US" sz="1400" dirty="0"/>
          </a:p>
        </p:txBody>
      </p:sp>
      <p:sp>
        <p:nvSpPr>
          <p:cNvPr id="14" name="arrow"/>
          <p:cNvSpPr/>
          <p:nvPr/>
        </p:nvSpPr>
        <p:spPr>
          <a:xfrm>
            <a:off x="7818120" y="2286000"/>
            <a:ext cx="274320" cy="274320"/>
          </a:xfrm>
          <a:prstGeom prst="rightArrow">
            <a:avLst/>
          </a:prstGeom>
          <a:solidFill>
            <a:schemeClr val="accent6"/>
          </a:solidFill>
          <a:ln/>
        </p:spPr>
      </p:sp>
      <p:sp>
        <p:nvSpPr>
          <p:cNvPr id="15" name="step-card"/>
          <p:cNvSpPr/>
          <p:nvPr/>
        </p:nvSpPr>
        <p:spPr>
          <a:xfrm>
            <a:off x="8138160" y="1417320"/>
            <a:ext cx="3429000" cy="2011680"/>
          </a:xfrm>
          <a:prstGeom prst="roundRect">
            <a:avLst>
              <a:gd name="adj" fmla="val 5455"/>
            </a:avLst>
          </a:prstGeom>
          <a:solidFill>
            <a:schemeClr val="bg2"/>
          </a:solidFill>
          <a:ln/>
        </p:spPr>
      </p:sp>
      <p:sp>
        <p:nvSpPr>
          <p:cNvPr id="16" name="icon-circle"/>
          <p:cNvSpPr/>
          <p:nvPr/>
        </p:nvSpPr>
        <p:spPr>
          <a:xfrm>
            <a:off x="8366760" y="1645920"/>
            <a:ext cx="640080" cy="640080"/>
          </a:xfrm>
          <a:prstGeom prst="ellipse">
            <a:avLst/>
          </a:prstGeom>
          <a:solidFill>
            <a:schemeClr val="accent1"/>
          </a:solidFill>
          <a:ln/>
        </p:spPr>
      </p:sp>
      <p:pic>
        <p:nvPicPr>
          <p:cNvPr id="17" name="icon" descr="preencoded.png">    </p:cNvPr>
          <p:cNvPicPr>
            <a:picLocks noChangeAspect="1"/>
          </p:cNvPicPr>
          <p:nvPr/>
        </p:nvPicPr>
        <p:blipFill>
          <a:blip r:embed="rId3"/>
          <a:stretch>
            <a:fillRect/>
          </a:stretch>
        </p:blipFill>
        <p:spPr>
          <a:xfrm>
            <a:off x="8520379" y="1799539"/>
            <a:ext cx="332842" cy="332842"/>
          </a:xfrm>
          <a:prstGeom prst="rect">
            <a:avLst/>
          </a:prstGeom>
        </p:spPr>
      </p:pic>
      <p:sp>
        <p:nvSpPr>
          <p:cNvPr id="18" name="Text 13"/>
          <p:cNvSpPr txBox="1"/>
          <p:nvPr/>
        </p:nvSpPr>
        <p:spPr>
          <a:xfrm>
            <a:off x="9144000" y="1645920"/>
            <a:ext cx="2286000" cy="640080"/>
          </a:xfrm>
          <a:prstGeom prst="rect">
            <a:avLst/>
          </a:prstGeom>
          <a:noFill/>
          <a:ln/>
        </p:spPr>
        <p:txBody>
          <a:bodyPr wrap="square" lIns="0" tIns="0" rIns="0" bIns="0" rtlCol="0" anchor="ctr"/>
          <a:lstStyle/>
          <a:p>
            <a:pPr indent="0" marL="0">
              <a:buNone/>
            </a:pPr>
            <a:r>
              <a:rPr lang="en-US" sz="1700" b="1" dirty="0">
                <a:solidFill>
                  <a:schemeClr val="tx1"/>
                </a:solidFill>
              </a:rPr>
              <a:t>3. Monitoreo</a:t>
            </a:r>
            <a:endParaRPr lang="en-US" sz="1700" dirty="0"/>
          </a:p>
        </p:txBody>
      </p:sp>
      <p:sp>
        <p:nvSpPr>
          <p:cNvPr id="19" name="Text 14"/>
          <p:cNvSpPr txBox="1"/>
          <p:nvPr/>
        </p:nvSpPr>
        <p:spPr>
          <a:xfrm>
            <a:off x="8366760" y="2423160"/>
            <a:ext cx="3017520" cy="868680"/>
          </a:xfrm>
          <a:prstGeom prst="rect">
            <a:avLst/>
          </a:prstGeom>
          <a:noFill/>
          <a:ln/>
        </p:spPr>
        <p:txBody>
          <a:bodyPr wrap="square" lIns="0" tIns="0" rIns="0" bIns="0" rtlCol="0" anchor="t"/>
          <a:lstStyle/>
          <a:p>
            <a:pPr indent="0" marL="0">
              <a:buNone/>
            </a:pPr>
            <a:r>
              <a:rPr lang="en-US" sz="1400" dirty="0">
                <a:solidFill>
                  <a:schemeClr val="tx2"/>
                </a:solidFill>
              </a:rPr>
              <a:t>PSI, KS, C2ST sobre X; ΔAUC y Δlog-loss con etiquetas</a:t>
            </a:r>
            <a:endParaRPr lang="en-US" sz="1400" dirty="0"/>
          </a:p>
        </p:txBody>
      </p:sp>
      <p:sp>
        <p:nvSpPr>
          <p:cNvPr id="20" name="step-card"/>
          <p:cNvSpPr/>
          <p:nvPr/>
        </p:nvSpPr>
        <p:spPr>
          <a:xfrm>
            <a:off x="548640" y="3794760"/>
            <a:ext cx="3429000" cy="2011680"/>
          </a:xfrm>
          <a:prstGeom prst="roundRect">
            <a:avLst>
              <a:gd name="adj" fmla="val 5455"/>
            </a:avLst>
          </a:prstGeom>
          <a:solidFill>
            <a:schemeClr val="bg2"/>
          </a:solidFill>
          <a:ln/>
        </p:spPr>
      </p:sp>
      <p:sp>
        <p:nvSpPr>
          <p:cNvPr id="21" name="icon-circle"/>
          <p:cNvSpPr/>
          <p:nvPr/>
        </p:nvSpPr>
        <p:spPr>
          <a:xfrm>
            <a:off x="777240" y="4023360"/>
            <a:ext cx="640080" cy="640080"/>
          </a:xfrm>
          <a:prstGeom prst="ellipse">
            <a:avLst/>
          </a:prstGeom>
          <a:solidFill>
            <a:schemeClr val="accent4"/>
          </a:solidFill>
          <a:ln/>
        </p:spPr>
      </p:sp>
      <p:pic>
        <p:nvPicPr>
          <p:cNvPr id="22" name="icon" descr="preencoded.png">    </p:cNvPr>
          <p:cNvPicPr>
            <a:picLocks noChangeAspect="1"/>
          </p:cNvPicPr>
          <p:nvPr/>
        </p:nvPicPr>
        <p:blipFill>
          <a:blip r:embed="rId4"/>
          <a:stretch>
            <a:fillRect/>
          </a:stretch>
        </p:blipFill>
        <p:spPr>
          <a:xfrm>
            <a:off x="930859" y="4176979"/>
            <a:ext cx="332842" cy="332842"/>
          </a:xfrm>
          <a:prstGeom prst="rect">
            <a:avLst/>
          </a:prstGeom>
        </p:spPr>
      </p:pic>
      <p:sp>
        <p:nvSpPr>
          <p:cNvPr id="23" name="Text 17"/>
          <p:cNvSpPr txBox="1"/>
          <p:nvPr/>
        </p:nvSpPr>
        <p:spPr>
          <a:xfrm>
            <a:off x="1554480" y="4023360"/>
            <a:ext cx="2286000" cy="640080"/>
          </a:xfrm>
          <a:prstGeom prst="rect">
            <a:avLst/>
          </a:prstGeom>
          <a:noFill/>
          <a:ln/>
        </p:spPr>
        <p:txBody>
          <a:bodyPr wrap="square" lIns="0" tIns="0" rIns="0" bIns="0" rtlCol="0" anchor="ctr"/>
          <a:lstStyle/>
          <a:p>
            <a:pPr indent="0" marL="0">
              <a:buNone/>
            </a:pPr>
            <a:r>
              <a:rPr lang="en-US" sz="1700" b="1" dirty="0">
                <a:solidFill>
                  <a:schemeClr val="tx1"/>
                </a:solidFill>
              </a:rPr>
              <a:t>4. Agente RL</a:t>
            </a:r>
            <a:endParaRPr lang="en-US" sz="1700" dirty="0"/>
          </a:p>
        </p:txBody>
      </p:sp>
      <p:sp>
        <p:nvSpPr>
          <p:cNvPr id="24" name="Text 18"/>
          <p:cNvSpPr txBox="1"/>
          <p:nvPr/>
        </p:nvSpPr>
        <p:spPr>
          <a:xfrm>
            <a:off x="777240" y="4800600"/>
            <a:ext cx="3017520" cy="868680"/>
          </a:xfrm>
          <a:prstGeom prst="rect">
            <a:avLst/>
          </a:prstGeom>
          <a:noFill/>
          <a:ln/>
        </p:spPr>
        <p:txBody>
          <a:bodyPr wrap="square" lIns="0" tIns="0" rIns="0" bIns="0" rtlCol="0" anchor="t"/>
          <a:lstStyle/>
          <a:p>
            <a:pPr indent="0" marL="0">
              <a:buNone/>
            </a:pPr>
            <a:r>
              <a:rPr lang="en-US" sz="1400" dirty="0">
                <a:solidFill>
                  <a:schemeClr val="tx2"/>
                </a:solidFill>
              </a:rPr>
              <a:t>Observa o_t (señales parciales) y elige una acción</a:t>
            </a:r>
            <a:endParaRPr lang="en-US" sz="1400" dirty="0"/>
          </a:p>
        </p:txBody>
      </p:sp>
      <p:sp>
        <p:nvSpPr>
          <p:cNvPr id="25" name="arrow"/>
          <p:cNvSpPr/>
          <p:nvPr/>
        </p:nvSpPr>
        <p:spPr>
          <a:xfrm>
            <a:off x="4023360" y="4663440"/>
            <a:ext cx="274320" cy="274320"/>
          </a:xfrm>
          <a:prstGeom prst="rightArrow">
            <a:avLst/>
          </a:prstGeom>
          <a:solidFill>
            <a:schemeClr val="accent6"/>
          </a:solidFill>
          <a:ln/>
        </p:spPr>
      </p:sp>
      <p:sp>
        <p:nvSpPr>
          <p:cNvPr id="26" name="step-card"/>
          <p:cNvSpPr/>
          <p:nvPr/>
        </p:nvSpPr>
        <p:spPr>
          <a:xfrm>
            <a:off x="4343400" y="3794760"/>
            <a:ext cx="3429000" cy="2011680"/>
          </a:xfrm>
          <a:prstGeom prst="roundRect">
            <a:avLst>
              <a:gd name="adj" fmla="val 5455"/>
            </a:avLst>
          </a:prstGeom>
          <a:solidFill>
            <a:schemeClr val="bg2"/>
          </a:solidFill>
          <a:ln/>
        </p:spPr>
      </p:sp>
      <p:sp>
        <p:nvSpPr>
          <p:cNvPr id="27" name="icon-circle"/>
          <p:cNvSpPr/>
          <p:nvPr/>
        </p:nvSpPr>
        <p:spPr>
          <a:xfrm>
            <a:off x="4572000" y="4023360"/>
            <a:ext cx="640080" cy="640080"/>
          </a:xfrm>
          <a:prstGeom prst="ellipse">
            <a:avLst/>
          </a:prstGeom>
          <a:solidFill>
            <a:schemeClr val="accent4"/>
          </a:solidFill>
          <a:ln/>
        </p:spPr>
      </p:sp>
      <p:pic>
        <p:nvPicPr>
          <p:cNvPr id="28" name="icon" descr="preencoded.png">    </p:cNvPr>
          <p:cNvPicPr>
            <a:picLocks noChangeAspect="1"/>
          </p:cNvPicPr>
          <p:nvPr/>
        </p:nvPicPr>
        <p:blipFill>
          <a:blip r:embed="rId5"/>
          <a:stretch>
            <a:fillRect/>
          </a:stretch>
        </p:blipFill>
        <p:spPr>
          <a:xfrm>
            <a:off x="4725619" y="4176979"/>
            <a:ext cx="332842" cy="332842"/>
          </a:xfrm>
          <a:prstGeom prst="rect">
            <a:avLst/>
          </a:prstGeom>
        </p:spPr>
      </p:pic>
      <p:sp>
        <p:nvSpPr>
          <p:cNvPr id="29" name="Text 22"/>
          <p:cNvSpPr txBox="1"/>
          <p:nvPr/>
        </p:nvSpPr>
        <p:spPr>
          <a:xfrm>
            <a:off x="5349240" y="4023360"/>
            <a:ext cx="2286000" cy="640080"/>
          </a:xfrm>
          <a:prstGeom prst="rect">
            <a:avLst/>
          </a:prstGeom>
          <a:noFill/>
          <a:ln/>
        </p:spPr>
        <p:txBody>
          <a:bodyPr wrap="square" lIns="0" tIns="0" rIns="0" bIns="0" rtlCol="0" anchor="ctr"/>
          <a:lstStyle/>
          <a:p>
            <a:pPr indent="0" marL="0">
              <a:buNone/>
            </a:pPr>
            <a:r>
              <a:rPr lang="en-US" sz="1700" b="1" dirty="0">
                <a:solidFill>
                  <a:schemeClr val="tx1"/>
                </a:solidFill>
              </a:rPr>
              <a:t>5. Ejecutar acción</a:t>
            </a:r>
            <a:endParaRPr lang="en-US" sz="1700" dirty="0"/>
          </a:p>
        </p:txBody>
      </p:sp>
      <p:sp>
        <p:nvSpPr>
          <p:cNvPr id="30" name="Text 23"/>
          <p:cNvSpPr txBox="1"/>
          <p:nvPr/>
        </p:nvSpPr>
        <p:spPr>
          <a:xfrm>
            <a:off x="4572000" y="4800600"/>
            <a:ext cx="3017520" cy="868680"/>
          </a:xfrm>
          <a:prstGeom prst="rect">
            <a:avLst/>
          </a:prstGeom>
          <a:noFill/>
          <a:ln/>
        </p:spPr>
        <p:txBody>
          <a:bodyPr wrap="square" lIns="0" tIns="0" rIns="0" bIns="0" rtlCol="0" anchor="t"/>
          <a:lstStyle/>
          <a:p>
            <a:pPr indent="0" marL="0">
              <a:buNone/>
            </a:pPr>
            <a:r>
              <a:rPr lang="en-US" sz="1400" dirty="0">
                <a:solidFill>
                  <a:schemeClr val="tx2"/>
                </a:solidFill>
              </a:rPr>
              <a:t>Mide AUC, tiempo y memoria</a:t>
            </a:r>
            <a:endParaRPr lang="en-US" sz="1400" dirty="0"/>
          </a:p>
        </p:txBody>
      </p:sp>
      <p:sp>
        <p:nvSpPr>
          <p:cNvPr id="31" name="arrow"/>
          <p:cNvSpPr/>
          <p:nvPr/>
        </p:nvSpPr>
        <p:spPr>
          <a:xfrm>
            <a:off x="7818120" y="4663440"/>
            <a:ext cx="274320" cy="274320"/>
          </a:xfrm>
          <a:prstGeom prst="rightArrow">
            <a:avLst/>
          </a:prstGeom>
          <a:solidFill>
            <a:schemeClr val="accent6"/>
          </a:solidFill>
          <a:ln/>
        </p:spPr>
      </p:sp>
      <p:sp>
        <p:nvSpPr>
          <p:cNvPr id="32" name="step-card"/>
          <p:cNvSpPr/>
          <p:nvPr/>
        </p:nvSpPr>
        <p:spPr>
          <a:xfrm>
            <a:off x="8138160" y="3794760"/>
            <a:ext cx="3429000" cy="2011680"/>
          </a:xfrm>
          <a:prstGeom prst="roundRect">
            <a:avLst>
              <a:gd name="adj" fmla="val 5455"/>
            </a:avLst>
          </a:prstGeom>
          <a:solidFill>
            <a:schemeClr val="bg2"/>
          </a:solidFill>
          <a:ln/>
        </p:spPr>
      </p:sp>
      <p:sp>
        <p:nvSpPr>
          <p:cNvPr id="33" name="icon-circle"/>
          <p:cNvSpPr/>
          <p:nvPr/>
        </p:nvSpPr>
        <p:spPr>
          <a:xfrm>
            <a:off x="8366760" y="4023360"/>
            <a:ext cx="640080" cy="640080"/>
          </a:xfrm>
          <a:prstGeom prst="ellipse">
            <a:avLst/>
          </a:prstGeom>
          <a:solidFill>
            <a:schemeClr val="accent4"/>
          </a:solidFill>
          <a:ln/>
        </p:spPr>
      </p:sp>
      <p:pic>
        <p:nvPicPr>
          <p:cNvPr id="34" name="icon" descr="preencoded.png">    </p:cNvPr>
          <p:cNvPicPr>
            <a:picLocks noChangeAspect="1"/>
          </p:cNvPicPr>
          <p:nvPr/>
        </p:nvPicPr>
        <p:blipFill>
          <a:blip r:embed="rId6"/>
          <a:stretch>
            <a:fillRect/>
          </a:stretch>
        </p:blipFill>
        <p:spPr>
          <a:xfrm>
            <a:off x="8520379" y="4176979"/>
            <a:ext cx="332842" cy="332842"/>
          </a:xfrm>
          <a:prstGeom prst="rect">
            <a:avLst/>
          </a:prstGeom>
        </p:spPr>
      </p:pic>
      <p:sp>
        <p:nvSpPr>
          <p:cNvPr id="35" name="Text 27"/>
          <p:cNvSpPr txBox="1"/>
          <p:nvPr/>
        </p:nvSpPr>
        <p:spPr>
          <a:xfrm>
            <a:off x="9144000" y="4023360"/>
            <a:ext cx="2286000" cy="640080"/>
          </a:xfrm>
          <a:prstGeom prst="rect">
            <a:avLst/>
          </a:prstGeom>
          <a:noFill/>
          <a:ln/>
        </p:spPr>
        <p:txBody>
          <a:bodyPr wrap="square" lIns="0" tIns="0" rIns="0" bIns="0" rtlCol="0" anchor="ctr"/>
          <a:lstStyle/>
          <a:p>
            <a:pPr indent="0" marL="0">
              <a:buNone/>
            </a:pPr>
            <a:r>
              <a:rPr lang="en-US" sz="1700" b="1" dirty="0">
                <a:solidFill>
                  <a:schemeClr val="tx1"/>
                </a:solidFill>
              </a:rPr>
              <a:t>6. Recompensa</a:t>
            </a:r>
            <a:endParaRPr lang="en-US" sz="1700" dirty="0"/>
          </a:p>
        </p:txBody>
      </p:sp>
      <p:sp>
        <p:nvSpPr>
          <p:cNvPr id="36" name="Text 28"/>
          <p:cNvSpPr txBox="1"/>
          <p:nvPr/>
        </p:nvSpPr>
        <p:spPr>
          <a:xfrm>
            <a:off x="8366760" y="4800600"/>
            <a:ext cx="3017520" cy="868680"/>
          </a:xfrm>
          <a:prstGeom prst="rect">
            <a:avLst/>
          </a:prstGeom>
          <a:noFill/>
          <a:ln/>
        </p:spPr>
        <p:txBody>
          <a:bodyPr wrap="square" lIns="0" tIns="0" rIns="0" bIns="0" rtlCol="0" anchor="t"/>
          <a:lstStyle/>
          <a:p>
            <a:pPr indent="0" marL="0">
              <a:buNone/>
            </a:pPr>
            <a:r>
              <a:rPr lang="en-US" sz="1400" dirty="0">
                <a:solidFill>
                  <a:schemeClr val="tx2"/>
                </a:solidFill>
              </a:rPr>
              <a:t>Recuperación de AUC menos costo; entrena la política</a:t>
            </a:r>
            <a:endParaRPr lang="en-US" sz="1400" dirty="0"/>
          </a:p>
        </p:txBody>
      </p:sp>
      <p:sp>
        <p:nvSpPr>
          <p:cNvPr id="37" name="Text 29"/>
          <p:cNvSpPr txBox="1"/>
          <p:nvPr/>
        </p:nvSpPr>
        <p:spPr>
          <a:xfrm>
            <a:off x="548640" y="6172200"/>
            <a:ext cx="11064240" cy="274320"/>
          </a:xfrm>
          <a:prstGeom prst="rect">
            <a:avLst/>
          </a:prstGeom>
          <a:noFill/>
          <a:ln/>
        </p:spPr>
        <p:txBody>
          <a:bodyPr wrap="square" lIns="0" tIns="0" rIns="0" bIns="0" rtlCol="0" anchor="t"/>
          <a:lstStyle/>
          <a:p>
            <a:pPr indent="0" marL="0">
              <a:buNone/>
            </a:pPr>
            <a:r>
              <a:rPr lang="en-US" sz="1300" i="1" dirty="0">
                <a:solidFill>
                  <a:schemeClr val="accent1"/>
                </a:solidFill>
              </a:rPr>
              <a:t>↻  La recompensa (6) retroalimenta la política, que vuelve a decidir ante el siguiente escenario de drift (2).</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Dos regímenes tabulares y drift sintético controlado</a:t>
            </a:r>
            <a:endParaRPr lang="en-US" sz="2800" dirty="0"/>
          </a:p>
        </p:txBody>
      </p:sp>
      <p:graphicFrame>
        <p:nvGraphicFramePr>
          <p:cNvPr id="11" name="tabla-datasets"/>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3291840"/>
                <a:gridCol w="3200400"/>
                <a:gridCol w="1828800"/>
              </a:tblGrid>
              <a:tr h="43891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Dataset</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Tarea</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Variables dominantes</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Prevalencia</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r>
              <a:tr h="438912">
                <a:tc>
                  <a:txBody>
                    <a:bodyPr/>
                    <a:lstStyle/>
                    <a:p>
                      <a:pPr indent="0" marL="0">
                        <a:buNone/>
                      </a:pPr>
                      <a:r>
                        <a:rPr lang="en-US" sz="1500" dirty="0">
                          <a:solidFill>
                            <a:srgbClr val="1B2235"/>
                          </a:solidFill>
                          <a:latin typeface="Calibri" pitchFamily="34" charset="0"/>
                          <a:ea typeface="Calibri" pitchFamily="34" charset="-122"/>
                          <a:cs typeface="Calibri" pitchFamily="34" charset="-120"/>
                        </a:rPr>
                        <a:t>physionet</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indent="0" marL="0">
                        <a:buNone/>
                      </a:pPr>
                      <a:r>
                        <a:rPr lang="en-US" sz="1500" dirty="0">
                          <a:solidFill>
                            <a:srgbClr val="1B2235"/>
                          </a:solidFill>
                          <a:latin typeface="Calibri" pitchFamily="34" charset="0"/>
                          <a:ea typeface="Calibri" pitchFamily="34" charset="-122"/>
                          <a:cs typeface="Calibri" pitchFamily="34" charset="-120"/>
                        </a:rPr>
                        <a:t>Sepsis en las próximas 6 h</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indent="0" marL="0">
                        <a:buNone/>
                      </a:pPr>
                      <a:r>
                        <a:rPr lang="en-US" sz="1500" dirty="0">
                          <a:solidFill>
                            <a:srgbClr val="1B2235"/>
                          </a:solidFill>
                          <a:latin typeface="Calibri" pitchFamily="34" charset="0"/>
                          <a:ea typeface="Calibri" pitchFamily="34" charset="-122"/>
                          <a:cs typeface="Calibri" pitchFamily="34" charset="-120"/>
                        </a:rPr>
                        <a:t>Numéricas fisiológicas</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indent="0" marL="0">
                        <a:buNone/>
                      </a:pPr>
                      <a:r>
                        <a:rPr lang="en-US" sz="1500" dirty="0">
                          <a:solidFill>
                            <a:srgbClr val="1B2235"/>
                          </a:solidFill>
                          <a:latin typeface="Calibri" pitchFamily="34" charset="0"/>
                          <a:ea typeface="Calibri" pitchFamily="34" charset="-122"/>
                          <a:cs typeface="Calibri" pitchFamily="34" charset="-120"/>
                        </a:rPr>
                        <a:t>1.2 %</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r h="438912">
                <a:tc>
                  <a:txBody>
                    <a:bodyPr/>
                    <a:lstStyle/>
                    <a:p>
                      <a:pPr indent="0" marL="0">
                        <a:buNone/>
                      </a:pPr>
                      <a:r>
                        <a:rPr lang="en-US" sz="1500" dirty="0">
                          <a:solidFill>
                            <a:srgbClr val="1B2235"/>
                          </a:solidFill>
                          <a:latin typeface="Calibri" pitchFamily="34" charset="0"/>
                          <a:ea typeface="Calibri" pitchFamily="34" charset="-122"/>
                          <a:cs typeface="Calibri" pitchFamily="34" charset="-120"/>
                        </a:rPr>
                        <a:t>diabetes_readmission</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500" dirty="0">
                          <a:solidFill>
                            <a:srgbClr val="1B2235"/>
                          </a:solidFill>
                          <a:latin typeface="Calibri" pitchFamily="34" charset="0"/>
                          <a:ea typeface="Calibri" pitchFamily="34" charset="-122"/>
                          <a:cs typeface="Calibri" pitchFamily="34" charset="-120"/>
                        </a:rPr>
                        <a:t>Readmisión hospitalaria</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500" dirty="0">
                          <a:solidFill>
                            <a:srgbClr val="1B2235"/>
                          </a:solidFill>
                          <a:latin typeface="Calibri" pitchFamily="34" charset="0"/>
                          <a:ea typeface="Calibri" pitchFamily="34" charset="-122"/>
                          <a:cs typeface="Calibri" pitchFamily="34" charset="-120"/>
                        </a:rPr>
                        <a:t>Categóricas y discretas</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500" dirty="0">
                          <a:solidFill>
                            <a:srgbClr val="1B2235"/>
                          </a:solidFill>
                          <a:latin typeface="Calibri" pitchFamily="34" charset="0"/>
                          <a:ea typeface="Calibri" pitchFamily="34" charset="-122"/>
                          <a:cs typeface="Calibri" pitchFamily="34" charset="-120"/>
                        </a:rPr>
                        <a:t>42 %</a:t>
                      </a:r>
                      <a:endParaRPr lang="en-US" sz="15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bl>
          </a:graphicData>
        </a:graphic>
      </p:graphicFrame>
      <p:sp>
        <p:nvSpPr>
          <p:cNvPr id="4" name="mech-card"/>
          <p:cNvSpPr/>
          <p:nvPr/>
        </p:nvSpPr>
        <p:spPr>
          <a:xfrm>
            <a:off x="548640" y="3017520"/>
            <a:ext cx="3520440" cy="1828800"/>
          </a:xfrm>
          <a:prstGeom prst="roundRect">
            <a:avLst>
              <a:gd name="adj" fmla="val 6000"/>
            </a:avLst>
          </a:prstGeom>
          <a:solidFill>
            <a:schemeClr val="bg1"/>
          </a:solidFill>
          <a:ln w="15875">
            <a:solidFill>
              <a:schemeClr val="accent1"/>
            </a:solidFill>
            <a:prstDash val="solid"/>
          </a:ln>
        </p:spPr>
      </p:sp>
      <p:sp>
        <p:nvSpPr>
          <p:cNvPr id="5" name="Text 2"/>
          <p:cNvSpPr txBox="1"/>
          <p:nvPr/>
        </p:nvSpPr>
        <p:spPr>
          <a:xfrm>
            <a:off x="777240" y="3154680"/>
            <a:ext cx="3108960" cy="411480"/>
          </a:xfrm>
          <a:prstGeom prst="rect">
            <a:avLst/>
          </a:prstGeom>
          <a:noFill/>
          <a:ln/>
        </p:spPr>
        <p:txBody>
          <a:bodyPr wrap="square" lIns="0" tIns="0" rIns="0" bIns="0" rtlCol="0" anchor="t"/>
          <a:lstStyle/>
          <a:p>
            <a:pPr indent="0" marL="0">
              <a:buNone/>
            </a:pPr>
            <a:r>
              <a:rPr lang="en-US" sz="1700" b="1" dirty="0">
                <a:solidFill>
                  <a:schemeClr val="accent1"/>
                </a:solidFill>
              </a:rPr>
              <a:t>Covariate numérico</a:t>
            </a:r>
            <a:endParaRPr lang="en-US" sz="1700" dirty="0"/>
          </a:p>
        </p:txBody>
      </p:sp>
      <p:sp>
        <p:nvSpPr>
          <p:cNvPr id="6" name="Text 3"/>
          <p:cNvSpPr txBox="1"/>
          <p:nvPr/>
        </p:nvSpPr>
        <p:spPr>
          <a:xfrm>
            <a:off x="777240" y="3566160"/>
            <a:ext cx="3108960" cy="411480"/>
          </a:xfrm>
          <a:prstGeom prst="rect">
            <a:avLst/>
          </a:prstGeom>
          <a:noFill/>
          <a:ln/>
        </p:spPr>
        <p:txBody>
          <a:bodyPr wrap="square" lIns="0" tIns="0" rIns="0" bIns="0" rtlCol="0" anchor="t"/>
          <a:lstStyle/>
          <a:p>
            <a:pPr indent="0" marL="0">
              <a:buNone/>
            </a:pPr>
            <a:r>
              <a:rPr lang="en-US" sz="1400" b="1" dirty="0">
                <a:solidFill>
                  <a:schemeClr val="tx1"/>
                </a:solidFill>
              </a:rPr>
              <a:t>Mezcla Beta–Bernoulli</a:t>
            </a:r>
            <a:endParaRPr lang="en-US" sz="1400" dirty="0"/>
          </a:p>
        </p:txBody>
      </p:sp>
      <p:sp>
        <p:nvSpPr>
          <p:cNvPr id="7" name="Text 4"/>
          <p:cNvSpPr txBox="1"/>
          <p:nvPr/>
        </p:nvSpPr>
        <p:spPr>
          <a:xfrm>
            <a:off x="777240" y="4023360"/>
            <a:ext cx="3108960" cy="731520"/>
          </a:xfrm>
          <a:prstGeom prst="rect">
            <a:avLst/>
          </a:prstGeom>
          <a:noFill/>
          <a:ln/>
        </p:spPr>
        <p:txBody>
          <a:bodyPr wrap="square" lIns="0" tIns="0" rIns="0" bIns="0" rtlCol="0" anchor="t"/>
          <a:lstStyle/>
          <a:p>
            <a:pPr indent="0" marL="0">
              <a:buNone/>
            </a:pPr>
            <a:r>
              <a:rPr lang="en-US" sz="1400" dirty="0">
                <a:solidFill>
                  <a:schemeClr val="tx2"/>
                </a:solidFill>
              </a:rPr>
              <a:t>Cada valor se reemplaza por una muestra Beta con probabilidad γ</a:t>
            </a:r>
            <a:endParaRPr lang="en-US" sz="1400" dirty="0"/>
          </a:p>
        </p:txBody>
      </p:sp>
      <p:sp>
        <p:nvSpPr>
          <p:cNvPr id="8" name="mech-card"/>
          <p:cNvSpPr/>
          <p:nvPr/>
        </p:nvSpPr>
        <p:spPr>
          <a:xfrm>
            <a:off x="4297680" y="3017520"/>
            <a:ext cx="3520440" cy="1828800"/>
          </a:xfrm>
          <a:prstGeom prst="roundRect">
            <a:avLst>
              <a:gd name="adj" fmla="val 6000"/>
            </a:avLst>
          </a:prstGeom>
          <a:solidFill>
            <a:schemeClr val="bg1"/>
          </a:solidFill>
          <a:ln w="15875">
            <a:solidFill>
              <a:schemeClr val="accent1"/>
            </a:solidFill>
            <a:prstDash val="solid"/>
          </a:ln>
        </p:spPr>
      </p:sp>
      <p:sp>
        <p:nvSpPr>
          <p:cNvPr id="9" name="Text 6"/>
          <p:cNvSpPr txBox="1"/>
          <p:nvPr/>
        </p:nvSpPr>
        <p:spPr>
          <a:xfrm>
            <a:off x="4526280" y="3154680"/>
            <a:ext cx="3108960" cy="411480"/>
          </a:xfrm>
          <a:prstGeom prst="rect">
            <a:avLst/>
          </a:prstGeom>
          <a:noFill/>
          <a:ln/>
        </p:spPr>
        <p:txBody>
          <a:bodyPr wrap="square" lIns="0" tIns="0" rIns="0" bIns="0" rtlCol="0" anchor="t"/>
          <a:lstStyle/>
          <a:p>
            <a:pPr indent="0" marL="0">
              <a:buNone/>
            </a:pPr>
            <a:r>
              <a:rPr lang="en-US" sz="1700" b="1" dirty="0">
                <a:solidFill>
                  <a:schemeClr val="accent1"/>
                </a:solidFill>
              </a:rPr>
              <a:t>Covariate categórico</a:t>
            </a:r>
            <a:endParaRPr lang="en-US" sz="1700" dirty="0"/>
          </a:p>
        </p:txBody>
      </p:sp>
      <p:sp>
        <p:nvSpPr>
          <p:cNvPr id="10" name="Text 7"/>
          <p:cNvSpPr txBox="1"/>
          <p:nvPr/>
        </p:nvSpPr>
        <p:spPr>
          <a:xfrm>
            <a:off x="4526280" y="3566160"/>
            <a:ext cx="3108960" cy="411480"/>
          </a:xfrm>
          <a:prstGeom prst="rect">
            <a:avLst/>
          </a:prstGeom>
          <a:noFill/>
          <a:ln/>
        </p:spPr>
        <p:txBody>
          <a:bodyPr wrap="square" lIns="0" tIns="0" rIns="0" bIns="0" rtlCol="0" anchor="t"/>
          <a:lstStyle/>
          <a:p>
            <a:pPr indent="0" marL="0">
              <a:buNone/>
            </a:pPr>
            <a:r>
              <a:rPr lang="en-US" sz="1400" b="1" dirty="0">
                <a:solidFill>
                  <a:schemeClr val="tx1"/>
                </a:solidFill>
              </a:rPr>
              <a:t>Remuestreo marginal</a:t>
            </a:r>
            <a:endParaRPr lang="en-US" sz="1400" dirty="0"/>
          </a:p>
        </p:txBody>
      </p:sp>
      <p:sp>
        <p:nvSpPr>
          <p:cNvPr id="11" name="Text 8"/>
          <p:cNvSpPr txBox="1"/>
          <p:nvPr/>
        </p:nvSpPr>
        <p:spPr>
          <a:xfrm>
            <a:off x="4526280" y="4023360"/>
            <a:ext cx="3108960" cy="731520"/>
          </a:xfrm>
          <a:prstGeom prst="rect">
            <a:avLst/>
          </a:prstGeom>
          <a:noFill/>
          <a:ln/>
        </p:spPr>
        <p:txBody>
          <a:bodyPr wrap="square" lIns="0" tIns="0" rIns="0" bIns="0" rtlCol="0" anchor="t"/>
          <a:lstStyle/>
          <a:p>
            <a:pPr indent="0" marL="0">
              <a:buNone/>
            </a:pPr>
            <a:r>
              <a:rPr lang="en-US" sz="1400" dirty="0">
                <a:solidFill>
                  <a:schemeClr val="tx2"/>
                </a:solidFill>
              </a:rPr>
              <a:t>p_γ(c) = (1−γ)·p₀(c) + γ·q(c)</a:t>
            </a:r>
            <a:endParaRPr lang="en-US" sz="1400" dirty="0"/>
          </a:p>
        </p:txBody>
      </p:sp>
      <p:sp>
        <p:nvSpPr>
          <p:cNvPr id="12" name="mech-card"/>
          <p:cNvSpPr/>
          <p:nvPr/>
        </p:nvSpPr>
        <p:spPr>
          <a:xfrm>
            <a:off x="8046720" y="3017520"/>
            <a:ext cx="3520440" cy="1828800"/>
          </a:xfrm>
          <a:prstGeom prst="roundRect">
            <a:avLst>
              <a:gd name="adj" fmla="val 6000"/>
            </a:avLst>
          </a:prstGeom>
          <a:solidFill>
            <a:schemeClr val="bg1"/>
          </a:solidFill>
          <a:ln w="15875">
            <a:solidFill>
              <a:schemeClr val="accent4"/>
            </a:solidFill>
            <a:prstDash val="solid"/>
          </a:ln>
        </p:spPr>
      </p:sp>
      <p:sp>
        <p:nvSpPr>
          <p:cNvPr id="13" name="Text 10"/>
          <p:cNvSpPr txBox="1"/>
          <p:nvPr/>
        </p:nvSpPr>
        <p:spPr>
          <a:xfrm>
            <a:off x="8275320" y="3154680"/>
            <a:ext cx="3108960" cy="411480"/>
          </a:xfrm>
          <a:prstGeom prst="rect">
            <a:avLst/>
          </a:prstGeom>
          <a:noFill/>
          <a:ln/>
        </p:spPr>
        <p:txBody>
          <a:bodyPr wrap="square" lIns="0" tIns="0" rIns="0" bIns="0" rtlCol="0" anchor="t"/>
          <a:lstStyle/>
          <a:p>
            <a:pPr indent="0" marL="0">
              <a:buNone/>
            </a:pPr>
            <a:r>
              <a:rPr lang="en-US" sz="1700" b="1" dirty="0">
                <a:solidFill>
                  <a:schemeClr val="accent4"/>
                </a:solidFill>
              </a:rPr>
              <a:t>Concept drift</a:t>
            </a:r>
            <a:endParaRPr lang="en-US" sz="1700" dirty="0"/>
          </a:p>
        </p:txBody>
      </p:sp>
      <p:sp>
        <p:nvSpPr>
          <p:cNvPr id="14" name="Text 11"/>
          <p:cNvSpPr txBox="1"/>
          <p:nvPr/>
        </p:nvSpPr>
        <p:spPr>
          <a:xfrm>
            <a:off x="8275320" y="3566160"/>
            <a:ext cx="3108960" cy="411480"/>
          </a:xfrm>
          <a:prstGeom prst="rect">
            <a:avLst/>
          </a:prstGeom>
          <a:noFill/>
          <a:ln/>
        </p:spPr>
        <p:txBody>
          <a:bodyPr wrap="square" lIns="0" tIns="0" rIns="0" bIns="0" rtlCol="0" anchor="t"/>
          <a:lstStyle/>
          <a:p>
            <a:pPr indent="0" marL="0">
              <a:buNone/>
            </a:pPr>
            <a:r>
              <a:rPr lang="en-US" sz="1400" b="1" dirty="0">
                <a:solidFill>
                  <a:schemeClr val="tx1"/>
                </a:solidFill>
              </a:rPr>
              <a:t>Rotación de pesos (logit_reweight)</a:t>
            </a:r>
            <a:endParaRPr lang="en-US" sz="1400" dirty="0"/>
          </a:p>
        </p:txBody>
      </p:sp>
      <p:sp>
        <p:nvSpPr>
          <p:cNvPr id="15" name="Text 12"/>
          <p:cNvSpPr txBox="1"/>
          <p:nvPr/>
        </p:nvSpPr>
        <p:spPr>
          <a:xfrm>
            <a:off x="8275320" y="4023360"/>
            <a:ext cx="3108960" cy="731520"/>
          </a:xfrm>
          <a:prstGeom prst="rect">
            <a:avLst/>
          </a:prstGeom>
          <a:noFill/>
          <a:ln/>
        </p:spPr>
        <p:txBody>
          <a:bodyPr wrap="square" lIns="0" tIns="0" rIns="0" bIns="0" rtlCol="0" anchor="t"/>
          <a:lstStyle/>
          <a:p>
            <a:pPr indent="0" marL="0">
              <a:buNone/>
            </a:pPr>
            <a:r>
              <a:rPr lang="en-US" sz="1400" dirty="0">
                <a:solidFill>
                  <a:schemeClr val="tx2"/>
                </a:solidFill>
              </a:rPr>
              <a:t>β_i(γ) = β_i·(1 − 2γ): sin relación en γ = 0.5, invertida en γ = 1</a:t>
            </a:r>
            <a:endParaRPr lang="en-US" sz="1400" dirty="0"/>
          </a:p>
        </p:txBody>
      </p:sp>
      <p:sp>
        <p:nvSpPr>
          <p:cNvPr id="16" name="Text 13"/>
          <p:cNvSpPr txBox="1"/>
          <p:nvPr/>
        </p:nvSpPr>
        <p:spPr>
          <a:xfrm>
            <a:off x="548640" y="5120640"/>
            <a:ext cx="11064240" cy="548640"/>
          </a:xfrm>
          <a:prstGeom prst="rect">
            <a:avLst/>
          </a:prstGeom>
          <a:noFill/>
          <a:ln/>
        </p:spPr>
        <p:txBody>
          <a:bodyPr wrap="square" lIns="0" tIns="0" rIns="0" bIns="0" rtlCol="0" anchor="ctr"/>
          <a:lstStyle/>
          <a:p>
            <a:pPr indent="0" marL="0">
              <a:buNone/>
            </a:pPr>
            <a:r>
              <a:rPr lang="en-US" sz="1500" b="1" dirty="0">
                <a:solidFill>
                  <a:schemeClr val="tx1"/>
                </a:solidFill>
              </a:rPr>
              <a:t>Severidades: </a:t>
            </a:r>
            <a:pPr indent="0" marL="0">
              <a:buNone/>
            </a:pPr>
            <a:r>
              <a:rPr lang="en-US" sz="1500" dirty="0">
                <a:solidFill>
                  <a:schemeClr val="tx1"/>
                </a:solidFill>
              </a:rPr>
              <a:t>leve 0.25 · moderada 0.60 · severa 0.90 — el tipo y la magnitud del drift son conocidos, lo que permite saber cuál era la acción correcta.</a:t>
            </a:r>
            <a:endParaRPr lang="en-US" sz="1500" dirty="0"/>
          </a:p>
        </p:txBody>
      </p:sp>
      <p:sp>
        <p:nvSpPr>
          <p:cNvPr id="17"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Fuentes: [1] TableShift; Cap. III de la tesis; ConceptDriftInjector (code/src/darl/drift/concept_injector.py).</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Simular concept drift realista fue un reto de investigación</a:t>
            </a:r>
            <a:endParaRPr lang="en-US" sz="2800" dirty="0"/>
          </a:p>
        </p:txBody>
      </p:sp>
      <p:sp>
        <p:nvSpPr>
          <p:cNvPr id="3" name="version-card"/>
          <p:cNvSpPr/>
          <p:nvPr/>
        </p:nvSpPr>
        <p:spPr>
          <a:xfrm>
            <a:off x="548640" y="1371600"/>
            <a:ext cx="5120640" cy="960120"/>
          </a:xfrm>
          <a:prstGeom prst="roundRect">
            <a:avLst>
              <a:gd name="adj" fmla="val 11429"/>
            </a:avLst>
          </a:prstGeom>
          <a:solidFill>
            <a:schemeClr val="bg2"/>
          </a:solidFill>
          <a:ln/>
        </p:spPr>
      </p:sp>
      <p:sp>
        <p:nvSpPr>
          <p:cNvPr id="4" name="icon-circle"/>
          <p:cNvSpPr/>
          <p:nvPr/>
        </p:nvSpPr>
        <p:spPr>
          <a:xfrm>
            <a:off x="731520" y="1554480"/>
            <a:ext cx="594360" cy="594360"/>
          </a:xfrm>
          <a:prstGeom prst="ellipse">
            <a:avLst/>
          </a:prstGeom>
          <a:solidFill>
            <a:schemeClr val="accent3"/>
          </a:solidFill>
          <a:ln/>
        </p:spPr>
      </p:sp>
      <p:pic>
        <p:nvPicPr>
          <p:cNvPr id="5" name="icon" descr="preencoded.png">    </p:cNvPr>
          <p:cNvPicPr>
            <a:picLocks noChangeAspect="1"/>
          </p:cNvPicPr>
          <p:nvPr/>
        </p:nvPicPr>
        <p:blipFill>
          <a:blip r:embed="rId1"/>
          <a:stretch>
            <a:fillRect/>
          </a:stretch>
        </p:blipFill>
        <p:spPr>
          <a:xfrm>
            <a:off x="874166" y="1697126"/>
            <a:ext cx="309067" cy="309067"/>
          </a:xfrm>
          <a:prstGeom prst="rect">
            <a:avLst/>
          </a:prstGeom>
        </p:spPr>
      </p:pic>
      <p:sp>
        <p:nvSpPr>
          <p:cNvPr id="6" name="Text 3"/>
          <p:cNvSpPr txBox="1"/>
          <p:nvPr/>
        </p:nvSpPr>
        <p:spPr>
          <a:xfrm>
            <a:off x="1508760" y="1463040"/>
            <a:ext cx="4023360" cy="411480"/>
          </a:xfrm>
          <a:prstGeom prst="rect">
            <a:avLst/>
          </a:prstGeom>
          <a:noFill/>
          <a:ln/>
        </p:spPr>
        <p:txBody>
          <a:bodyPr wrap="square" lIns="0" tIns="0" rIns="0" bIns="0" rtlCol="0" anchor="t"/>
          <a:lstStyle/>
          <a:p>
            <a:pPr indent="0" marL="0">
              <a:buNone/>
            </a:pPr>
            <a:r>
              <a:rPr lang="en-US" sz="1600" b="1" dirty="0">
                <a:solidFill>
                  <a:schemeClr val="tx1"/>
                </a:solidFill>
              </a:rPr>
              <a:t>v1 · Label flipping aleatorio</a:t>
            </a:r>
            <a:endParaRPr lang="en-US" sz="1600" dirty="0"/>
          </a:p>
        </p:txBody>
      </p:sp>
      <p:sp>
        <p:nvSpPr>
          <p:cNvPr id="7" name="Text 4"/>
          <p:cNvSpPr txBox="1"/>
          <p:nvPr/>
        </p:nvSpPr>
        <p:spPr>
          <a:xfrm>
            <a:off x="1508760" y="1847088"/>
            <a:ext cx="4023360" cy="411480"/>
          </a:xfrm>
          <a:prstGeom prst="rect">
            <a:avLst/>
          </a:prstGeom>
          <a:noFill/>
          <a:ln/>
        </p:spPr>
        <p:txBody>
          <a:bodyPr wrap="square" lIns="0" tIns="0" rIns="0" bIns="0" rtlCol="0" anchor="t"/>
          <a:lstStyle/>
          <a:p>
            <a:pPr indent="0" marL="0">
              <a:buNone/>
            </a:pPr>
            <a:r>
              <a:rPr lang="en-US" sz="1400" dirty="0">
                <a:solidFill>
                  <a:schemeClr val="tx2"/>
                </a:solidFill>
              </a:rPr>
              <a:t>Es ruido, no un cambio de regla</a:t>
            </a:r>
            <a:endParaRPr lang="en-US" sz="1400" dirty="0"/>
          </a:p>
        </p:txBody>
      </p:sp>
      <p:sp>
        <p:nvSpPr>
          <p:cNvPr id="8" name="version-card"/>
          <p:cNvSpPr/>
          <p:nvPr/>
        </p:nvSpPr>
        <p:spPr>
          <a:xfrm>
            <a:off x="548640" y="2487168"/>
            <a:ext cx="5120640" cy="960120"/>
          </a:xfrm>
          <a:prstGeom prst="roundRect">
            <a:avLst>
              <a:gd name="adj" fmla="val 11429"/>
            </a:avLst>
          </a:prstGeom>
          <a:solidFill>
            <a:schemeClr val="bg2"/>
          </a:solidFill>
          <a:ln/>
        </p:spPr>
      </p:sp>
      <p:sp>
        <p:nvSpPr>
          <p:cNvPr id="9" name="icon-circle"/>
          <p:cNvSpPr/>
          <p:nvPr/>
        </p:nvSpPr>
        <p:spPr>
          <a:xfrm>
            <a:off x="731520" y="2670048"/>
            <a:ext cx="594360" cy="594360"/>
          </a:xfrm>
          <a:prstGeom prst="ellipse">
            <a:avLst/>
          </a:prstGeom>
          <a:solidFill>
            <a:schemeClr val="accent3"/>
          </a:solidFill>
          <a:ln/>
        </p:spPr>
      </p:sp>
      <p:pic>
        <p:nvPicPr>
          <p:cNvPr id="10" name="icon" descr="preencoded.png">    </p:cNvPr>
          <p:cNvPicPr>
            <a:picLocks noChangeAspect="1"/>
          </p:cNvPicPr>
          <p:nvPr/>
        </p:nvPicPr>
        <p:blipFill>
          <a:blip r:embed="rId2"/>
          <a:stretch>
            <a:fillRect/>
          </a:stretch>
        </p:blipFill>
        <p:spPr>
          <a:xfrm>
            <a:off x="874166" y="2812694"/>
            <a:ext cx="309067" cy="309067"/>
          </a:xfrm>
          <a:prstGeom prst="rect">
            <a:avLst/>
          </a:prstGeom>
        </p:spPr>
      </p:pic>
      <p:sp>
        <p:nvSpPr>
          <p:cNvPr id="11" name="Text 7"/>
          <p:cNvSpPr txBox="1"/>
          <p:nvPr/>
        </p:nvSpPr>
        <p:spPr>
          <a:xfrm>
            <a:off x="1508760" y="2578608"/>
            <a:ext cx="4023360" cy="411480"/>
          </a:xfrm>
          <a:prstGeom prst="rect">
            <a:avLst/>
          </a:prstGeom>
          <a:noFill/>
          <a:ln/>
        </p:spPr>
        <p:txBody>
          <a:bodyPr wrap="square" lIns="0" tIns="0" rIns="0" bIns="0" rtlCol="0" anchor="t"/>
          <a:lstStyle/>
          <a:p>
            <a:pPr indent="0" marL="0">
              <a:buNone/>
            </a:pPr>
            <a:r>
              <a:rPr lang="en-US" sz="1600" b="1" dirty="0">
                <a:solidFill>
                  <a:schemeClr val="tx1"/>
                </a:solidFill>
              </a:rPr>
              <a:t>v2 · Inversión por mediana</a:t>
            </a:r>
            <a:endParaRPr lang="en-US" sz="1600" dirty="0"/>
          </a:p>
        </p:txBody>
      </p:sp>
      <p:sp>
        <p:nvSpPr>
          <p:cNvPr id="12" name="Text 8"/>
          <p:cNvSpPr txBox="1"/>
          <p:nvPr/>
        </p:nvSpPr>
        <p:spPr>
          <a:xfrm>
            <a:off x="1508760" y="2962656"/>
            <a:ext cx="4023360" cy="411480"/>
          </a:xfrm>
          <a:prstGeom prst="rect">
            <a:avLst/>
          </a:prstGeom>
          <a:noFill/>
          <a:ln/>
        </p:spPr>
        <p:txBody>
          <a:bodyPr wrap="square" lIns="0" tIns="0" rIns="0" bIns="0" rtlCol="0" anchor="t"/>
          <a:lstStyle/>
          <a:p>
            <a:pPr indent="0" marL="0">
              <a:buNone/>
            </a:pPr>
            <a:r>
              <a:rPr lang="en-US" sz="1400" dirty="0">
                <a:solidFill>
                  <a:schemeClr val="tx2"/>
                </a:solidFill>
              </a:rPr>
              <a:t>Mueve P(X): es covariate disfrazado</a:t>
            </a:r>
            <a:endParaRPr lang="en-US" sz="1400" dirty="0"/>
          </a:p>
        </p:txBody>
      </p:sp>
      <p:sp>
        <p:nvSpPr>
          <p:cNvPr id="13" name="version-card"/>
          <p:cNvSpPr/>
          <p:nvPr/>
        </p:nvSpPr>
        <p:spPr>
          <a:xfrm>
            <a:off x="548640" y="3602736"/>
            <a:ext cx="5120640" cy="960120"/>
          </a:xfrm>
          <a:prstGeom prst="roundRect">
            <a:avLst>
              <a:gd name="adj" fmla="val 11429"/>
            </a:avLst>
          </a:prstGeom>
          <a:solidFill>
            <a:schemeClr val="bg2"/>
          </a:solidFill>
          <a:ln/>
        </p:spPr>
      </p:sp>
      <p:sp>
        <p:nvSpPr>
          <p:cNvPr id="14" name="icon-circle"/>
          <p:cNvSpPr/>
          <p:nvPr/>
        </p:nvSpPr>
        <p:spPr>
          <a:xfrm>
            <a:off x="731520" y="3785616"/>
            <a:ext cx="594360" cy="594360"/>
          </a:xfrm>
          <a:prstGeom prst="ellipse">
            <a:avLst/>
          </a:prstGeom>
          <a:solidFill>
            <a:schemeClr val="accent3"/>
          </a:solidFill>
          <a:ln/>
        </p:spPr>
      </p:sp>
      <p:pic>
        <p:nvPicPr>
          <p:cNvPr id="15" name="icon" descr="preencoded.png">    </p:cNvPr>
          <p:cNvPicPr>
            <a:picLocks noChangeAspect="1"/>
          </p:cNvPicPr>
          <p:nvPr/>
        </p:nvPicPr>
        <p:blipFill>
          <a:blip r:embed="rId3"/>
          <a:stretch>
            <a:fillRect/>
          </a:stretch>
        </p:blipFill>
        <p:spPr>
          <a:xfrm>
            <a:off x="874166" y="3928262"/>
            <a:ext cx="309067" cy="309067"/>
          </a:xfrm>
          <a:prstGeom prst="rect">
            <a:avLst/>
          </a:prstGeom>
        </p:spPr>
      </p:pic>
      <p:sp>
        <p:nvSpPr>
          <p:cNvPr id="16" name="Text 11"/>
          <p:cNvSpPr txBox="1"/>
          <p:nvPr/>
        </p:nvSpPr>
        <p:spPr>
          <a:xfrm>
            <a:off x="1508760" y="3694176"/>
            <a:ext cx="4023360" cy="411480"/>
          </a:xfrm>
          <a:prstGeom prst="rect">
            <a:avLst/>
          </a:prstGeom>
          <a:noFill/>
          <a:ln/>
        </p:spPr>
        <p:txBody>
          <a:bodyPr wrap="square" lIns="0" tIns="0" rIns="0" bIns="0" rtlCol="0" anchor="t"/>
          <a:lstStyle/>
          <a:p>
            <a:pPr indent="0" marL="0">
              <a:buNone/>
            </a:pPr>
            <a:r>
              <a:rPr lang="en-US" sz="1600" b="1" dirty="0">
                <a:solidFill>
                  <a:schemeClr val="tx1"/>
                </a:solidFill>
              </a:rPr>
              <a:t>v3 · logit_shift (amplificar)</a:t>
            </a:r>
            <a:endParaRPr lang="en-US" sz="1600" dirty="0"/>
          </a:p>
        </p:txBody>
      </p:sp>
      <p:sp>
        <p:nvSpPr>
          <p:cNvPr id="17" name="Text 12"/>
          <p:cNvSpPr txBox="1"/>
          <p:nvPr/>
        </p:nvSpPr>
        <p:spPr>
          <a:xfrm>
            <a:off x="1508760" y="4078224"/>
            <a:ext cx="4023360" cy="411480"/>
          </a:xfrm>
          <a:prstGeom prst="rect">
            <a:avLst/>
          </a:prstGeom>
          <a:noFill/>
          <a:ln/>
        </p:spPr>
        <p:txBody>
          <a:bodyPr wrap="square" lIns="0" tIns="0" rIns="0" bIns="0" rtlCol="0" anchor="t"/>
          <a:lstStyle/>
          <a:p>
            <a:pPr indent="0" marL="0">
              <a:buNone/>
            </a:pPr>
            <a:r>
              <a:rPr lang="en-US" sz="1400" dirty="0">
                <a:solidFill>
                  <a:schemeClr val="tx2"/>
                </a:solidFill>
              </a:rPr>
              <a:t>No degrada el AUC: la relación sigue igual</a:t>
            </a:r>
            <a:endParaRPr lang="en-US" sz="1400" dirty="0"/>
          </a:p>
        </p:txBody>
      </p:sp>
      <p:sp>
        <p:nvSpPr>
          <p:cNvPr id="18" name="version-card"/>
          <p:cNvSpPr/>
          <p:nvPr/>
        </p:nvSpPr>
        <p:spPr>
          <a:xfrm>
            <a:off x="548640" y="4718304"/>
            <a:ext cx="5120640" cy="960120"/>
          </a:xfrm>
          <a:prstGeom prst="roundRect">
            <a:avLst>
              <a:gd name="adj" fmla="val 11429"/>
            </a:avLst>
          </a:prstGeom>
          <a:solidFill>
            <a:srgbClr val="E3F1F1"/>
          </a:solidFill>
          <a:ln/>
        </p:spPr>
      </p:sp>
      <p:sp>
        <p:nvSpPr>
          <p:cNvPr id="19" name="icon-circle"/>
          <p:cNvSpPr/>
          <p:nvPr/>
        </p:nvSpPr>
        <p:spPr>
          <a:xfrm>
            <a:off x="731520" y="4901184"/>
            <a:ext cx="594360" cy="594360"/>
          </a:xfrm>
          <a:prstGeom prst="ellipse">
            <a:avLst/>
          </a:prstGeom>
          <a:solidFill>
            <a:schemeClr val="accent5"/>
          </a:solidFill>
          <a:ln/>
        </p:spPr>
      </p:sp>
      <p:pic>
        <p:nvPicPr>
          <p:cNvPr id="20" name="icon" descr="preencoded.png">    </p:cNvPr>
          <p:cNvPicPr>
            <a:picLocks noChangeAspect="1"/>
          </p:cNvPicPr>
          <p:nvPr/>
        </p:nvPicPr>
        <p:blipFill>
          <a:blip r:embed="rId4"/>
          <a:stretch>
            <a:fillRect/>
          </a:stretch>
        </p:blipFill>
        <p:spPr>
          <a:xfrm>
            <a:off x="874166" y="5043830"/>
            <a:ext cx="309067" cy="309067"/>
          </a:xfrm>
          <a:prstGeom prst="rect">
            <a:avLst/>
          </a:prstGeom>
        </p:spPr>
      </p:pic>
      <p:sp>
        <p:nvSpPr>
          <p:cNvPr id="21" name="Text 15"/>
          <p:cNvSpPr txBox="1"/>
          <p:nvPr/>
        </p:nvSpPr>
        <p:spPr>
          <a:xfrm>
            <a:off x="1508760" y="4809744"/>
            <a:ext cx="4023360" cy="411480"/>
          </a:xfrm>
          <a:prstGeom prst="rect">
            <a:avLst/>
          </a:prstGeom>
          <a:noFill/>
          <a:ln/>
        </p:spPr>
        <p:txBody>
          <a:bodyPr wrap="square" lIns="0" tIns="0" rIns="0" bIns="0" rtlCol="0" anchor="t"/>
          <a:lstStyle/>
          <a:p>
            <a:pPr indent="0" marL="0">
              <a:buNone/>
            </a:pPr>
            <a:r>
              <a:rPr lang="en-US" sz="1600" b="1" dirty="0">
                <a:solidFill>
                  <a:schemeClr val="tx1"/>
                </a:solidFill>
              </a:rPr>
              <a:t>v4 · logit_reweight (rotar pesos)</a:t>
            </a:r>
            <a:endParaRPr lang="en-US" sz="1600" dirty="0"/>
          </a:p>
        </p:txBody>
      </p:sp>
      <p:sp>
        <p:nvSpPr>
          <p:cNvPr id="22" name="Text 16"/>
          <p:cNvSpPr txBox="1"/>
          <p:nvPr/>
        </p:nvSpPr>
        <p:spPr>
          <a:xfrm>
            <a:off x="1508760" y="5193792"/>
            <a:ext cx="4023360" cy="411480"/>
          </a:xfrm>
          <a:prstGeom prst="rect">
            <a:avLst/>
          </a:prstGeom>
          <a:noFill/>
          <a:ln/>
        </p:spPr>
        <p:txBody>
          <a:bodyPr wrap="square" lIns="0" tIns="0" rIns="0" bIns="0" rtlCol="0" anchor="t"/>
          <a:lstStyle/>
          <a:p>
            <a:pPr indent="0" marL="0">
              <a:buNone/>
            </a:pPr>
            <a:r>
              <a:rPr lang="en-US" sz="1400" dirty="0">
                <a:solidFill>
                  <a:schemeClr val="tx2"/>
                </a:solidFill>
              </a:rPr>
              <a:t>Degrada el AUC de forma ordenada con KS = PSI = 0</a:t>
            </a:r>
            <a:endParaRPr lang="en-US" sz="1400" dirty="0"/>
          </a:p>
        </p:txBody>
      </p:sp>
      <p:graphicFrame>
        <p:nvGraphicFramePr>
          <p:cNvPr id="23" name="chart-inyector" descr=""/>
          <p:cNvGraphicFramePr/>
          <p:nvPr/>
        </p:nvGraphicFramePr>
        <p:xfrm>
          <a:off x="6035040" y="1325880"/>
          <a:ext cx="5669280" cy="4572000"/>
        </p:xfrm>
        <a:graphic xmlns:a="http://schemas.openxmlformats.org/drawingml/2006/main">
          <a:graphicData uri="http://schemas.openxmlformats.org/drawingml/2006/chart">
            <c:chart xmlns:c="http://schemas.openxmlformats.org/drawingml/2006/chart" r:id="rId5"/>
          </a:graphicData>
        </a:graphic>
      </p:graphicFrame>
      <p:sp>
        <p:nvSpPr>
          <p:cNvPr id="24"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 elaboración propia — notebooks physionet_drift_injector y diabetes_drift_injector. Taxonomía de drift: [7] Gama et al., 2014.</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Ante concept drift, corregir X no sirve; reentrenar el modelo sí</a:t>
            </a:r>
            <a:endParaRPr lang="en-US" sz="2800" dirty="0"/>
          </a:p>
        </p:txBody>
      </p:sp>
      <p:graphicFrame>
        <p:nvGraphicFramePr>
          <p:cNvPr id="3" name="chart-concept-acciones" descr=""/>
          <p:cNvGraphicFramePr/>
          <p:nvPr/>
        </p:nvGraphicFramePr>
        <p:xfrm>
          <a:off x="548640" y="132588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stat-card"/>
          <p:cNvSpPr/>
          <p:nvPr/>
        </p:nvSpPr>
        <p:spPr>
          <a:xfrm>
            <a:off x="7680960" y="1371600"/>
            <a:ext cx="3931920" cy="1371600"/>
          </a:xfrm>
          <a:prstGeom prst="roundRect">
            <a:avLst>
              <a:gd name="adj" fmla="val 8000"/>
            </a:avLst>
          </a:prstGeom>
          <a:solidFill>
            <a:schemeClr val="bg2"/>
          </a:solidFill>
          <a:ln/>
        </p:spPr>
      </p:sp>
      <p:sp>
        <p:nvSpPr>
          <p:cNvPr id="5" name="Text 2"/>
          <p:cNvSpPr txBox="1"/>
          <p:nvPr/>
        </p:nvSpPr>
        <p:spPr>
          <a:xfrm>
            <a:off x="7909560" y="1463040"/>
            <a:ext cx="3566160" cy="685800"/>
          </a:xfrm>
          <a:prstGeom prst="rect">
            <a:avLst/>
          </a:prstGeom>
          <a:noFill/>
          <a:ln/>
        </p:spPr>
        <p:txBody>
          <a:bodyPr wrap="square" lIns="0" tIns="0" rIns="0" bIns="0" rtlCol="0" anchor="ctr"/>
          <a:lstStyle/>
          <a:p>
            <a:pPr indent="0" marL="0">
              <a:buNone/>
            </a:pPr>
            <a:r>
              <a:rPr lang="en-US" sz="3800" b="1" dirty="0">
                <a:solidFill>
                  <a:schemeClr val="accent3"/>
                </a:solidFill>
                <a:latin typeface="Cambria" pitchFamily="34" charset="0"/>
                <a:ea typeface="Cambria" pitchFamily="34" charset="-122"/>
                <a:cs typeface="Cambria" pitchFamily="34" charset="-120"/>
              </a:rPr>
              <a:t>0.346</a:t>
            </a:r>
            <a:endParaRPr lang="en-US" sz="3800" dirty="0"/>
          </a:p>
        </p:txBody>
      </p:sp>
      <p:sp>
        <p:nvSpPr>
          <p:cNvPr id="6" name="Text 3"/>
          <p:cNvSpPr txBox="1"/>
          <p:nvPr/>
        </p:nvSpPr>
        <p:spPr>
          <a:xfrm>
            <a:off x="7909560" y="2148840"/>
            <a:ext cx="3566160" cy="502920"/>
          </a:xfrm>
          <a:prstGeom prst="rect">
            <a:avLst/>
          </a:prstGeom>
          <a:noFill/>
          <a:ln/>
        </p:spPr>
        <p:txBody>
          <a:bodyPr wrap="square" lIns="0" tIns="0" rIns="0" bIns="0" rtlCol="0" anchor="t"/>
          <a:lstStyle/>
          <a:p>
            <a:pPr indent="0" marL="0">
              <a:buNone/>
            </a:pPr>
            <a:r>
              <a:rPr lang="en-US" sz="1400" dirty="0">
                <a:solidFill>
                  <a:schemeClr val="tx2"/>
                </a:solidFill>
              </a:rPr>
              <a:t>AUC de A1, A2 y A2c con γ = 1.2 (idénticas)</a:t>
            </a:r>
            <a:endParaRPr lang="en-US" sz="1400" dirty="0"/>
          </a:p>
        </p:txBody>
      </p:sp>
      <p:sp>
        <p:nvSpPr>
          <p:cNvPr id="7" name="stat-card"/>
          <p:cNvSpPr/>
          <p:nvPr/>
        </p:nvSpPr>
        <p:spPr>
          <a:xfrm>
            <a:off x="7680960" y="2971800"/>
            <a:ext cx="3931920" cy="1371600"/>
          </a:xfrm>
          <a:prstGeom prst="roundRect">
            <a:avLst>
              <a:gd name="adj" fmla="val 8000"/>
            </a:avLst>
          </a:prstGeom>
          <a:solidFill>
            <a:schemeClr val="bg2"/>
          </a:solidFill>
          <a:ln/>
        </p:spPr>
      </p:sp>
      <p:sp>
        <p:nvSpPr>
          <p:cNvPr id="8" name="Text 5"/>
          <p:cNvSpPr txBox="1"/>
          <p:nvPr/>
        </p:nvSpPr>
        <p:spPr>
          <a:xfrm>
            <a:off x="7909560" y="3063240"/>
            <a:ext cx="3566160" cy="685800"/>
          </a:xfrm>
          <a:prstGeom prst="rect">
            <a:avLst/>
          </a:prstGeom>
          <a:noFill/>
          <a:ln/>
        </p:spPr>
        <p:txBody>
          <a:bodyPr wrap="square" lIns="0" tIns="0" rIns="0" bIns="0" rtlCol="0" anchor="ctr"/>
          <a:lstStyle/>
          <a:p>
            <a:pPr indent="0" marL="0">
              <a:buNone/>
            </a:pPr>
            <a:r>
              <a:rPr lang="en-US" sz="3800" b="1" dirty="0">
                <a:solidFill>
                  <a:schemeClr val="accent4"/>
                </a:solidFill>
                <a:latin typeface="Cambria" pitchFamily="34" charset="0"/>
                <a:ea typeface="Cambria" pitchFamily="34" charset="-122"/>
                <a:cs typeface="Cambria" pitchFamily="34" charset="-120"/>
              </a:rPr>
              <a:t>0.663</a:t>
            </a:r>
            <a:endParaRPr lang="en-US" sz="3800" dirty="0"/>
          </a:p>
        </p:txBody>
      </p:sp>
      <p:sp>
        <p:nvSpPr>
          <p:cNvPr id="9" name="Text 6"/>
          <p:cNvSpPr txBox="1"/>
          <p:nvPr/>
        </p:nvSpPr>
        <p:spPr>
          <a:xfrm>
            <a:off x="7909560" y="3749040"/>
            <a:ext cx="3566160" cy="502920"/>
          </a:xfrm>
          <a:prstGeom prst="rect">
            <a:avLst/>
          </a:prstGeom>
          <a:noFill/>
          <a:ln/>
        </p:spPr>
        <p:txBody>
          <a:bodyPr wrap="square" lIns="0" tIns="0" rIns="0" bIns="0" rtlCol="0" anchor="t"/>
          <a:lstStyle/>
          <a:p>
            <a:pPr indent="0" marL="0">
              <a:buNone/>
            </a:pPr>
            <a:r>
              <a:rPr lang="en-US" sz="1400" dirty="0">
                <a:solidFill>
                  <a:schemeClr val="tx2"/>
                </a:solidFill>
              </a:rPr>
              <a:t>AUC de A3 y A4 con γ = 1.2</a:t>
            </a:r>
            <a:endParaRPr lang="en-US" sz="1400" dirty="0"/>
          </a:p>
        </p:txBody>
      </p:sp>
      <p:sp>
        <p:nvSpPr>
          <p:cNvPr id="10" name="stat-card"/>
          <p:cNvSpPr/>
          <p:nvPr/>
        </p:nvSpPr>
        <p:spPr>
          <a:xfrm>
            <a:off x="7680960" y="4572000"/>
            <a:ext cx="3931920" cy="1371600"/>
          </a:xfrm>
          <a:prstGeom prst="roundRect">
            <a:avLst>
              <a:gd name="adj" fmla="val 8000"/>
            </a:avLst>
          </a:prstGeom>
          <a:solidFill>
            <a:schemeClr val="bg2"/>
          </a:solidFill>
          <a:ln/>
        </p:spPr>
      </p:sp>
      <p:sp>
        <p:nvSpPr>
          <p:cNvPr id="11" name="Text 8"/>
          <p:cNvSpPr txBox="1"/>
          <p:nvPr/>
        </p:nvSpPr>
        <p:spPr>
          <a:xfrm>
            <a:off x="7909560" y="4663440"/>
            <a:ext cx="3566160" cy="68580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0.000</a:t>
            </a:r>
            <a:endParaRPr lang="en-US" sz="3800" dirty="0"/>
          </a:p>
        </p:txBody>
      </p:sp>
      <p:sp>
        <p:nvSpPr>
          <p:cNvPr id="12" name="Text 9"/>
          <p:cNvSpPr txBox="1"/>
          <p:nvPr/>
        </p:nvSpPr>
        <p:spPr>
          <a:xfrm>
            <a:off x="7909560" y="5349240"/>
            <a:ext cx="3566160" cy="502920"/>
          </a:xfrm>
          <a:prstGeom prst="rect">
            <a:avLst/>
          </a:prstGeom>
          <a:noFill/>
          <a:ln/>
        </p:spPr>
        <p:txBody>
          <a:bodyPr wrap="square" lIns="0" tIns="0" rIns="0" bIns="0" rtlCol="0" anchor="t"/>
          <a:lstStyle/>
          <a:p>
            <a:pPr indent="0" marL="0">
              <a:buNone/>
            </a:pPr>
            <a:r>
              <a:rPr lang="en-US" sz="1400" dirty="0">
                <a:solidFill>
                  <a:schemeClr val="tx2"/>
                </a:solidFill>
              </a:rPr>
              <a:t>Diferencia máxima entre A2 y A1: X nunca cambió</a:t>
            </a:r>
            <a:endParaRPr lang="en-US" sz="1400" dirty="0"/>
          </a:p>
        </p:txBody>
      </p:sp>
      <p:sp>
        <p:nvSpPr>
          <p:cNvPr id="13"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 elaboración propia — notebook compatibility_concept_drift (Stage 1 = cuantiles + escalado; Stage 2 = regresión logística). Confirma [7].</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El agente decide con información parcial: POMDP + PPO</a:t>
            </a:r>
            <a:endParaRPr lang="en-US" sz="2800" dirty="0"/>
          </a:p>
        </p:txBody>
      </p:sp>
      <p:sp>
        <p:nvSpPr>
          <p:cNvPr id="3" name="icon-circle"/>
          <p:cNvSpPr/>
          <p:nvPr/>
        </p:nvSpPr>
        <p:spPr>
          <a:xfrm>
            <a:off x="548640" y="1463040"/>
            <a:ext cx="685800" cy="685800"/>
          </a:xfrm>
          <a:prstGeom prst="ellipse">
            <a:avLst/>
          </a:prstGeom>
          <a:solidFill>
            <a:schemeClr val="accent1"/>
          </a:solidFill>
          <a:ln/>
        </p:spPr>
      </p:sp>
      <p:pic>
        <p:nvPicPr>
          <p:cNvPr id="4" name="icon" descr="preencoded.png">    </p:cNvPr>
          <p:cNvPicPr>
            <a:picLocks noChangeAspect="1"/>
          </p:cNvPicPr>
          <p:nvPr/>
        </p:nvPicPr>
        <p:blipFill>
          <a:blip r:embed="rId1"/>
          <a:stretch>
            <a:fillRect/>
          </a:stretch>
        </p:blipFill>
        <p:spPr>
          <a:xfrm>
            <a:off x="713232" y="1627632"/>
            <a:ext cx="356616" cy="356616"/>
          </a:xfrm>
          <a:prstGeom prst="rect">
            <a:avLst/>
          </a:prstGeom>
        </p:spPr>
      </p:pic>
      <p:sp>
        <p:nvSpPr>
          <p:cNvPr id="5" name="Text 2"/>
          <p:cNvSpPr txBox="1"/>
          <p:nvPr/>
        </p:nvSpPr>
        <p:spPr>
          <a:xfrm>
            <a:off x="1417320" y="1371600"/>
            <a:ext cx="5120640" cy="365760"/>
          </a:xfrm>
          <a:prstGeom prst="rect">
            <a:avLst/>
          </a:prstGeom>
          <a:noFill/>
          <a:ln/>
        </p:spPr>
        <p:txBody>
          <a:bodyPr wrap="square" lIns="0" tIns="0" rIns="0" bIns="0" rtlCol="0" anchor="t"/>
          <a:lstStyle/>
          <a:p>
            <a:pPr indent="0" marL="0">
              <a:buNone/>
            </a:pPr>
            <a:r>
              <a:rPr lang="en-US" sz="1700" b="1" dirty="0">
                <a:solidFill>
                  <a:schemeClr val="tx1"/>
                </a:solidFill>
              </a:rPr>
              <a:t>Observación o_t</a:t>
            </a:r>
            <a:endParaRPr lang="en-US" sz="1700" dirty="0"/>
          </a:p>
        </p:txBody>
      </p:sp>
      <p:sp>
        <p:nvSpPr>
          <p:cNvPr id="6" name="Text 3"/>
          <p:cNvSpPr txBox="1"/>
          <p:nvPr/>
        </p:nvSpPr>
        <p:spPr>
          <a:xfrm>
            <a:off x="1417320" y="1755648"/>
            <a:ext cx="5120640" cy="731520"/>
          </a:xfrm>
          <a:prstGeom prst="rect">
            <a:avLst/>
          </a:prstGeom>
          <a:noFill/>
          <a:ln/>
        </p:spPr>
        <p:txBody>
          <a:bodyPr wrap="square" lIns="0" tIns="0" rIns="0" bIns="0" rtlCol="0" anchor="t"/>
          <a:lstStyle/>
          <a:p>
            <a:pPr indent="0" marL="0">
              <a:buNone/>
            </a:pPr>
            <a:r>
              <a:rPr lang="en-US" sz="1400" dirty="0">
                <a:solidFill>
                  <a:schemeClr val="tx2"/>
                </a:solidFill>
              </a:rPr>
              <a:t>Severidad estimada, PSI/KS/C2ST, caída de AUC/F1 y costos previos. El agente no ve P(X) ni P(Y|X) [8].</a:t>
            </a:r>
            <a:endParaRPr lang="en-US" sz="1400" dirty="0"/>
          </a:p>
        </p:txBody>
      </p:sp>
      <p:sp>
        <p:nvSpPr>
          <p:cNvPr id="7" name="icon-circle"/>
          <p:cNvSpPr/>
          <p:nvPr/>
        </p:nvSpPr>
        <p:spPr>
          <a:xfrm>
            <a:off x="548640" y="2651760"/>
            <a:ext cx="685800" cy="685800"/>
          </a:xfrm>
          <a:prstGeom prst="ellipse">
            <a:avLst/>
          </a:prstGeom>
          <a:solidFill>
            <a:schemeClr val="accent1"/>
          </a:solidFill>
          <a:ln/>
        </p:spPr>
      </p:sp>
      <p:pic>
        <p:nvPicPr>
          <p:cNvPr id="8" name="icon" descr="preencoded.png">    </p:cNvPr>
          <p:cNvPicPr>
            <a:picLocks noChangeAspect="1"/>
          </p:cNvPicPr>
          <p:nvPr/>
        </p:nvPicPr>
        <p:blipFill>
          <a:blip r:embed="rId2"/>
          <a:stretch>
            <a:fillRect/>
          </a:stretch>
        </p:blipFill>
        <p:spPr>
          <a:xfrm>
            <a:off x="713232" y="2816352"/>
            <a:ext cx="356616" cy="356616"/>
          </a:xfrm>
          <a:prstGeom prst="rect">
            <a:avLst/>
          </a:prstGeom>
        </p:spPr>
      </p:pic>
      <p:sp>
        <p:nvSpPr>
          <p:cNvPr id="9" name="Text 5"/>
          <p:cNvSpPr txBox="1"/>
          <p:nvPr/>
        </p:nvSpPr>
        <p:spPr>
          <a:xfrm>
            <a:off x="1417320" y="2560320"/>
            <a:ext cx="5120640" cy="365760"/>
          </a:xfrm>
          <a:prstGeom prst="rect">
            <a:avLst/>
          </a:prstGeom>
          <a:noFill/>
          <a:ln/>
        </p:spPr>
        <p:txBody>
          <a:bodyPr wrap="square" lIns="0" tIns="0" rIns="0" bIns="0" rtlCol="0" anchor="t"/>
          <a:lstStyle/>
          <a:p>
            <a:pPr indent="0" marL="0">
              <a:buNone/>
            </a:pPr>
            <a:r>
              <a:rPr lang="en-US" sz="1700" b="1" dirty="0">
                <a:solidFill>
                  <a:schemeClr val="tx1"/>
                </a:solidFill>
              </a:rPr>
              <a:t>Política π_θ(a | o_t)</a:t>
            </a:r>
            <a:endParaRPr lang="en-US" sz="1700" dirty="0"/>
          </a:p>
        </p:txBody>
      </p:sp>
      <p:sp>
        <p:nvSpPr>
          <p:cNvPr id="10" name="Text 6"/>
          <p:cNvSpPr txBox="1"/>
          <p:nvPr/>
        </p:nvSpPr>
        <p:spPr>
          <a:xfrm>
            <a:off x="1417320" y="2944368"/>
            <a:ext cx="5120640" cy="731520"/>
          </a:xfrm>
          <a:prstGeom prst="rect">
            <a:avLst/>
          </a:prstGeom>
          <a:noFill/>
          <a:ln/>
        </p:spPr>
        <p:txBody>
          <a:bodyPr wrap="square" lIns="0" tIns="0" rIns="0" bIns="0" rtlCol="0" anchor="t"/>
          <a:lstStyle/>
          <a:p>
            <a:pPr indent="0" marL="0">
              <a:buNone/>
            </a:pPr>
            <a:r>
              <a:rPr lang="en-US" sz="1400" dirty="0">
                <a:solidFill>
                  <a:schemeClr val="tx2"/>
                </a:solidFill>
              </a:rPr>
              <a:t>PPO con MlpPolicy (SB3): espacio discreto pequeño (|A| = 4) y actualizaciones estables gracias al clipping [9], [10].</a:t>
            </a:r>
            <a:endParaRPr lang="en-US" sz="1400" dirty="0"/>
          </a:p>
        </p:txBody>
      </p:sp>
      <p:sp>
        <p:nvSpPr>
          <p:cNvPr id="11" name="icon-circle"/>
          <p:cNvSpPr/>
          <p:nvPr/>
        </p:nvSpPr>
        <p:spPr>
          <a:xfrm>
            <a:off x="548640" y="3840480"/>
            <a:ext cx="685800" cy="685800"/>
          </a:xfrm>
          <a:prstGeom prst="ellipse">
            <a:avLst/>
          </a:prstGeom>
          <a:solidFill>
            <a:schemeClr val="accent1"/>
          </a:solidFill>
          <a:ln/>
        </p:spPr>
      </p:sp>
      <p:pic>
        <p:nvPicPr>
          <p:cNvPr id="12" name="icon" descr="preencoded.png">    </p:cNvPr>
          <p:cNvPicPr>
            <a:picLocks noChangeAspect="1"/>
          </p:cNvPicPr>
          <p:nvPr/>
        </p:nvPicPr>
        <p:blipFill>
          <a:blip r:embed="rId3"/>
          <a:stretch>
            <a:fillRect/>
          </a:stretch>
        </p:blipFill>
        <p:spPr>
          <a:xfrm>
            <a:off x="713232" y="4005072"/>
            <a:ext cx="356616" cy="356616"/>
          </a:xfrm>
          <a:prstGeom prst="rect">
            <a:avLst/>
          </a:prstGeom>
        </p:spPr>
      </p:pic>
      <p:sp>
        <p:nvSpPr>
          <p:cNvPr id="13" name="Text 8"/>
          <p:cNvSpPr txBox="1"/>
          <p:nvPr/>
        </p:nvSpPr>
        <p:spPr>
          <a:xfrm>
            <a:off x="1417320" y="3749040"/>
            <a:ext cx="5120640" cy="365760"/>
          </a:xfrm>
          <a:prstGeom prst="rect">
            <a:avLst/>
          </a:prstGeom>
          <a:noFill/>
          <a:ln/>
        </p:spPr>
        <p:txBody>
          <a:bodyPr wrap="square" lIns="0" tIns="0" rIns="0" bIns="0" rtlCol="0" anchor="t"/>
          <a:lstStyle/>
          <a:p>
            <a:pPr indent="0" marL="0">
              <a:buNone/>
            </a:pPr>
            <a:r>
              <a:rPr lang="en-US" sz="1700" b="1" dirty="0">
                <a:solidFill>
                  <a:schemeClr val="tx1"/>
                </a:solidFill>
              </a:rPr>
              <a:t>Recompensa</a:t>
            </a:r>
            <a:endParaRPr lang="en-US" sz="1700" dirty="0"/>
          </a:p>
        </p:txBody>
      </p:sp>
      <p:sp>
        <p:nvSpPr>
          <p:cNvPr id="14" name="Text 9"/>
          <p:cNvSpPr txBox="1"/>
          <p:nvPr/>
        </p:nvSpPr>
        <p:spPr>
          <a:xfrm>
            <a:off x="1417320" y="4133088"/>
            <a:ext cx="5120640" cy="731520"/>
          </a:xfrm>
          <a:prstGeom prst="rect">
            <a:avLst/>
          </a:prstGeom>
          <a:noFill/>
          <a:ln/>
        </p:spPr>
        <p:txBody>
          <a:bodyPr wrap="square" lIns="0" tIns="0" rIns="0" bIns="0" rtlCol="0" anchor="t"/>
          <a:lstStyle/>
          <a:p>
            <a:pPr indent="0" marL="0">
              <a:buNone/>
            </a:pPr>
            <a:r>
              <a:rPr lang="en-US" sz="1400" dirty="0">
                <a:solidFill>
                  <a:schemeClr val="tx2"/>
                </a:solidFill>
              </a:rPr>
              <a:t>Premia recuperar AUC frente al estado sin mantenimiento y penaliza tiempo y memoria relativos a Retrain all.</a:t>
            </a:r>
            <a:endParaRPr lang="en-US" sz="1400" dirty="0"/>
          </a:p>
        </p:txBody>
      </p:sp>
      <p:sp>
        <p:nvSpPr>
          <p:cNvPr id="15" name="formula"/>
          <p:cNvSpPr/>
          <p:nvPr/>
        </p:nvSpPr>
        <p:spPr>
          <a:xfrm>
            <a:off x="548640" y="5029200"/>
            <a:ext cx="6035040" cy="1143000"/>
          </a:xfrm>
          <a:prstGeom prst="roundRect">
            <a:avLst>
              <a:gd name="adj" fmla="val 9600"/>
            </a:avLst>
          </a:prstGeom>
          <a:solidFill>
            <a:schemeClr val="tx1"/>
          </a:solidFill>
          <a:ln/>
        </p:spPr>
      </p:sp>
      <p:sp>
        <p:nvSpPr>
          <p:cNvPr id="16" name="Text 11"/>
          <p:cNvSpPr txBox="1"/>
          <p:nvPr/>
        </p:nvSpPr>
        <p:spPr>
          <a:xfrm>
            <a:off x="731520" y="5074920"/>
            <a:ext cx="5669280" cy="640080"/>
          </a:xfrm>
          <a:prstGeom prst="rect">
            <a:avLst/>
          </a:prstGeom>
          <a:noFill/>
          <a:ln/>
        </p:spPr>
        <p:txBody>
          <a:bodyPr wrap="square" lIns="0" tIns="0" rIns="0" bIns="0" rtlCol="0" anchor="ctr"/>
          <a:lstStyle/>
          <a:p>
            <a:pPr indent="0" marL="0">
              <a:buNone/>
            </a:pPr>
            <a:r>
              <a:rPr lang="en-US" sz="1400" b="1" dirty="0">
                <a:solidFill>
                  <a:schemeClr val="bg1"/>
                </a:solidFill>
                <a:latin typeface="Cambria" pitchFamily="34" charset="0"/>
                <a:ea typeface="Cambria" pitchFamily="34" charset="-122"/>
                <a:cs typeface="Cambria" pitchFamily="34" charset="-120"/>
              </a:rPr>
              <a:t>r_t = λ_A·(AUC_acción − AUC_drift) − λ_C·(½·T/T_all + ½·M/M_all)</a:t>
            </a:r>
            <a:endParaRPr lang="en-US" sz="1400" dirty="0"/>
          </a:p>
        </p:txBody>
      </p:sp>
      <p:sp>
        <p:nvSpPr>
          <p:cNvPr id="17" name="Text 12"/>
          <p:cNvSpPr txBox="1"/>
          <p:nvPr/>
        </p:nvSpPr>
        <p:spPr>
          <a:xfrm>
            <a:off x="731520" y="5687568"/>
            <a:ext cx="5669280" cy="365760"/>
          </a:xfrm>
          <a:prstGeom prst="rect">
            <a:avLst/>
          </a:prstGeom>
          <a:noFill/>
          <a:ln/>
        </p:spPr>
        <p:txBody>
          <a:bodyPr wrap="square" lIns="0" tIns="0" rIns="0" bIns="0" rtlCol="0" anchor="ctr"/>
          <a:lstStyle/>
          <a:p>
            <a:pPr indent="0" marL="0">
              <a:buNone/>
            </a:pPr>
            <a:r>
              <a:rPr lang="en-US" sz="1300" dirty="0">
                <a:solidFill>
                  <a:srgbClr val="C9CFD8"/>
                </a:solidFill>
              </a:rPr>
              <a:t>λ_A = 1.00 · λ_C = 0.25 · T = tiempo · M = memoria máxima</a:t>
            </a:r>
            <a:endParaRPr lang="en-US" sz="1300" dirty="0"/>
          </a:p>
        </p:txBody>
      </p:sp>
      <p:graphicFrame>
        <p:nvGraphicFramePr>
          <p:cNvPr id="14" name="tabla-ppo"/>
          <p:cNvGraphicFramePr>
            <a:graphicFrameLocks noGrp="1"/>
          </p:cNvGraphicFramePr>
          <p:nvPr>
            <p:extLst>
              <p:ext uri="{D42A27DB-BD31-4B8C-83A1-F6EECF244321}">
                <p14:modId xmlns:p14="http://schemas.microsoft.com/office/powerpoint/2010/main" val="1579011935"/>
              </p:ext>
            </p:extLst>
          </p:nvPr>
        </p:nvGraphicFramePr>
        <p:xfrm>
          <a:off x="7040880" y="1371600"/>
          <a:ext cx="4572000" cy="914400"/>
        </p:xfrm>
        <a:graphic>
          <a:graphicData uri="http://schemas.openxmlformats.org/drawingml/2006/table">
            <a:tbl>
              <a:tblPr/>
              <a:tblGrid>
                <a:gridCol w="2011680"/>
                <a:gridCol w="2560320"/>
              </a:tblGrid>
              <a:tr h="457200">
                <a:tc gridSpan="2">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Configuración de la demo</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hMerge="1">
                  <a:tcPr/>
                </a:tc>
              </a:tr>
              <a:tr h="457200">
                <a:tc>
                  <a:txBody>
                    <a:bodyPr/>
                    <a:lstStyle/>
                    <a:p>
                      <a:pPr indent="0" marL="0">
                        <a:buNone/>
                      </a:pPr>
                      <a:r>
                        <a:rPr lang="en-US" sz="1400" b="1" dirty="0">
                          <a:solidFill>
                            <a:srgbClr val="1B2235"/>
                          </a:solidFill>
                          <a:latin typeface="Calibri" pitchFamily="34" charset="0"/>
                          <a:ea typeface="Calibri" pitchFamily="34" charset="-122"/>
                          <a:cs typeface="Calibri" pitchFamily="34" charset="-120"/>
                        </a:rPr>
                        <a:t>Algoritmo</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indent="0" marL="0">
                        <a:buNone/>
                      </a:pPr>
                      <a:r>
                        <a:rPr lang="en-US" sz="1400" dirty="0">
                          <a:solidFill>
                            <a:srgbClr val="1B2235"/>
                          </a:solidFill>
                          <a:latin typeface="Calibri" pitchFamily="34" charset="0"/>
                          <a:ea typeface="Calibri" pitchFamily="34" charset="-122"/>
                          <a:cs typeface="Calibri" pitchFamily="34" charset="-120"/>
                        </a:rPr>
                        <a:t>PPO, MlpPolicy (Stable-Baselines3)</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r h="457200">
                <a:tc>
                  <a:txBody>
                    <a:bodyPr/>
                    <a:lstStyle/>
                    <a:p>
                      <a:pPr indent="0" marL="0">
                        <a:buNone/>
                      </a:pPr>
                      <a:r>
                        <a:rPr lang="en-US" sz="1400" b="1" dirty="0">
                          <a:solidFill>
                            <a:srgbClr val="1B2235"/>
                          </a:solidFill>
                          <a:latin typeface="Calibri" pitchFamily="34" charset="0"/>
                          <a:ea typeface="Calibri" pitchFamily="34" charset="-122"/>
                          <a:cs typeface="Calibri" pitchFamily="34" charset="-120"/>
                        </a:rPr>
                        <a:t>Acciones</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235"/>
                          </a:solidFill>
                          <a:latin typeface="Calibri" pitchFamily="34" charset="0"/>
                          <a:ea typeface="Calibri" pitchFamily="34" charset="-122"/>
                          <a:cs typeface="Calibri" pitchFamily="34" charset="-120"/>
                        </a:rPr>
                        <a:t>4 discretas</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235"/>
                          </a:solidFill>
                          <a:latin typeface="Calibri" pitchFamily="34" charset="0"/>
                          <a:ea typeface="Calibri" pitchFamily="34" charset="-122"/>
                          <a:cs typeface="Calibri" pitchFamily="34" charset="-120"/>
                        </a:rPr>
                        <a:t>Episodio</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indent="0" marL="0">
                        <a:buNone/>
                      </a:pPr>
                      <a:r>
                        <a:rPr lang="en-US" sz="1400" dirty="0">
                          <a:solidFill>
                            <a:srgbClr val="1B2235"/>
                          </a:solidFill>
                          <a:latin typeface="Calibri" pitchFamily="34" charset="0"/>
                          <a:ea typeface="Calibri" pitchFamily="34" charset="-122"/>
                          <a:cs typeface="Calibri" pitchFamily="34" charset="-120"/>
                        </a:rPr>
                        <a:t>100 pasos de decisión</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r h="457200">
                <a:tc>
                  <a:txBody>
                    <a:bodyPr/>
                    <a:lstStyle/>
                    <a:p>
                      <a:pPr indent="0" marL="0">
                        <a:buNone/>
                      </a:pPr>
                      <a:r>
                        <a:rPr lang="en-US" sz="1400" b="1" dirty="0">
                          <a:solidFill>
                            <a:srgbClr val="1B2235"/>
                          </a:solidFill>
                          <a:latin typeface="Calibri" pitchFamily="34" charset="0"/>
                          <a:ea typeface="Calibri" pitchFamily="34" charset="-122"/>
                          <a:cs typeface="Calibri" pitchFamily="34" charset="-120"/>
                        </a:rPr>
                        <a:t>Evaluación</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235"/>
                          </a:solidFill>
                          <a:latin typeface="Calibri" pitchFamily="34" charset="0"/>
                          <a:ea typeface="Calibri" pitchFamily="34" charset="-122"/>
                          <a:cs typeface="Calibri" pitchFamily="34" charset="-120"/>
                        </a:rPr>
                        <a:t>50 episodios determinísticos</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235"/>
                          </a:solidFill>
                          <a:latin typeface="Calibri" pitchFamily="34" charset="0"/>
                          <a:ea typeface="Calibri" pitchFamily="34" charset="-122"/>
                          <a:cs typeface="Calibri" pitchFamily="34" charset="-120"/>
                        </a:rPr>
                        <a:t>Factor de descuento γ</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indent="0" marL="0">
                        <a:buNone/>
                      </a:pPr>
                      <a:r>
                        <a:rPr lang="en-US" sz="1400" dirty="0">
                          <a:solidFill>
                            <a:srgbClr val="1B2235"/>
                          </a:solidFill>
                          <a:latin typeface="Calibri" pitchFamily="34" charset="0"/>
                          <a:ea typeface="Calibri" pitchFamily="34" charset="-122"/>
                          <a:cs typeface="Calibri" pitchFamily="34" charset="-120"/>
                        </a:rPr>
                        <a:t>0.95</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r h="457200">
                <a:tc>
                  <a:txBody>
                    <a:bodyPr/>
                    <a:lstStyle/>
                    <a:p>
                      <a:pPr indent="0" marL="0">
                        <a:buNone/>
                      </a:pPr>
                      <a:r>
                        <a:rPr lang="en-US" sz="1400" b="1" dirty="0">
                          <a:solidFill>
                            <a:srgbClr val="1B2235"/>
                          </a:solidFill>
                          <a:latin typeface="Calibri" pitchFamily="34" charset="0"/>
                          <a:ea typeface="Calibri" pitchFamily="34" charset="-122"/>
                          <a:cs typeface="Calibri" pitchFamily="34" charset="-120"/>
                        </a:rPr>
                        <a:t>Rollout / batch / épocas</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B2235"/>
                          </a:solidFill>
                          <a:latin typeface="Calibri" pitchFamily="34" charset="0"/>
                          <a:ea typeface="Calibri" pitchFamily="34" charset="-122"/>
                          <a:cs typeface="Calibri" pitchFamily="34" charset="-120"/>
                        </a:rPr>
                        <a:t>64 / 32 / 5</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235"/>
                          </a:solidFill>
                          <a:latin typeface="Calibri" pitchFamily="34" charset="0"/>
                          <a:ea typeface="Calibri" pitchFamily="34" charset="-122"/>
                          <a:cs typeface="Calibri" pitchFamily="34" charset="-120"/>
                        </a:rPr>
                        <a:t>Semilla</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indent="0" marL="0">
                        <a:buNone/>
                      </a:pPr>
                      <a:r>
                        <a:rPr lang="en-US" sz="1400" dirty="0">
                          <a:solidFill>
                            <a:srgbClr val="1B2235"/>
                          </a:solidFill>
                          <a:latin typeface="Calibri" pitchFamily="34" charset="0"/>
                          <a:ea typeface="Calibri" pitchFamily="34" charset="-122"/>
                          <a:cs typeface="Calibri" pitchFamily="34" charset="-120"/>
                        </a:rPr>
                        <a:t>42</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bl>
          </a:graphicData>
        </a:graphic>
      </p:graphicFrame>
      <p:sp>
        <p:nvSpPr>
          <p:cNvPr id="19"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Fuentes: [8] Kaelbling et al., 1998; [9] Schulman et al., 2017; [10] Sutton y Barto, 2018; recompensa inspirada en [2].</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Reentrenar todo no siempre es la mejor decisión</a:t>
            </a:r>
            <a:endParaRPr lang="en-US" sz="2800" dirty="0"/>
          </a:p>
        </p:txBody>
      </p:sp>
      <p:graphicFrame>
        <p:nvGraphicFramePr>
          <p:cNvPr id="15" name="tabla-baseline"/>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1508760"/>
                <a:gridCol w="1097280"/>
                <a:gridCol w="868680"/>
                <a:gridCol w="868680"/>
                <a:gridCol w="914400"/>
                <a:gridCol w="822960"/>
                <a:gridCol w="868680"/>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Condición</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Severidad</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A1 Defer</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A2 Feat.</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A3 Model</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A4 All</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Óptima</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1B2235"/>
                    </a:solidFill>
                  </a:tcPr>
                </a:tc>
              </a:tr>
              <a:tr h="438912">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Covariate</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Leve</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96.6</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D7ECEC"/>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95.4</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98.0</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98.1</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A1</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r h="438912">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Covariate</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Moderada</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90.6</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91.8</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96.6</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D7ECEC"/>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96.7</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A3</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Covariate</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Severa</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84.9</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89.7</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96.1</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D7ECEC"/>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95.7</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A3</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r h="438912">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Concept</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Leve</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98.1</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D7ECEC"/>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99.9</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A2</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Concept</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Moderada</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92.7</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D7ECEC"/>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82.8</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96.6</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96.6</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A1</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r h="438912">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Concept</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Severa</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86.3</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82.6</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D7ECEC"/>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99.7</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A3</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Cov. + Concept</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Moderada</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87.6</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83.1</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96.6</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D7ECEC"/>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92.9</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A3</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6F8FA"/>
                    </a:solidFill>
                  </a:tcPr>
                </a:tc>
              </a:tr>
              <a:tr h="438912">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Cov. + Concept</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235"/>
                          </a:solidFill>
                          <a:latin typeface="Calibri" pitchFamily="34" charset="0"/>
                          <a:ea typeface="Calibri" pitchFamily="34" charset="-122"/>
                          <a:cs typeface="Calibri" pitchFamily="34" charset="-120"/>
                        </a:rPr>
                        <a:t>Severa</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80.8</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88.4</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95.7</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D7ECEC"/>
                    </a:solidFill>
                  </a:tcPr>
                </a:tc>
                <a:tc>
                  <a:txBody>
                    <a:bodyPr/>
                    <a:lstStyle/>
                    <a:p>
                      <a:pPr algn="ctr" indent="0" marL="0">
                        <a:buNone/>
                      </a:pPr>
                      <a:r>
                        <a:rPr lang="en-US" sz="1400" dirty="0">
                          <a:solidFill>
                            <a:srgbClr val="1B2235"/>
                          </a:solidFill>
                          <a:latin typeface="Calibri" pitchFamily="34" charset="0"/>
                          <a:ea typeface="Calibri" pitchFamily="34" charset="-122"/>
                          <a:cs typeface="Calibri" pitchFamily="34" charset="-120"/>
                        </a:rPr>
                        <a:t>96.2</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C80"/>
                          </a:solidFill>
                          <a:latin typeface="Calibri" pitchFamily="34" charset="0"/>
                          <a:ea typeface="Calibri" pitchFamily="34" charset="-122"/>
                          <a:cs typeface="Calibri" pitchFamily="34" charset="-120"/>
                        </a:rPr>
                        <a:t>A3</a:t>
                      </a:r>
                      <a:endParaRPr lang="en-US" sz="1400" dirty="0">
                        <a:latin typeface="Calibri" charset="0"/>
                        <a:ea typeface="Calibri" charset="0"/>
                        <a:cs typeface="Calibri" charset="0"/>
                      </a:endParaRPr>
                    </a:p>
                  </a:txBody>
                  <a:tcPr marL="91440" marR="91440" marT="45720" marB="45720">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440680"/>
            <a:ext cx="6949440" cy="685800"/>
          </a:xfrm>
          <a:prstGeom prst="rect">
            <a:avLst/>
          </a:prstGeom>
          <a:noFill/>
          <a:ln/>
        </p:spPr>
        <p:txBody>
          <a:bodyPr wrap="square" lIns="0" tIns="0" rIns="0" bIns="0" rtlCol="0" anchor="t"/>
          <a:lstStyle/>
          <a:p>
            <a:pPr indent="0" marL="0">
              <a:buNone/>
            </a:pPr>
            <a:r>
              <a:rPr lang="en-US" sz="1200" dirty="0">
                <a:solidFill>
                  <a:schemeClr val="tx2"/>
                </a:solidFill>
              </a:rPr>
              <a:t>% de recuperación = AUC de la acción / AUC base (0.7836) × 100. Costo relativo: A1 0.00x · A2 0.12x · A3 0.45x · A4 1.00x.</a:t>
            </a:r>
            <a:endParaRPr lang="en-US" sz="1200" dirty="0"/>
          </a:p>
        </p:txBody>
      </p:sp>
      <p:sp>
        <p:nvSpPr>
          <p:cNvPr id="5" name="callout-costo"/>
          <p:cNvSpPr/>
          <p:nvPr/>
        </p:nvSpPr>
        <p:spPr>
          <a:xfrm>
            <a:off x="7863840" y="1325880"/>
            <a:ext cx="3749040" cy="4800600"/>
          </a:xfrm>
          <a:prstGeom prst="roundRect">
            <a:avLst>
              <a:gd name="adj" fmla="val 2927"/>
            </a:avLst>
          </a:prstGeom>
          <a:solidFill>
            <a:schemeClr val="tx1"/>
          </a:solidFill>
          <a:ln/>
        </p:spPr>
      </p:sp>
      <p:sp>
        <p:nvSpPr>
          <p:cNvPr id="6" name="Text 3"/>
          <p:cNvSpPr txBox="1"/>
          <p:nvPr/>
        </p:nvSpPr>
        <p:spPr>
          <a:xfrm>
            <a:off x="8138160" y="1554480"/>
            <a:ext cx="3291840" cy="411480"/>
          </a:xfrm>
          <a:prstGeom prst="rect">
            <a:avLst/>
          </a:prstGeom>
          <a:noFill/>
          <a:ln/>
        </p:spPr>
        <p:txBody>
          <a:bodyPr wrap="square" lIns="0" tIns="0" rIns="0" bIns="0" rtlCol="0" anchor="t"/>
          <a:lstStyle/>
          <a:p>
            <a:pPr indent="0" marL="0">
              <a:buNone/>
            </a:pPr>
            <a:r>
              <a:rPr lang="en-US" sz="1600" b="1" dirty="0">
                <a:solidFill>
                  <a:schemeClr val="accent2"/>
                </a:solidFill>
              </a:rPr>
              <a:t>Covariate shift moderado</a:t>
            </a:r>
            <a:endParaRPr lang="en-US" sz="1600" dirty="0"/>
          </a:p>
        </p:txBody>
      </p:sp>
      <p:sp>
        <p:nvSpPr>
          <p:cNvPr id="7" name="Text 4"/>
          <p:cNvSpPr txBox="1"/>
          <p:nvPr/>
        </p:nvSpPr>
        <p:spPr>
          <a:xfrm>
            <a:off x="8138160" y="2011680"/>
            <a:ext cx="3291840" cy="100584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A3: 96.6 %</a:t>
            </a:r>
            <a:endParaRPr lang="en-US" sz="2400" dirty="0"/>
          </a:p>
          <a:p>
            <a:pPr indent="0" marL="0">
              <a:buNone/>
            </a:pPr>
            <a:r>
              <a:rPr lang="en-US" sz="2400" b="1" dirty="0">
                <a:solidFill>
                  <a:schemeClr val="bg1"/>
                </a:solidFill>
                <a:latin typeface="Cambria" pitchFamily="34" charset="0"/>
                <a:ea typeface="Cambria" pitchFamily="34" charset="-122"/>
                <a:cs typeface="Cambria" pitchFamily="34" charset="-120"/>
              </a:rPr>
              <a:t>A4: 96.7 %</a:t>
            </a:r>
            <a:endParaRPr lang="en-US" sz="2400" dirty="0"/>
          </a:p>
        </p:txBody>
      </p:sp>
      <p:sp>
        <p:nvSpPr>
          <p:cNvPr id="8" name="Text 5"/>
          <p:cNvSpPr txBox="1"/>
          <p:nvPr/>
        </p:nvSpPr>
        <p:spPr>
          <a:xfrm>
            <a:off x="8138160" y="3200400"/>
            <a:ext cx="3291840" cy="1005840"/>
          </a:xfrm>
          <a:prstGeom prst="rect">
            <a:avLst/>
          </a:prstGeom>
          <a:noFill/>
          <a:ln/>
        </p:spPr>
        <p:txBody>
          <a:bodyPr wrap="square" lIns="0" tIns="0" rIns="0" bIns="0" rtlCol="0" anchor="ctr"/>
          <a:lstStyle/>
          <a:p>
            <a:pPr indent="0" marL="0">
              <a:buNone/>
            </a:pPr>
            <a:r>
              <a:rPr lang="en-US" sz="6400" b="1" dirty="0">
                <a:solidFill>
                  <a:schemeClr val="accent1"/>
                </a:solidFill>
                <a:latin typeface="Cambria" pitchFamily="34" charset="0"/>
                <a:ea typeface="Cambria" pitchFamily="34" charset="-122"/>
                <a:cs typeface="Cambria" pitchFamily="34" charset="-120"/>
              </a:rPr>
              <a:t>55 %</a:t>
            </a:r>
            <a:endParaRPr lang="en-US" sz="6400" dirty="0"/>
          </a:p>
        </p:txBody>
      </p:sp>
      <p:sp>
        <p:nvSpPr>
          <p:cNvPr id="9" name="Text 6"/>
          <p:cNvSpPr txBox="1"/>
          <p:nvPr/>
        </p:nvSpPr>
        <p:spPr>
          <a:xfrm>
            <a:off x="8138160" y="4251960"/>
            <a:ext cx="3291840" cy="914400"/>
          </a:xfrm>
          <a:prstGeom prst="rect">
            <a:avLst/>
          </a:prstGeom>
          <a:noFill/>
          <a:ln/>
        </p:spPr>
        <p:txBody>
          <a:bodyPr wrap="square" lIns="0" tIns="0" rIns="0" bIns="0" rtlCol="0" anchor="t"/>
          <a:lstStyle/>
          <a:p>
            <a:pPr indent="0" marL="0">
              <a:buNone/>
            </a:pPr>
            <a:r>
              <a:rPr lang="en-US" sz="1500" dirty="0">
                <a:solidFill>
                  <a:schemeClr val="bg1"/>
                </a:solidFill>
              </a:rPr>
              <a:t>menos costo con A3 (0.45x vs 1.00x) por 0.1 puntos menos de recuperación</a:t>
            </a:r>
            <a:endParaRPr lang="en-US" sz="1500" dirty="0"/>
          </a:p>
        </p:txBody>
      </p:sp>
      <p:sp>
        <p:nvSpPr>
          <p:cNvPr id="10" name="Text 7"/>
          <p:cNvSpPr txBox="1"/>
          <p:nvPr/>
        </p:nvSpPr>
        <p:spPr>
          <a:xfrm>
            <a:off x="8138160" y="5257800"/>
            <a:ext cx="3291840" cy="731520"/>
          </a:xfrm>
          <a:prstGeom prst="rect">
            <a:avLst/>
          </a:prstGeom>
          <a:noFill/>
          <a:ln/>
        </p:spPr>
        <p:txBody>
          <a:bodyPr wrap="square" lIns="0" tIns="0" rIns="0" bIns="0" rtlCol="0" anchor="t"/>
          <a:lstStyle/>
          <a:p>
            <a:pPr indent="0" marL="0">
              <a:buNone/>
            </a:pPr>
            <a:r>
              <a:rPr lang="en-US" sz="1400" i="1" dirty="0">
                <a:solidFill>
                  <a:srgbClr val="C9CFD8"/>
                </a:solidFill>
              </a:rPr>
              <a:t>La acción óptima cambia con el tipo y la severidad del drift.</a:t>
            </a:r>
            <a:endParaRPr lang="en-US" sz="1400" dirty="0"/>
          </a:p>
        </p:txBody>
      </p:sp>
      <p:sp>
        <p:nvSpPr>
          <p:cNvPr id="11"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 elaboración propia — XGBoost en PhysioNet, tabla de decisión empírica (Cap. IV de la tesis). Criterio de costo basado en [2].</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La política PPO aprende a preferir actualizaciones parciales</a:t>
            </a:r>
            <a:endParaRPr lang="en-US" sz="2800" dirty="0"/>
          </a:p>
        </p:txBody>
      </p:sp>
      <p:graphicFrame>
        <p:nvGraphicFramePr>
          <p:cNvPr id="3" name="chart-ppo" descr=""/>
          <p:cNvGraphicFramePr/>
          <p:nvPr/>
        </p:nvGraphicFramePr>
        <p:xfrm>
          <a:off x="548640" y="1325880"/>
          <a:ext cx="512064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126480" y="1371600"/>
            <a:ext cx="265176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5 000</a:t>
            </a:r>
            <a:endParaRPr lang="en-US" sz="3200" dirty="0"/>
          </a:p>
        </p:txBody>
      </p:sp>
      <p:sp>
        <p:nvSpPr>
          <p:cNvPr id="5" name="Text 2"/>
          <p:cNvSpPr txBox="1"/>
          <p:nvPr/>
        </p:nvSpPr>
        <p:spPr>
          <a:xfrm>
            <a:off x="8778240" y="1371600"/>
            <a:ext cx="2834640" cy="685800"/>
          </a:xfrm>
          <a:prstGeom prst="rect">
            <a:avLst/>
          </a:prstGeom>
          <a:noFill/>
          <a:ln/>
        </p:spPr>
        <p:txBody>
          <a:bodyPr wrap="square" lIns="0" tIns="0" rIns="0" bIns="0" rtlCol="0" anchor="ctr"/>
          <a:lstStyle/>
          <a:p>
            <a:pPr indent="0" marL="0">
              <a:buNone/>
            </a:pPr>
            <a:r>
              <a:rPr lang="en-US" sz="1400" dirty="0">
                <a:solidFill>
                  <a:schemeClr val="tx2"/>
                </a:solidFill>
              </a:rPr>
              <a:t>decisiones evaluadas (50 episodios × 100 pasos)</a:t>
            </a:r>
            <a:endParaRPr lang="en-US" sz="1400" dirty="0"/>
          </a:p>
        </p:txBody>
      </p:sp>
      <p:sp>
        <p:nvSpPr>
          <p:cNvPr id="6" name="Text 3"/>
          <p:cNvSpPr txBox="1"/>
          <p:nvPr/>
        </p:nvSpPr>
        <p:spPr>
          <a:xfrm>
            <a:off x="6126480" y="2560320"/>
            <a:ext cx="265176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0.0334</a:t>
            </a:r>
            <a:endParaRPr lang="en-US" sz="3200" dirty="0"/>
          </a:p>
        </p:txBody>
      </p:sp>
      <p:sp>
        <p:nvSpPr>
          <p:cNvPr id="7" name="Text 4"/>
          <p:cNvSpPr txBox="1"/>
          <p:nvPr/>
        </p:nvSpPr>
        <p:spPr>
          <a:xfrm>
            <a:off x="8778240" y="2560320"/>
            <a:ext cx="2834640" cy="685800"/>
          </a:xfrm>
          <a:prstGeom prst="rect">
            <a:avLst/>
          </a:prstGeom>
          <a:noFill/>
          <a:ln/>
        </p:spPr>
        <p:txBody>
          <a:bodyPr wrap="square" lIns="0" tIns="0" rIns="0" bIns="0" rtlCol="0" anchor="ctr"/>
          <a:lstStyle/>
          <a:p>
            <a:pPr indent="0" marL="0">
              <a:buNone/>
            </a:pPr>
            <a:r>
              <a:rPr lang="en-US" sz="1400" dirty="0">
                <a:solidFill>
                  <a:schemeClr val="tx2"/>
                </a:solidFill>
              </a:rPr>
              <a:t>recompensa media por paso</a:t>
            </a:r>
            <a:endParaRPr lang="en-US" sz="1400" dirty="0"/>
          </a:p>
        </p:txBody>
      </p:sp>
      <p:sp>
        <p:nvSpPr>
          <p:cNvPr id="8" name="Text 5"/>
          <p:cNvSpPr txBox="1"/>
          <p:nvPr/>
        </p:nvSpPr>
        <p:spPr>
          <a:xfrm>
            <a:off x="6126480" y="3749040"/>
            <a:ext cx="265176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3.34 ± 0.42</a:t>
            </a:r>
            <a:endParaRPr lang="en-US" sz="3200" dirty="0"/>
          </a:p>
        </p:txBody>
      </p:sp>
      <p:sp>
        <p:nvSpPr>
          <p:cNvPr id="9" name="Text 6"/>
          <p:cNvSpPr txBox="1"/>
          <p:nvPr/>
        </p:nvSpPr>
        <p:spPr>
          <a:xfrm>
            <a:off x="8778240" y="3749040"/>
            <a:ext cx="2834640" cy="685800"/>
          </a:xfrm>
          <a:prstGeom prst="rect">
            <a:avLst/>
          </a:prstGeom>
          <a:noFill/>
          <a:ln/>
        </p:spPr>
        <p:txBody>
          <a:bodyPr wrap="square" lIns="0" tIns="0" rIns="0" bIns="0" rtlCol="0" anchor="ctr"/>
          <a:lstStyle/>
          <a:p>
            <a:pPr indent="0" marL="0">
              <a:buNone/>
            </a:pPr>
            <a:r>
              <a:rPr lang="en-US" sz="1400" dirty="0">
                <a:solidFill>
                  <a:schemeClr val="tx2"/>
                </a:solidFill>
              </a:rPr>
              <a:t>recompensa acumulada media por episodio</a:t>
            </a:r>
            <a:endParaRPr lang="en-US" sz="1400" dirty="0"/>
          </a:p>
        </p:txBody>
      </p:sp>
      <p:sp>
        <p:nvSpPr>
          <p:cNvPr id="10" name="lectura"/>
          <p:cNvSpPr/>
          <p:nvPr/>
        </p:nvSpPr>
        <p:spPr>
          <a:xfrm>
            <a:off x="6126480" y="5029200"/>
            <a:ext cx="5486400" cy="1143000"/>
          </a:xfrm>
          <a:prstGeom prst="roundRect">
            <a:avLst>
              <a:gd name="adj" fmla="val 9600"/>
            </a:avLst>
          </a:prstGeom>
          <a:solidFill>
            <a:schemeClr val="bg2"/>
          </a:solidFill>
          <a:ln/>
        </p:spPr>
      </p:sp>
      <p:sp>
        <p:nvSpPr>
          <p:cNvPr id="11" name="Text 8"/>
          <p:cNvSpPr txBox="1"/>
          <p:nvPr/>
        </p:nvSpPr>
        <p:spPr>
          <a:xfrm>
            <a:off x="6355080" y="5074920"/>
            <a:ext cx="5074920" cy="1051560"/>
          </a:xfrm>
          <a:prstGeom prst="rect">
            <a:avLst/>
          </a:prstGeom>
          <a:noFill/>
          <a:ln/>
        </p:spPr>
        <p:txBody>
          <a:bodyPr wrap="square" lIns="0" tIns="0" rIns="0" bIns="0" rtlCol="0" anchor="ctr"/>
          <a:lstStyle/>
          <a:p>
            <a:pPr indent="0" marL="0">
              <a:buNone/>
            </a:pPr>
            <a:r>
              <a:rPr lang="en-US" sz="1400" b="1" dirty="0">
                <a:solidFill>
                  <a:schemeClr val="tx1"/>
                </a:solidFill>
              </a:rPr>
              <a:t>Defer y Retrain all: 0 %. </a:t>
            </a:r>
            <a:pPr indent="0" marL="0">
              <a:buNone/>
            </a:pPr>
            <a:r>
              <a:rPr lang="en-US" sz="1400" dirty="0">
                <a:solidFill>
                  <a:schemeClr val="tx1"/>
                </a:solidFill>
              </a:rPr>
              <a:t>Defer no recupera AUC; Retrain all paga el costo completo por una mejora marginal. Valida el ciclo POMDP, pero aún no demuestra superioridad.</a:t>
            </a:r>
            <a:endParaRPr lang="en-US" sz="1400" dirty="0"/>
          </a:p>
        </p:txBody>
      </p:sp>
      <p:sp>
        <p:nvSpPr>
          <p:cNvPr id="12"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 elaboración propia — demo darl_sb3_pomdp_demo (Stable-Baselines3, semilla 42), Cap. IV de la tesis.</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Con drift combinado, la acción ideal depende del dataset</a:t>
            </a:r>
            <a:endParaRPr lang="en-US" sz="2800" dirty="0"/>
          </a:p>
        </p:txBody>
      </p:sp>
      <p:graphicFrame>
        <p:nvGraphicFramePr>
          <p:cNvPr id="3" name="chart-comb-physionet" descr=""/>
          <p:cNvGraphicFramePr/>
          <p:nvPr/>
        </p:nvGraphicFramePr>
        <p:xfrm>
          <a:off x="548640" y="1325880"/>
          <a:ext cx="548640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comb-diabetes" descr=""/>
          <p:cNvGraphicFramePr/>
          <p:nvPr/>
        </p:nvGraphicFramePr>
        <p:xfrm>
          <a:off x="6126480" y="1325880"/>
          <a:ext cx="5486400" cy="3840480"/>
        </p:xfrm>
        <a:graphic xmlns:a="http://schemas.openxmlformats.org/drawingml/2006/main">
          <a:graphicData uri="http://schemas.openxmlformats.org/drawingml/2006/chart">
            <c:chart xmlns:c="http://schemas.openxmlformats.org/drawingml/2006/chart" r:id="rId2"/>
          </a:graphicData>
        </a:graphic>
      </p:graphicFrame>
      <p:sp>
        <p:nvSpPr>
          <p:cNvPr id="5" name="takeaway"/>
          <p:cNvSpPr/>
          <p:nvPr/>
        </p:nvSpPr>
        <p:spPr>
          <a:xfrm>
            <a:off x="548640" y="5303520"/>
            <a:ext cx="11064240" cy="914400"/>
          </a:xfrm>
          <a:prstGeom prst="roundRect">
            <a:avLst>
              <a:gd name="adj" fmla="val 12000"/>
            </a:avLst>
          </a:prstGeom>
          <a:solidFill>
            <a:schemeClr val="bg2"/>
          </a:solidFill>
          <a:ln/>
        </p:spPr>
      </p:sp>
      <p:sp>
        <p:nvSpPr>
          <p:cNvPr id="6" name="icon-circle"/>
          <p:cNvSpPr/>
          <p:nvPr/>
        </p:nvSpPr>
        <p:spPr>
          <a:xfrm>
            <a:off x="731520" y="5440680"/>
            <a:ext cx="640080" cy="640080"/>
          </a:xfrm>
          <a:prstGeom prst="ellipse">
            <a:avLst/>
          </a:prstGeom>
          <a:solidFill>
            <a:schemeClr val="accent2"/>
          </a:solidFill>
          <a:ln/>
        </p:spPr>
      </p:sp>
      <p:pic>
        <p:nvPicPr>
          <p:cNvPr id="7" name="icon" descr="preencoded.png">    </p:cNvPr>
          <p:cNvPicPr>
            <a:picLocks noChangeAspect="1"/>
          </p:cNvPicPr>
          <p:nvPr/>
        </p:nvPicPr>
        <p:blipFill>
          <a:blip r:embed="rId3"/>
          <a:stretch>
            <a:fillRect/>
          </a:stretch>
        </p:blipFill>
        <p:spPr>
          <a:xfrm>
            <a:off x="885139" y="5594299"/>
            <a:ext cx="332842" cy="332842"/>
          </a:xfrm>
          <a:prstGeom prst="rect">
            <a:avLst/>
          </a:prstGeom>
        </p:spPr>
      </p:pic>
      <p:sp>
        <p:nvSpPr>
          <p:cNvPr id="8" name="Text 3"/>
          <p:cNvSpPr txBox="1"/>
          <p:nvPr/>
        </p:nvSpPr>
        <p:spPr>
          <a:xfrm>
            <a:off x="1554480" y="5349240"/>
            <a:ext cx="9875520" cy="822960"/>
          </a:xfrm>
          <a:prstGeom prst="rect">
            <a:avLst/>
          </a:prstGeom>
          <a:noFill/>
          <a:ln/>
        </p:spPr>
        <p:txBody>
          <a:bodyPr wrap="square" lIns="0" tIns="0" rIns="0" bIns="0" rtlCol="0" anchor="ctr"/>
          <a:lstStyle/>
          <a:p>
            <a:pPr indent="0" marL="0">
              <a:buNone/>
            </a:pPr>
            <a:r>
              <a:rPr lang="en-US" sz="1600" b="1" dirty="0">
                <a:solidFill>
                  <a:schemeClr val="tx1"/>
                </a:solidFill>
              </a:rPr>
              <a:t>No existe una regla fija válida para todos los datasets: esto motiva aprender la política en lugar de programarla con umbrales.</a:t>
            </a:r>
            <a:endParaRPr lang="en-US" sz="1600" dirty="0"/>
          </a:p>
        </p:txBody>
      </p:sp>
      <p:sp>
        <p:nvSpPr>
          <p:cNvPr id="9"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 elaboración propia — notebooks compatibility_combined_drift y compatibility_combined_drift_diabetes (regresión logística como Stage 2).</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Plan de validación: cómo sabremos si DARL funciona</a:t>
            </a:r>
            <a:endParaRPr lang="en-US" sz="2800" dirty="0"/>
          </a:p>
        </p:txBody>
      </p:sp>
      <p:sp>
        <p:nvSpPr>
          <p:cNvPr id="3" name="hyp-badge"/>
          <p:cNvSpPr/>
          <p:nvPr/>
        </p:nvSpPr>
        <p:spPr>
          <a:xfrm>
            <a:off x="548640" y="1444752"/>
            <a:ext cx="640080" cy="640080"/>
          </a:xfrm>
          <a:prstGeom prst="ellipse">
            <a:avLst/>
          </a:prstGeom>
          <a:solidFill>
            <a:schemeClr val="accent1"/>
          </a:solidFill>
          <a:ln/>
        </p:spPr>
      </p:sp>
      <p:sp>
        <p:nvSpPr>
          <p:cNvPr id="4" name="Text 2"/>
          <p:cNvSpPr txBox="1"/>
          <p:nvPr/>
        </p:nvSpPr>
        <p:spPr>
          <a:xfrm>
            <a:off x="548640" y="1444752"/>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H1</a:t>
            </a:r>
            <a:endParaRPr lang="en-US" sz="1600" dirty="0"/>
          </a:p>
        </p:txBody>
      </p:sp>
      <p:sp>
        <p:nvSpPr>
          <p:cNvPr id="5" name="Text 3"/>
          <p:cNvSpPr txBox="1"/>
          <p:nvPr/>
        </p:nvSpPr>
        <p:spPr>
          <a:xfrm>
            <a:off x="1371600" y="1371600"/>
            <a:ext cx="10241280" cy="777240"/>
          </a:xfrm>
          <a:prstGeom prst="rect">
            <a:avLst/>
          </a:prstGeom>
          <a:noFill/>
          <a:ln/>
        </p:spPr>
        <p:txBody>
          <a:bodyPr wrap="square" lIns="0" tIns="0" rIns="0" bIns="0" rtlCol="0" anchor="ctr"/>
          <a:lstStyle/>
          <a:p>
            <a:pPr indent="0" marL="0">
              <a:buNone/>
            </a:pPr>
            <a:r>
              <a:rPr lang="en-US" sz="1600" dirty="0">
                <a:solidFill>
                  <a:schemeClr val="tx1"/>
                </a:solidFill>
              </a:rPr>
              <a:t>Covariate shift: una acción parcial (A2/A3) recupera ≥ 95 % de lo que recupera A4, con menor costo</a:t>
            </a:r>
            <a:endParaRPr lang="en-US" sz="1600" dirty="0"/>
          </a:p>
        </p:txBody>
      </p:sp>
      <p:sp>
        <p:nvSpPr>
          <p:cNvPr id="6" name="hyp-badge"/>
          <p:cNvSpPr/>
          <p:nvPr/>
        </p:nvSpPr>
        <p:spPr>
          <a:xfrm>
            <a:off x="548640" y="2313432"/>
            <a:ext cx="640080" cy="640080"/>
          </a:xfrm>
          <a:prstGeom prst="ellipse">
            <a:avLst/>
          </a:prstGeom>
          <a:solidFill>
            <a:schemeClr val="accent1"/>
          </a:solidFill>
          <a:ln/>
        </p:spPr>
      </p:sp>
      <p:sp>
        <p:nvSpPr>
          <p:cNvPr id="7" name="Text 5"/>
          <p:cNvSpPr txBox="1"/>
          <p:nvPr/>
        </p:nvSpPr>
        <p:spPr>
          <a:xfrm>
            <a:off x="548640" y="2313432"/>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H2</a:t>
            </a:r>
            <a:endParaRPr lang="en-US" sz="1600" dirty="0"/>
          </a:p>
        </p:txBody>
      </p:sp>
      <p:sp>
        <p:nvSpPr>
          <p:cNvPr id="8" name="Text 6"/>
          <p:cNvSpPr txBox="1"/>
          <p:nvPr/>
        </p:nvSpPr>
        <p:spPr>
          <a:xfrm>
            <a:off x="1371600" y="2240280"/>
            <a:ext cx="10241280" cy="777240"/>
          </a:xfrm>
          <a:prstGeom prst="rect">
            <a:avLst/>
          </a:prstGeom>
          <a:noFill/>
          <a:ln/>
        </p:spPr>
        <p:txBody>
          <a:bodyPr wrap="square" lIns="0" tIns="0" rIns="0" bIns="0" rtlCol="0" anchor="ctr"/>
          <a:lstStyle/>
          <a:p>
            <a:pPr indent="0" marL="0">
              <a:buNone/>
            </a:pPr>
            <a:r>
              <a:rPr lang="en-US" sz="1600" dirty="0">
                <a:solidFill>
                  <a:schemeClr val="tx1"/>
                </a:solidFill>
              </a:rPr>
              <a:t>Concept drift: A3 ≈ A4 y ambas superan a A2; corregir X no aporta</a:t>
            </a:r>
            <a:endParaRPr lang="en-US" sz="1600" dirty="0"/>
          </a:p>
        </p:txBody>
      </p:sp>
      <p:sp>
        <p:nvSpPr>
          <p:cNvPr id="9" name="hyp-badge"/>
          <p:cNvSpPr/>
          <p:nvPr/>
        </p:nvSpPr>
        <p:spPr>
          <a:xfrm>
            <a:off x="548640" y="3182112"/>
            <a:ext cx="640080" cy="640080"/>
          </a:xfrm>
          <a:prstGeom prst="ellipse">
            <a:avLst/>
          </a:prstGeom>
          <a:solidFill>
            <a:schemeClr val="accent1"/>
          </a:solidFill>
          <a:ln/>
        </p:spPr>
      </p:sp>
      <p:sp>
        <p:nvSpPr>
          <p:cNvPr id="10" name="Text 8"/>
          <p:cNvSpPr txBox="1"/>
          <p:nvPr/>
        </p:nvSpPr>
        <p:spPr>
          <a:xfrm>
            <a:off x="548640" y="3182112"/>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H3</a:t>
            </a:r>
            <a:endParaRPr lang="en-US" sz="1600" dirty="0"/>
          </a:p>
        </p:txBody>
      </p:sp>
      <p:sp>
        <p:nvSpPr>
          <p:cNvPr id="11" name="Text 9"/>
          <p:cNvSpPr txBox="1"/>
          <p:nvPr/>
        </p:nvSpPr>
        <p:spPr>
          <a:xfrm>
            <a:off x="1371600" y="3108960"/>
            <a:ext cx="10241280" cy="777240"/>
          </a:xfrm>
          <a:prstGeom prst="rect">
            <a:avLst/>
          </a:prstGeom>
          <a:noFill/>
          <a:ln/>
        </p:spPr>
        <p:txBody>
          <a:bodyPr wrap="square" lIns="0" tIns="0" rIns="0" bIns="0" rtlCol="0" anchor="ctr"/>
          <a:lstStyle/>
          <a:p>
            <a:pPr indent="0" marL="0">
              <a:buNone/>
            </a:pPr>
            <a:r>
              <a:rPr lang="en-US" sz="1600" dirty="0">
                <a:solidFill>
                  <a:schemeClr val="tx1"/>
                </a:solidFill>
              </a:rPr>
              <a:t>La política aprendida obtiene más recompensa (recuperación − costo) que las reglas fijas en escenarios no vistos</a:t>
            </a:r>
            <a:endParaRPr lang="en-US" sz="1600" dirty="0"/>
          </a:p>
        </p:txBody>
      </p:sp>
      <p:sp>
        <p:nvSpPr>
          <p:cNvPr id="12" name="val-card"/>
          <p:cNvSpPr/>
          <p:nvPr/>
        </p:nvSpPr>
        <p:spPr>
          <a:xfrm>
            <a:off x="548640" y="4069080"/>
            <a:ext cx="3520440" cy="2148840"/>
          </a:xfrm>
          <a:prstGeom prst="roundRect">
            <a:avLst>
              <a:gd name="adj" fmla="val 5106"/>
            </a:avLst>
          </a:prstGeom>
          <a:solidFill>
            <a:schemeClr val="bg2"/>
          </a:solidFill>
          <a:ln/>
        </p:spPr>
      </p:sp>
      <p:sp>
        <p:nvSpPr>
          <p:cNvPr id="13" name="Text 11"/>
          <p:cNvSpPr txBox="1"/>
          <p:nvPr/>
        </p:nvSpPr>
        <p:spPr>
          <a:xfrm>
            <a:off x="777240" y="4160520"/>
            <a:ext cx="3108960" cy="411480"/>
          </a:xfrm>
          <a:prstGeom prst="rect">
            <a:avLst/>
          </a:prstGeom>
          <a:noFill/>
          <a:ln/>
        </p:spPr>
        <p:txBody>
          <a:bodyPr wrap="square" lIns="0" tIns="0" rIns="0" bIns="0" rtlCol="0" anchor="t"/>
          <a:lstStyle/>
          <a:p>
            <a:pPr indent="0" marL="0">
              <a:buNone/>
            </a:pPr>
            <a:r>
              <a:rPr lang="en-US" sz="1700" b="1" dirty="0">
                <a:solidFill>
                  <a:schemeClr val="accent1"/>
                </a:solidFill>
              </a:rPr>
              <a:t>Métricas</a:t>
            </a:r>
            <a:endParaRPr lang="en-US" sz="1700" dirty="0"/>
          </a:p>
        </p:txBody>
      </p:sp>
      <p:sp>
        <p:nvSpPr>
          <p:cNvPr id="14" name="Text 12"/>
          <p:cNvSpPr txBox="1"/>
          <p:nvPr/>
        </p:nvSpPr>
        <p:spPr>
          <a:xfrm>
            <a:off x="777240" y="4572000"/>
            <a:ext cx="3154680" cy="16002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Recuperación de AUC-ROC (frente a un oráculo)</a:t>
            </a:r>
            <a:endParaRPr lang="en-US" sz="1400" dirty="0"/>
          </a:p>
          <a:p>
            <a:pPr marL="342900" indent="-342900">
              <a:spcAft>
                <a:spcPts val="300"/>
              </a:spcAft>
              <a:buSzPct val="100000"/>
              <a:buChar char="•"/>
            </a:pPr>
            <a:r>
              <a:rPr lang="en-US" sz="1400" dirty="0">
                <a:solidFill>
                  <a:schemeClr val="tx1"/>
                </a:solidFill>
              </a:rPr>
              <a:t>F1-score</a:t>
            </a:r>
            <a:endParaRPr lang="en-US" sz="1400" dirty="0"/>
          </a:p>
          <a:p>
            <a:pPr marL="342900" indent="-342900">
              <a:spcAft>
                <a:spcPts val="300"/>
              </a:spcAft>
              <a:buSzPct val="100000"/>
              <a:buChar char="•"/>
            </a:pPr>
            <a:r>
              <a:rPr lang="en-US" sz="1400" dirty="0">
                <a:solidFill>
                  <a:schemeClr val="tx1"/>
                </a:solidFill>
              </a:rPr>
              <a:t>Costo: tiempo y memoria relativos</a:t>
            </a:r>
            <a:endParaRPr lang="en-US" sz="1400" dirty="0"/>
          </a:p>
          <a:p>
            <a:pPr marL="342900" indent="-342900">
              <a:spcAft>
                <a:spcPts val="300"/>
              </a:spcAft>
              <a:buSzPct val="100000"/>
              <a:buChar char="•"/>
            </a:pPr>
            <a:r>
              <a:rPr lang="en-US" sz="1400" dirty="0">
                <a:solidFill>
                  <a:schemeClr val="tx1"/>
                </a:solidFill>
              </a:rPr>
              <a:t>Tasa de acción óptima y regret</a:t>
            </a:r>
            <a:endParaRPr lang="en-US" sz="1400" dirty="0"/>
          </a:p>
        </p:txBody>
      </p:sp>
      <p:sp>
        <p:nvSpPr>
          <p:cNvPr id="15" name="val-card"/>
          <p:cNvSpPr/>
          <p:nvPr/>
        </p:nvSpPr>
        <p:spPr>
          <a:xfrm>
            <a:off x="4297680" y="4069080"/>
            <a:ext cx="3520440" cy="2148840"/>
          </a:xfrm>
          <a:prstGeom prst="roundRect">
            <a:avLst>
              <a:gd name="adj" fmla="val 5106"/>
            </a:avLst>
          </a:prstGeom>
          <a:solidFill>
            <a:schemeClr val="bg2"/>
          </a:solidFill>
          <a:ln/>
        </p:spPr>
      </p:sp>
      <p:sp>
        <p:nvSpPr>
          <p:cNvPr id="16" name="Text 14"/>
          <p:cNvSpPr txBox="1"/>
          <p:nvPr/>
        </p:nvSpPr>
        <p:spPr>
          <a:xfrm>
            <a:off x="4526280" y="4160520"/>
            <a:ext cx="3108960" cy="411480"/>
          </a:xfrm>
          <a:prstGeom prst="rect">
            <a:avLst/>
          </a:prstGeom>
          <a:noFill/>
          <a:ln/>
        </p:spPr>
        <p:txBody>
          <a:bodyPr wrap="square" lIns="0" tIns="0" rIns="0" bIns="0" rtlCol="0" anchor="t"/>
          <a:lstStyle/>
          <a:p>
            <a:pPr indent="0" marL="0">
              <a:buNone/>
            </a:pPr>
            <a:r>
              <a:rPr lang="en-US" sz="1700" b="1" dirty="0">
                <a:solidFill>
                  <a:schemeClr val="accent1"/>
                </a:solidFill>
              </a:rPr>
              <a:t>Baselines</a:t>
            </a:r>
            <a:endParaRPr lang="en-US" sz="1700" dirty="0"/>
          </a:p>
        </p:txBody>
      </p:sp>
      <p:sp>
        <p:nvSpPr>
          <p:cNvPr id="17" name="Text 15"/>
          <p:cNvSpPr txBox="1"/>
          <p:nvPr/>
        </p:nvSpPr>
        <p:spPr>
          <a:xfrm>
            <a:off x="4526280" y="4572000"/>
            <a:ext cx="3154680" cy="16002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Siempre / nunca reentrenar</a:t>
            </a:r>
            <a:endParaRPr lang="en-US" sz="1400" dirty="0"/>
          </a:p>
          <a:p>
            <a:pPr marL="342900" indent="-342900">
              <a:spcAft>
                <a:spcPts val="300"/>
              </a:spcAft>
              <a:buSzPct val="100000"/>
              <a:buChar char="•"/>
            </a:pPr>
            <a:r>
              <a:rPr lang="en-US" sz="1400" dirty="0">
                <a:solidFill>
                  <a:schemeClr val="tx1"/>
                </a:solidFill>
              </a:rPr>
              <a:t>Umbral de ΔAUC; cada k días</a:t>
            </a:r>
            <a:endParaRPr lang="en-US" sz="1400" dirty="0"/>
          </a:p>
          <a:p>
            <a:pPr marL="342900" indent="-342900">
              <a:spcAft>
                <a:spcPts val="300"/>
              </a:spcAft>
              <a:buSzPct val="100000"/>
              <a:buChar char="•"/>
            </a:pPr>
            <a:r>
              <a:rPr lang="en-US" sz="1400" dirty="0">
                <a:solidFill>
                  <a:schemeClr val="tx1"/>
                </a:solidFill>
              </a:rPr>
              <a:t>Clasificador supervisado de acciones</a:t>
            </a:r>
            <a:endParaRPr lang="en-US" sz="1400" dirty="0"/>
          </a:p>
          <a:p>
            <a:pPr marL="342900" indent="-342900">
              <a:spcAft>
                <a:spcPts val="300"/>
              </a:spcAft>
              <a:buSzPct val="100000"/>
              <a:buChar char="•"/>
            </a:pPr>
            <a:r>
              <a:rPr lang="en-US" sz="1400" dirty="0">
                <a:solidFill>
                  <a:schemeClr val="tx1"/>
                </a:solidFill>
              </a:rPr>
              <a:t>Tabla de decisión empírica</a:t>
            </a:r>
            <a:endParaRPr lang="en-US" sz="1400" dirty="0"/>
          </a:p>
        </p:txBody>
      </p:sp>
      <p:sp>
        <p:nvSpPr>
          <p:cNvPr id="18" name="val-card"/>
          <p:cNvSpPr/>
          <p:nvPr/>
        </p:nvSpPr>
        <p:spPr>
          <a:xfrm>
            <a:off x="8046720" y="4069080"/>
            <a:ext cx="3520440" cy="2148840"/>
          </a:xfrm>
          <a:prstGeom prst="roundRect">
            <a:avLst>
              <a:gd name="adj" fmla="val 5106"/>
            </a:avLst>
          </a:prstGeom>
          <a:solidFill>
            <a:schemeClr val="bg2"/>
          </a:solidFill>
          <a:ln/>
        </p:spPr>
      </p:sp>
      <p:sp>
        <p:nvSpPr>
          <p:cNvPr id="19" name="Text 17"/>
          <p:cNvSpPr txBox="1"/>
          <p:nvPr/>
        </p:nvSpPr>
        <p:spPr>
          <a:xfrm>
            <a:off x="8275320" y="4160520"/>
            <a:ext cx="3108960" cy="411480"/>
          </a:xfrm>
          <a:prstGeom prst="rect">
            <a:avLst/>
          </a:prstGeom>
          <a:noFill/>
          <a:ln/>
        </p:spPr>
        <p:txBody>
          <a:bodyPr wrap="square" lIns="0" tIns="0" rIns="0" bIns="0" rtlCol="0" anchor="t"/>
          <a:lstStyle/>
          <a:p>
            <a:pPr indent="0" marL="0">
              <a:buNone/>
            </a:pPr>
            <a:r>
              <a:rPr lang="en-US" sz="1700" b="1" dirty="0">
                <a:solidFill>
                  <a:schemeClr val="accent1"/>
                </a:solidFill>
              </a:rPr>
              <a:t>Protocolo</a:t>
            </a:r>
            <a:endParaRPr lang="en-US" sz="1700" dirty="0"/>
          </a:p>
        </p:txBody>
      </p:sp>
      <p:sp>
        <p:nvSpPr>
          <p:cNvPr id="20" name="Text 18"/>
          <p:cNvSpPr txBox="1"/>
          <p:nvPr/>
        </p:nvSpPr>
        <p:spPr>
          <a:xfrm>
            <a:off x="8275320" y="4572000"/>
            <a:ext cx="3154680" cy="16002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2 datasets + caso temporal (fraude)</a:t>
            </a:r>
            <a:endParaRPr lang="en-US" sz="1400" dirty="0"/>
          </a:p>
          <a:p>
            <a:pPr marL="342900" indent="-342900">
              <a:spcAft>
                <a:spcPts val="300"/>
              </a:spcAft>
              <a:buSzPct val="100000"/>
              <a:buChar char="•"/>
            </a:pPr>
            <a:r>
              <a:rPr lang="en-US" sz="1400" dirty="0">
                <a:solidFill>
                  <a:schemeClr val="tx1"/>
                </a:solidFill>
              </a:rPr>
              <a:t>Combinaciones tipo × severidad no vistas en entrenamiento</a:t>
            </a:r>
            <a:endParaRPr lang="en-US" sz="1400" dirty="0"/>
          </a:p>
          <a:p>
            <a:pPr marL="342900" indent="-342900">
              <a:spcAft>
                <a:spcPts val="300"/>
              </a:spcAft>
              <a:buSzPct val="100000"/>
              <a:buChar char="•"/>
            </a:pPr>
            <a:r>
              <a:rPr lang="en-US" sz="1400" dirty="0">
                <a:solidFill>
                  <a:schemeClr val="tx1"/>
                </a:solidFill>
              </a:rPr>
              <a:t>5 semillas e IC 95 %</a:t>
            </a:r>
            <a:endParaRPr lang="en-US" sz="1400" dirty="0"/>
          </a:p>
          <a:p>
            <a:pPr marL="342900" indent="-342900">
              <a:spcAft>
                <a:spcPts val="300"/>
              </a:spcAft>
              <a:buSzPct val="100000"/>
              <a:buChar char="•"/>
            </a:pPr>
            <a:r>
              <a:rPr lang="en-US" sz="1400" dirty="0">
                <a:solidFill>
                  <a:schemeClr val="tx1"/>
                </a:solidFill>
              </a:rPr>
              <a:t>Misma definición de costo en todo</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Limitaciones: de alcance y las que encontramos</a:t>
            </a:r>
            <a:endParaRPr lang="en-US" sz="2800" dirty="0"/>
          </a:p>
        </p:txBody>
      </p:sp>
      <p:sp>
        <p:nvSpPr>
          <p:cNvPr id="3" name="lim-card"/>
          <p:cNvSpPr/>
          <p:nvPr/>
        </p:nvSpPr>
        <p:spPr>
          <a:xfrm>
            <a:off x="548640" y="1371600"/>
            <a:ext cx="5394960" cy="4206240"/>
          </a:xfrm>
          <a:prstGeom prst="roundRect">
            <a:avLst>
              <a:gd name="adj" fmla="val 2609"/>
            </a:avLst>
          </a:prstGeom>
          <a:solidFill>
            <a:schemeClr val="bg2"/>
          </a:solidFill>
          <a:ln/>
        </p:spPr>
      </p:sp>
      <p:sp>
        <p:nvSpPr>
          <p:cNvPr id="4" name="icon-circle"/>
          <p:cNvSpPr/>
          <p:nvPr/>
        </p:nvSpPr>
        <p:spPr>
          <a:xfrm>
            <a:off x="822960" y="1600200"/>
            <a:ext cx="640080" cy="640080"/>
          </a:xfrm>
          <a:prstGeom prst="ellipse">
            <a:avLst/>
          </a:prstGeom>
          <a:solidFill>
            <a:schemeClr val="accent6"/>
          </a:solidFill>
          <a:ln/>
        </p:spPr>
      </p:sp>
      <p:pic>
        <p:nvPicPr>
          <p:cNvPr id="5" name="icon"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1645920" y="1600200"/>
            <a:ext cx="4114800" cy="640080"/>
          </a:xfrm>
          <a:prstGeom prst="rect">
            <a:avLst/>
          </a:prstGeom>
          <a:noFill/>
          <a:ln/>
        </p:spPr>
        <p:txBody>
          <a:bodyPr wrap="square" lIns="0" tIns="0" rIns="0" bIns="0" rtlCol="0" anchor="ctr"/>
          <a:lstStyle/>
          <a:p>
            <a:pPr indent="0" marL="0">
              <a:buNone/>
            </a:pPr>
            <a:r>
              <a:rPr lang="en-US" sz="2000" b="1" dirty="0">
                <a:solidFill>
                  <a:schemeClr val="tx1"/>
                </a:solidFill>
              </a:rPr>
              <a:t>De alcance (por diseño)</a:t>
            </a:r>
            <a:endParaRPr lang="en-US" sz="2000" dirty="0"/>
          </a:p>
        </p:txBody>
      </p:sp>
      <p:sp>
        <p:nvSpPr>
          <p:cNvPr id="7" name="Text 4"/>
          <p:cNvSpPr txBox="1"/>
          <p:nvPr/>
        </p:nvSpPr>
        <p:spPr>
          <a:xfrm>
            <a:off x="822960" y="2468880"/>
            <a:ext cx="489204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Clasificación binaria tabular en batch; no streaming</a:t>
            </a:r>
            <a:endParaRPr lang="en-US" sz="1600" dirty="0"/>
          </a:p>
          <a:p>
            <a:pPr marL="342900" indent="-342900">
              <a:spcAft>
                <a:spcPts val="1000"/>
              </a:spcAft>
              <a:buSzPct val="100000"/>
              <a:buChar char="•"/>
            </a:pPr>
            <a:r>
              <a:rPr lang="en-US" sz="1600" dirty="0">
                <a:solidFill>
                  <a:schemeClr val="tx1"/>
                </a:solidFill>
              </a:rPr>
              <a:t>2 datasets y 1 modelo principal (XGBoost)</a:t>
            </a:r>
            <a:endParaRPr lang="en-US" sz="1600" dirty="0"/>
          </a:p>
          <a:p>
            <a:pPr marL="342900" indent="-342900">
              <a:spcAft>
                <a:spcPts val="1000"/>
              </a:spcAft>
              <a:buSzPct val="100000"/>
              <a:buChar char="•"/>
            </a:pPr>
            <a:r>
              <a:rPr lang="en-US" sz="1600" dirty="0">
                <a:solidFill>
                  <a:schemeClr val="tx1"/>
                </a:solidFill>
              </a:rPr>
              <a:t>Se asumen etiquetas disponibles; en la realidad llegan tarde [7]</a:t>
            </a:r>
            <a:endParaRPr lang="en-US" sz="1600" dirty="0"/>
          </a:p>
          <a:p>
            <a:pPr marL="342900" indent="-342900">
              <a:spcAft>
                <a:spcPts val="1000"/>
              </a:spcAft>
              <a:buSzPct val="100000"/>
              <a:buChar char="•"/>
            </a:pPr>
            <a:r>
              <a:rPr lang="en-US" sz="1600" dirty="0">
                <a:solidFill>
                  <a:schemeClr val="tx1"/>
                </a:solidFill>
              </a:rPr>
              <a:t>Drift sintético; TableShift es shift estático, no temporal [1]</a:t>
            </a:r>
            <a:endParaRPr lang="en-US" sz="1600" dirty="0"/>
          </a:p>
          <a:p>
            <a:pPr marL="342900" indent="-342900">
              <a:spcAft>
                <a:spcPts val="1000"/>
              </a:spcAft>
              <a:buSzPct val="100000"/>
              <a:buChar char="•"/>
            </a:pPr>
            <a:r>
              <a:rPr lang="en-US" sz="1600" dirty="0">
                <a:solidFill>
                  <a:schemeClr val="tx1"/>
                </a:solidFill>
              </a:rPr>
              <a:t>Sin despliegue ni integración con MLflow/Airflow</a:t>
            </a:r>
            <a:endParaRPr lang="en-US" sz="1600" dirty="0"/>
          </a:p>
        </p:txBody>
      </p:sp>
      <p:sp>
        <p:nvSpPr>
          <p:cNvPr id="8" name="lim-card"/>
          <p:cNvSpPr/>
          <p:nvPr/>
        </p:nvSpPr>
        <p:spPr>
          <a:xfrm>
            <a:off x="6217920" y="1371600"/>
            <a:ext cx="5394960" cy="4206240"/>
          </a:xfrm>
          <a:prstGeom prst="roundRect">
            <a:avLst>
              <a:gd name="adj" fmla="val 2609"/>
            </a:avLst>
          </a:prstGeom>
          <a:solidFill>
            <a:schemeClr val="bg2"/>
          </a:solidFill>
          <a:ln/>
        </p:spPr>
      </p:sp>
      <p:sp>
        <p:nvSpPr>
          <p:cNvPr id="9" name="icon-circle"/>
          <p:cNvSpPr/>
          <p:nvPr/>
        </p:nvSpPr>
        <p:spPr>
          <a:xfrm>
            <a:off x="6492240" y="1600200"/>
            <a:ext cx="640080" cy="640080"/>
          </a:xfrm>
          <a:prstGeom prst="ellipse">
            <a:avLst/>
          </a:prstGeom>
          <a:solidFill>
            <a:schemeClr val="accent3"/>
          </a:solidFill>
          <a:ln/>
        </p:spPr>
      </p:sp>
      <p:pic>
        <p:nvPicPr>
          <p:cNvPr id="10" name="icon" descr="preencoded.png">    </p:cNvPr>
          <p:cNvPicPr>
            <a:picLocks noChangeAspect="1"/>
          </p:cNvPicPr>
          <p:nvPr/>
        </p:nvPicPr>
        <p:blipFill>
          <a:blip r:embed="rId2"/>
          <a:stretch>
            <a:fillRect/>
          </a:stretch>
        </p:blipFill>
        <p:spPr>
          <a:xfrm>
            <a:off x="6645859" y="1753819"/>
            <a:ext cx="332842" cy="332842"/>
          </a:xfrm>
          <a:prstGeom prst="rect">
            <a:avLst/>
          </a:prstGeom>
        </p:spPr>
      </p:pic>
      <p:sp>
        <p:nvSpPr>
          <p:cNvPr id="11" name="Text 7"/>
          <p:cNvSpPr txBox="1"/>
          <p:nvPr/>
        </p:nvSpPr>
        <p:spPr>
          <a:xfrm>
            <a:off x="7315200" y="1600200"/>
            <a:ext cx="4114800" cy="640080"/>
          </a:xfrm>
          <a:prstGeom prst="rect">
            <a:avLst/>
          </a:prstGeom>
          <a:noFill/>
          <a:ln/>
        </p:spPr>
        <p:txBody>
          <a:bodyPr wrap="square" lIns="0" tIns="0" rIns="0" bIns="0" rtlCol="0" anchor="ctr"/>
          <a:lstStyle/>
          <a:p>
            <a:pPr indent="0" marL="0">
              <a:buNone/>
            </a:pPr>
            <a:r>
              <a:rPr lang="en-US" sz="2000" b="1" dirty="0">
                <a:solidFill>
                  <a:schemeClr val="tx1"/>
                </a:solidFill>
              </a:rPr>
              <a:t>Encontradas en el trabajo</a:t>
            </a:r>
            <a:endParaRPr lang="en-US" sz="2000" dirty="0"/>
          </a:p>
        </p:txBody>
      </p:sp>
      <p:sp>
        <p:nvSpPr>
          <p:cNvPr id="12" name="Text 8"/>
          <p:cNvSpPr txBox="1"/>
          <p:nvPr/>
        </p:nvSpPr>
        <p:spPr>
          <a:xfrm>
            <a:off x="6492240" y="2468880"/>
            <a:ext cx="489204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Demo PPO sintética y liviana: valida el flujo, no la convergencia</a:t>
            </a:r>
            <a:endParaRPr lang="en-US" sz="1600" dirty="0"/>
          </a:p>
          <a:p>
            <a:pPr marL="342900" indent="-342900">
              <a:spcAft>
                <a:spcPts val="1000"/>
              </a:spcAft>
              <a:buSzPct val="100000"/>
              <a:buChar char="•"/>
            </a:pPr>
            <a:r>
              <a:rPr lang="en-US" sz="1600" dirty="0">
                <a:solidFill>
                  <a:schemeClr val="tx1"/>
                </a:solidFill>
              </a:rPr>
              <a:t>Pasos independientes: falta dependencia temporal que justifique RL</a:t>
            </a:r>
            <a:endParaRPr lang="en-US" sz="1600" dirty="0"/>
          </a:p>
          <a:p>
            <a:pPr marL="342900" indent="-342900">
              <a:spcAft>
                <a:spcPts val="1000"/>
              </a:spcAft>
              <a:buSzPct val="100000"/>
              <a:buChar char="•"/>
            </a:pPr>
            <a:r>
              <a:rPr lang="en-US" sz="1600" dirty="0">
                <a:solidFill>
                  <a:schemeClr val="tx1"/>
                </a:solidFill>
              </a:rPr>
              <a:t>PPO nunca eligió Defer ni Retrain all (posible sesgo de λ_C)</a:t>
            </a:r>
            <a:endParaRPr lang="en-US" sz="1600" dirty="0"/>
          </a:p>
          <a:p>
            <a:pPr marL="342900" indent="-342900">
              <a:spcAft>
                <a:spcPts val="1000"/>
              </a:spcAft>
              <a:buSzPct val="100000"/>
              <a:buChar char="•"/>
            </a:pPr>
            <a:r>
              <a:rPr lang="en-US" sz="1600" dirty="0">
                <a:solidFill>
                  <a:schemeClr val="tx1"/>
                </a:solidFill>
              </a:rPr>
              <a:t>Diabetes: ninguna acción recupera bajo drift combinado</a:t>
            </a:r>
            <a:endParaRPr lang="en-US" sz="1600" dirty="0"/>
          </a:p>
          <a:p>
            <a:pPr marL="342900" indent="-342900">
              <a:spcAft>
                <a:spcPts val="1000"/>
              </a:spcAft>
              <a:buSzPct val="100000"/>
              <a:buChar char="•"/>
            </a:pPr>
            <a:r>
              <a:rPr lang="en-US" sz="1600" dirty="0">
                <a:solidFill>
                  <a:schemeClr val="tx1"/>
                </a:solidFill>
              </a:rPr>
              <a:t>Bugs: DriftInjector con variables con muchos ceros; make_logreg da AUC ≈ 0.51</a:t>
            </a:r>
            <a:endParaRPr lang="en-US" sz="1600" dirty="0"/>
          </a:p>
        </p:txBody>
      </p:sp>
      <p:sp>
        <p:nvSpPr>
          <p:cNvPr id="13"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Fuentes: Introducción y Cap. IV de la tesis; notebooks de compatibilidad; [1], [7].</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Siguiente paso: validar DARL con drift temporal real (fraude)</a:t>
            </a:r>
            <a:endParaRPr lang="en-US" sz="2800" dirty="0"/>
          </a:p>
        </p:txBody>
      </p:sp>
      <p:sp>
        <p:nvSpPr>
          <p:cNvPr id="3" name="icon-circle"/>
          <p:cNvSpPr/>
          <p:nvPr/>
        </p:nvSpPr>
        <p:spPr>
          <a:xfrm>
            <a:off x="548640" y="1371600"/>
            <a:ext cx="685800" cy="685800"/>
          </a:xfrm>
          <a:prstGeom prst="ellipse">
            <a:avLst/>
          </a:prstGeom>
          <a:solidFill>
            <a:schemeClr val="accent2"/>
          </a:solidFill>
          <a:ln/>
        </p:spPr>
      </p:sp>
      <p:pic>
        <p:nvPicPr>
          <p:cNvPr id="4" name="icon" descr="preencoded.png">    </p:cNvPr>
          <p:cNvPicPr>
            <a:picLocks noChangeAspect="1"/>
          </p:cNvPicPr>
          <p:nvPr/>
        </p:nvPicPr>
        <p:blipFill>
          <a:blip r:embed="rId1"/>
          <a:stretch>
            <a:fillRect/>
          </a:stretch>
        </p:blipFill>
        <p:spPr>
          <a:xfrm>
            <a:off x="713232" y="1536192"/>
            <a:ext cx="356616" cy="356616"/>
          </a:xfrm>
          <a:prstGeom prst="rect">
            <a:avLst/>
          </a:prstGeom>
        </p:spPr>
      </p:pic>
      <p:sp>
        <p:nvSpPr>
          <p:cNvPr id="5" name="Text 2"/>
          <p:cNvSpPr txBox="1"/>
          <p:nvPr/>
        </p:nvSpPr>
        <p:spPr>
          <a:xfrm>
            <a:off x="1371600" y="1371600"/>
            <a:ext cx="4754880" cy="685800"/>
          </a:xfrm>
          <a:prstGeom prst="rect">
            <a:avLst/>
          </a:prstGeom>
          <a:noFill/>
          <a:ln/>
        </p:spPr>
        <p:txBody>
          <a:bodyPr wrap="square" lIns="0" tIns="0" rIns="0" bIns="0" rtlCol="0" anchor="ctr"/>
          <a:lstStyle/>
          <a:p>
            <a:pPr indent="0" marL="0">
              <a:buNone/>
            </a:pPr>
            <a:r>
              <a:rPr lang="en-US" sz="1800" b="1" dirty="0">
                <a:solidFill>
                  <a:schemeClr val="tx1"/>
                </a:solidFill>
              </a:rPr>
              <a:t>IEEE-CIS Fraud Detection [14]</a:t>
            </a:r>
            <a:endParaRPr lang="en-US" sz="1800" dirty="0"/>
          </a:p>
        </p:txBody>
      </p:sp>
      <p:sp>
        <p:nvSpPr>
          <p:cNvPr id="6" name="Text 3"/>
          <p:cNvSpPr txBox="1"/>
          <p:nvPr/>
        </p:nvSpPr>
        <p:spPr>
          <a:xfrm>
            <a:off x="548640" y="2194560"/>
            <a:ext cx="1783080" cy="54864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590 540</a:t>
            </a:r>
            <a:endParaRPr lang="en-US" sz="2600" dirty="0"/>
          </a:p>
        </p:txBody>
      </p:sp>
      <p:sp>
        <p:nvSpPr>
          <p:cNvPr id="7" name="Text 4"/>
          <p:cNvSpPr txBox="1"/>
          <p:nvPr/>
        </p:nvSpPr>
        <p:spPr>
          <a:xfrm>
            <a:off x="548640" y="2743200"/>
            <a:ext cx="1783080" cy="320040"/>
          </a:xfrm>
          <a:prstGeom prst="rect">
            <a:avLst/>
          </a:prstGeom>
          <a:noFill/>
          <a:ln/>
        </p:spPr>
        <p:txBody>
          <a:bodyPr wrap="square" lIns="0" tIns="0" rIns="0" bIns="0" rtlCol="0" anchor="t"/>
          <a:lstStyle/>
          <a:p>
            <a:pPr indent="0" marL="0">
              <a:buNone/>
            </a:pPr>
            <a:r>
              <a:rPr lang="en-US" sz="1300" dirty="0">
                <a:solidFill>
                  <a:schemeClr val="tx2"/>
                </a:solidFill>
              </a:rPr>
              <a:t>transacciones</a:t>
            </a:r>
            <a:endParaRPr lang="en-US" sz="1300" dirty="0"/>
          </a:p>
        </p:txBody>
      </p:sp>
      <p:sp>
        <p:nvSpPr>
          <p:cNvPr id="8" name="Text 5"/>
          <p:cNvSpPr txBox="1"/>
          <p:nvPr/>
        </p:nvSpPr>
        <p:spPr>
          <a:xfrm>
            <a:off x="2423160" y="2194560"/>
            <a:ext cx="1783080" cy="54864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182</a:t>
            </a:r>
            <a:endParaRPr lang="en-US" sz="2600" dirty="0"/>
          </a:p>
        </p:txBody>
      </p:sp>
      <p:sp>
        <p:nvSpPr>
          <p:cNvPr id="9" name="Text 6"/>
          <p:cNvSpPr txBox="1"/>
          <p:nvPr/>
        </p:nvSpPr>
        <p:spPr>
          <a:xfrm>
            <a:off x="2423160" y="2743200"/>
            <a:ext cx="1783080" cy="320040"/>
          </a:xfrm>
          <a:prstGeom prst="rect">
            <a:avLst/>
          </a:prstGeom>
          <a:noFill/>
          <a:ln/>
        </p:spPr>
        <p:txBody>
          <a:bodyPr wrap="square" lIns="0" tIns="0" rIns="0" bIns="0" rtlCol="0" anchor="t"/>
          <a:lstStyle/>
          <a:p>
            <a:pPr indent="0" marL="0">
              <a:buNone/>
            </a:pPr>
            <a:r>
              <a:rPr lang="en-US" sz="1300" dirty="0">
                <a:solidFill>
                  <a:schemeClr val="tx2"/>
                </a:solidFill>
              </a:rPr>
              <a:t>días etiquetados</a:t>
            </a:r>
            <a:endParaRPr lang="en-US" sz="1300" dirty="0"/>
          </a:p>
        </p:txBody>
      </p:sp>
      <p:sp>
        <p:nvSpPr>
          <p:cNvPr id="10" name="Text 7"/>
          <p:cNvSpPr txBox="1"/>
          <p:nvPr/>
        </p:nvSpPr>
        <p:spPr>
          <a:xfrm>
            <a:off x="4297680" y="2194560"/>
            <a:ext cx="1783080" cy="54864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3.5 %</a:t>
            </a:r>
            <a:endParaRPr lang="en-US" sz="2600" dirty="0"/>
          </a:p>
        </p:txBody>
      </p:sp>
      <p:sp>
        <p:nvSpPr>
          <p:cNvPr id="11" name="Text 8"/>
          <p:cNvSpPr txBox="1"/>
          <p:nvPr/>
        </p:nvSpPr>
        <p:spPr>
          <a:xfrm>
            <a:off x="4297680" y="2743200"/>
            <a:ext cx="1783080" cy="320040"/>
          </a:xfrm>
          <a:prstGeom prst="rect">
            <a:avLst/>
          </a:prstGeom>
          <a:noFill/>
          <a:ln/>
        </p:spPr>
        <p:txBody>
          <a:bodyPr wrap="square" lIns="0" tIns="0" rIns="0" bIns="0" rtlCol="0" anchor="t"/>
          <a:lstStyle/>
          <a:p>
            <a:pPr indent="0" marL="0">
              <a:buNone/>
            </a:pPr>
            <a:r>
              <a:rPr lang="en-US" sz="1300" dirty="0">
                <a:solidFill>
                  <a:schemeClr val="tx2"/>
                </a:solidFill>
              </a:rPr>
              <a:t>de fraude</a:t>
            </a:r>
            <a:endParaRPr lang="en-US" sz="1300" dirty="0"/>
          </a:p>
        </p:txBody>
      </p:sp>
      <p:sp>
        <p:nvSpPr>
          <p:cNvPr id="12" name="timeline-seg"/>
          <p:cNvSpPr/>
          <p:nvPr/>
        </p:nvSpPr>
        <p:spPr>
          <a:xfrm>
            <a:off x="548640" y="3429000"/>
            <a:ext cx="2676479" cy="502920"/>
          </a:xfrm>
          <a:prstGeom prst="rect">
            <a:avLst/>
          </a:prstGeom>
          <a:solidFill>
            <a:schemeClr val="accent1"/>
          </a:solidFill>
          <a:ln/>
        </p:spPr>
      </p:sp>
      <p:sp>
        <p:nvSpPr>
          <p:cNvPr id="13" name="Text 10"/>
          <p:cNvSpPr txBox="1"/>
          <p:nvPr/>
        </p:nvSpPr>
        <p:spPr>
          <a:xfrm>
            <a:off x="548640" y="3429000"/>
            <a:ext cx="2676479" cy="502920"/>
          </a:xfrm>
          <a:prstGeom prst="rect">
            <a:avLst/>
          </a:prstGeom>
          <a:noFill/>
          <a:ln/>
        </p:spPr>
        <p:txBody>
          <a:bodyPr wrap="square" lIns="0" tIns="0" rIns="0" bIns="0" rtlCol="0" anchor="ctr"/>
          <a:lstStyle/>
          <a:p>
            <a:pPr algn="ctr" indent="0" marL="0">
              <a:buNone/>
            </a:pPr>
            <a:r>
              <a:rPr lang="en-US" sz="1200" b="1" dirty="0">
                <a:solidFill>
                  <a:schemeClr val="bg1"/>
                </a:solidFill>
              </a:rPr>
              <a:t>Entrenamiento</a:t>
            </a:r>
            <a:endParaRPr lang="en-US" sz="1200" dirty="0"/>
          </a:p>
        </p:txBody>
      </p:sp>
      <p:sp>
        <p:nvSpPr>
          <p:cNvPr id="14" name="Text 11"/>
          <p:cNvSpPr txBox="1"/>
          <p:nvPr/>
        </p:nvSpPr>
        <p:spPr>
          <a:xfrm>
            <a:off x="548640" y="3977640"/>
            <a:ext cx="822960" cy="274320"/>
          </a:xfrm>
          <a:prstGeom prst="rect">
            <a:avLst/>
          </a:prstGeom>
          <a:noFill/>
          <a:ln/>
        </p:spPr>
        <p:txBody>
          <a:bodyPr wrap="square" lIns="0" tIns="0" rIns="0" bIns="0" rtlCol="0" anchor="t"/>
          <a:lstStyle/>
          <a:p>
            <a:pPr indent="0" marL="0">
              <a:buNone/>
            </a:pPr>
            <a:r>
              <a:rPr lang="en-US" sz="1100" dirty="0">
                <a:solidFill>
                  <a:schemeClr val="tx2"/>
                </a:solidFill>
              </a:rPr>
              <a:t>día 0</a:t>
            </a:r>
            <a:endParaRPr lang="en-US" sz="1100" dirty="0"/>
          </a:p>
        </p:txBody>
      </p:sp>
      <p:sp>
        <p:nvSpPr>
          <p:cNvPr id="15" name="timeline-seg"/>
          <p:cNvSpPr/>
          <p:nvPr/>
        </p:nvSpPr>
        <p:spPr>
          <a:xfrm>
            <a:off x="3261695" y="3429000"/>
            <a:ext cx="1772127" cy="502920"/>
          </a:xfrm>
          <a:prstGeom prst="rect">
            <a:avLst/>
          </a:prstGeom>
          <a:solidFill>
            <a:schemeClr val="accent4"/>
          </a:solidFill>
          <a:ln/>
        </p:spPr>
      </p:sp>
      <p:sp>
        <p:nvSpPr>
          <p:cNvPr id="16" name="Text 13"/>
          <p:cNvSpPr txBox="1"/>
          <p:nvPr/>
        </p:nvSpPr>
        <p:spPr>
          <a:xfrm>
            <a:off x="3261695" y="3429000"/>
            <a:ext cx="1772127" cy="502920"/>
          </a:xfrm>
          <a:prstGeom prst="rect">
            <a:avLst/>
          </a:prstGeom>
          <a:noFill/>
          <a:ln/>
        </p:spPr>
        <p:txBody>
          <a:bodyPr wrap="square" lIns="0" tIns="0" rIns="0" bIns="0" rtlCol="0" anchor="ctr"/>
          <a:lstStyle/>
          <a:p>
            <a:pPr algn="ctr" indent="0" marL="0">
              <a:buNone/>
            </a:pPr>
            <a:r>
              <a:rPr lang="en-US" sz="1200" b="1" dirty="0">
                <a:solidFill>
                  <a:schemeClr val="bg1"/>
                </a:solidFill>
              </a:rPr>
              <a:t>Validación</a:t>
            </a:r>
            <a:endParaRPr lang="en-US" sz="1200" dirty="0"/>
          </a:p>
        </p:txBody>
      </p:sp>
      <p:sp>
        <p:nvSpPr>
          <p:cNvPr id="17" name="Text 14"/>
          <p:cNvSpPr txBox="1"/>
          <p:nvPr/>
        </p:nvSpPr>
        <p:spPr>
          <a:xfrm>
            <a:off x="3261695" y="3977640"/>
            <a:ext cx="822960" cy="274320"/>
          </a:xfrm>
          <a:prstGeom prst="rect">
            <a:avLst/>
          </a:prstGeom>
          <a:noFill/>
          <a:ln/>
        </p:spPr>
        <p:txBody>
          <a:bodyPr wrap="square" lIns="0" tIns="0" rIns="0" bIns="0" rtlCol="0" anchor="t"/>
          <a:lstStyle/>
          <a:p>
            <a:pPr indent="0" marL="0">
              <a:buNone/>
            </a:pPr>
            <a:r>
              <a:rPr lang="en-US" sz="1100" dirty="0">
                <a:solidFill>
                  <a:schemeClr val="tx2"/>
                </a:solidFill>
              </a:rPr>
              <a:t>día 90</a:t>
            </a:r>
            <a:endParaRPr lang="en-US" sz="1100" dirty="0"/>
          </a:p>
        </p:txBody>
      </p:sp>
      <p:sp>
        <p:nvSpPr>
          <p:cNvPr id="18" name="timeline-seg"/>
          <p:cNvSpPr/>
          <p:nvPr/>
        </p:nvSpPr>
        <p:spPr>
          <a:xfrm>
            <a:off x="5070398" y="3429000"/>
            <a:ext cx="928066" cy="502920"/>
          </a:xfrm>
          <a:prstGeom prst="rect">
            <a:avLst/>
          </a:prstGeom>
          <a:solidFill>
            <a:schemeClr val="accent3"/>
          </a:solidFill>
          <a:ln/>
        </p:spPr>
      </p:sp>
      <p:sp>
        <p:nvSpPr>
          <p:cNvPr id="19" name="Text 16"/>
          <p:cNvSpPr txBox="1"/>
          <p:nvPr/>
        </p:nvSpPr>
        <p:spPr>
          <a:xfrm>
            <a:off x="5070398" y="3429000"/>
            <a:ext cx="928066" cy="502920"/>
          </a:xfrm>
          <a:prstGeom prst="rect">
            <a:avLst/>
          </a:prstGeom>
          <a:noFill/>
          <a:ln/>
        </p:spPr>
        <p:txBody>
          <a:bodyPr wrap="square" lIns="0" tIns="0" rIns="0" bIns="0" rtlCol="0" anchor="ctr"/>
          <a:lstStyle/>
          <a:p>
            <a:pPr algn="ctr" indent="0" marL="0">
              <a:buNone/>
            </a:pPr>
            <a:r>
              <a:rPr lang="en-US" sz="1200" b="1" dirty="0">
                <a:solidFill>
                  <a:schemeClr val="bg1"/>
                </a:solidFill>
              </a:rPr>
              <a:t>Hold-out</a:t>
            </a:r>
            <a:endParaRPr lang="en-US" sz="1200" dirty="0"/>
          </a:p>
        </p:txBody>
      </p:sp>
      <p:sp>
        <p:nvSpPr>
          <p:cNvPr id="20" name="Text 17"/>
          <p:cNvSpPr txBox="1"/>
          <p:nvPr/>
        </p:nvSpPr>
        <p:spPr>
          <a:xfrm>
            <a:off x="5070398" y="3977640"/>
            <a:ext cx="822960" cy="274320"/>
          </a:xfrm>
          <a:prstGeom prst="rect">
            <a:avLst/>
          </a:prstGeom>
          <a:noFill/>
          <a:ln/>
        </p:spPr>
        <p:txBody>
          <a:bodyPr wrap="square" lIns="0" tIns="0" rIns="0" bIns="0" rtlCol="0" anchor="t"/>
          <a:lstStyle/>
          <a:p>
            <a:pPr indent="0" marL="0">
              <a:buNone/>
            </a:pPr>
            <a:r>
              <a:rPr lang="en-US" sz="1100" dirty="0">
                <a:solidFill>
                  <a:schemeClr val="tx2"/>
                </a:solidFill>
              </a:rPr>
              <a:t>día 150</a:t>
            </a:r>
            <a:endParaRPr lang="en-US" sz="1100" dirty="0"/>
          </a:p>
        </p:txBody>
      </p:sp>
      <p:sp>
        <p:nvSpPr>
          <p:cNvPr id="21" name="Text 18"/>
          <p:cNvSpPr txBox="1"/>
          <p:nvPr/>
        </p:nvSpPr>
        <p:spPr>
          <a:xfrm>
            <a:off x="5349240" y="3977640"/>
            <a:ext cx="685800" cy="274320"/>
          </a:xfrm>
          <a:prstGeom prst="rect">
            <a:avLst/>
          </a:prstGeom>
          <a:noFill/>
          <a:ln/>
        </p:spPr>
        <p:txBody>
          <a:bodyPr wrap="square" lIns="0" tIns="0" rIns="0" bIns="0" rtlCol="0" anchor="t"/>
          <a:lstStyle/>
          <a:p>
            <a:pPr algn="r" indent="0" marL="0">
              <a:buNone/>
            </a:pPr>
            <a:r>
              <a:rPr lang="en-US" sz="1100" dirty="0">
                <a:solidFill>
                  <a:schemeClr val="tx2"/>
                </a:solidFill>
              </a:rPr>
              <a:t>día 182</a:t>
            </a:r>
            <a:endParaRPr lang="en-US" sz="1100" dirty="0"/>
          </a:p>
        </p:txBody>
      </p:sp>
      <p:sp>
        <p:nvSpPr>
          <p:cNvPr id="22" name="Text 19"/>
          <p:cNvSpPr txBox="1"/>
          <p:nvPr/>
        </p:nvSpPr>
        <p:spPr>
          <a:xfrm>
            <a:off x="548640" y="4389120"/>
            <a:ext cx="5486400" cy="822960"/>
          </a:xfrm>
          <a:prstGeom prst="rect">
            <a:avLst/>
          </a:prstGeom>
          <a:noFill/>
          <a:ln/>
        </p:spPr>
        <p:txBody>
          <a:bodyPr wrap="square" lIns="0" tIns="0" rIns="0" bIns="0" rtlCol="0" anchor="t"/>
          <a:lstStyle/>
          <a:p>
            <a:pPr indent="0" marL="0">
              <a:buNone/>
            </a:pPr>
            <a:r>
              <a:rPr lang="en-US" sz="1400" dirty="0">
                <a:solidFill>
                  <a:schemeClr val="tx1"/>
                </a:solidFill>
              </a:rPr>
              <a:t>Ventanas deslizantes de 7 días: en cada paso se miden señales, el agente decide y el modelo elegido enfrenta la ventana siguiente.</a:t>
            </a:r>
            <a:endParaRPr lang="en-US" sz="1400" dirty="0"/>
          </a:p>
        </p:txBody>
      </p:sp>
      <p:sp>
        <p:nvSpPr>
          <p:cNvPr id="23" name="Text 20"/>
          <p:cNvSpPr txBox="1"/>
          <p:nvPr/>
        </p:nvSpPr>
        <p:spPr>
          <a:xfrm>
            <a:off x="548640" y="5303520"/>
            <a:ext cx="5486400" cy="731520"/>
          </a:xfrm>
          <a:prstGeom prst="rect">
            <a:avLst/>
          </a:prstGeom>
          <a:noFill/>
          <a:ln/>
        </p:spPr>
        <p:txBody>
          <a:bodyPr wrap="square" lIns="0" tIns="0" rIns="0" bIns="0" rtlCol="0" anchor="t"/>
          <a:lstStyle/>
          <a:p>
            <a:pPr indent="0" marL="0">
              <a:buNone/>
            </a:pPr>
            <a:r>
              <a:rPr lang="en-US" sz="1300" i="1" dirty="0">
                <a:solidFill>
                  <a:schemeClr val="accent3"/>
                </a:solidFill>
              </a:rPr>
              <a:t>El test de Kaggle no trae etiquetas: toda la simulación ocurre dentro de los 182 días.</a:t>
            </a:r>
            <a:endParaRPr lang="en-US" sz="1300" dirty="0"/>
          </a:p>
        </p:txBody>
      </p:sp>
      <p:sp>
        <p:nvSpPr>
          <p:cNvPr id="24" name="agente-fraude"/>
          <p:cNvSpPr/>
          <p:nvPr/>
        </p:nvSpPr>
        <p:spPr>
          <a:xfrm>
            <a:off x="6400800" y="1371600"/>
            <a:ext cx="5212080" cy="4800600"/>
          </a:xfrm>
          <a:prstGeom prst="roundRect">
            <a:avLst>
              <a:gd name="adj" fmla="val 2286"/>
            </a:avLst>
          </a:prstGeom>
          <a:solidFill>
            <a:schemeClr val="bg2"/>
          </a:solidFill>
          <a:ln/>
        </p:spPr>
      </p:sp>
      <p:sp>
        <p:nvSpPr>
          <p:cNvPr id="25" name="Text 22"/>
          <p:cNvSpPr txBox="1"/>
          <p:nvPr/>
        </p:nvSpPr>
        <p:spPr>
          <a:xfrm>
            <a:off x="6675120" y="1554480"/>
            <a:ext cx="4754880" cy="457200"/>
          </a:xfrm>
          <a:prstGeom prst="rect">
            <a:avLst/>
          </a:prstGeom>
          <a:noFill/>
          <a:ln/>
        </p:spPr>
        <p:txBody>
          <a:bodyPr wrap="square" lIns="0" tIns="0" rIns="0" bIns="0" rtlCol="0" anchor="t"/>
          <a:lstStyle/>
          <a:p>
            <a:pPr indent="0" marL="0">
              <a:buNone/>
            </a:pPr>
            <a:r>
              <a:rPr lang="en-US" sz="2000" b="1" dirty="0">
                <a:solidFill>
                  <a:schemeClr val="tx1"/>
                </a:solidFill>
              </a:rPr>
              <a:t>Agente secuencial</a:t>
            </a:r>
            <a:endParaRPr lang="en-US" sz="2000" dirty="0"/>
          </a:p>
        </p:txBody>
      </p:sp>
      <p:sp>
        <p:nvSpPr>
          <p:cNvPr id="26" name="Text 23"/>
          <p:cNvSpPr txBox="1"/>
          <p:nvPr/>
        </p:nvSpPr>
        <p:spPr>
          <a:xfrm>
            <a:off x="6675120" y="2148840"/>
            <a:ext cx="4754880" cy="347472"/>
          </a:xfrm>
          <a:prstGeom prst="rect">
            <a:avLst/>
          </a:prstGeom>
          <a:noFill/>
          <a:ln/>
        </p:spPr>
        <p:txBody>
          <a:bodyPr wrap="square" lIns="0" tIns="0" rIns="0" bIns="0" rtlCol="0" anchor="t"/>
          <a:lstStyle/>
          <a:p>
            <a:pPr indent="0" marL="0">
              <a:buNone/>
            </a:pPr>
            <a:r>
              <a:rPr lang="en-US" sz="1500" b="1" dirty="0">
                <a:solidFill>
                  <a:schemeClr val="accent1"/>
                </a:solidFill>
              </a:rPr>
              <a:t>Estado (3 × 3 × 3 = 27)</a:t>
            </a:r>
            <a:endParaRPr lang="en-US" sz="1500" dirty="0"/>
          </a:p>
        </p:txBody>
      </p:sp>
      <p:sp>
        <p:nvSpPr>
          <p:cNvPr id="27" name="Text 24"/>
          <p:cNvSpPr txBox="1"/>
          <p:nvPr/>
        </p:nvSpPr>
        <p:spPr>
          <a:xfrm>
            <a:off x="6675120" y="2496312"/>
            <a:ext cx="4754880" cy="594360"/>
          </a:xfrm>
          <a:prstGeom prst="rect">
            <a:avLst/>
          </a:prstGeom>
          <a:noFill/>
          <a:ln/>
        </p:spPr>
        <p:txBody>
          <a:bodyPr wrap="square" lIns="0" tIns="0" rIns="0" bIns="0" rtlCol="0" anchor="t"/>
          <a:lstStyle/>
          <a:p>
            <a:pPr indent="0" marL="0">
              <a:buNone/>
            </a:pPr>
            <a:r>
              <a:rPr lang="en-US" sz="1400" dirty="0">
                <a:solidFill>
                  <a:schemeClr val="tx1"/>
                </a:solidFill>
              </a:rPr>
              <a:t>severidad covariate S_X · caída ΔAUC · días desde el último reentrenamiento</a:t>
            </a:r>
            <a:endParaRPr lang="en-US" sz="1400" dirty="0"/>
          </a:p>
        </p:txBody>
      </p:sp>
      <p:sp>
        <p:nvSpPr>
          <p:cNvPr id="28" name="Text 25"/>
          <p:cNvSpPr txBox="1"/>
          <p:nvPr/>
        </p:nvSpPr>
        <p:spPr>
          <a:xfrm>
            <a:off x="6675120" y="3136392"/>
            <a:ext cx="4754880" cy="347472"/>
          </a:xfrm>
          <a:prstGeom prst="rect">
            <a:avLst/>
          </a:prstGeom>
          <a:noFill/>
          <a:ln/>
        </p:spPr>
        <p:txBody>
          <a:bodyPr wrap="square" lIns="0" tIns="0" rIns="0" bIns="0" rtlCol="0" anchor="t"/>
          <a:lstStyle/>
          <a:p>
            <a:pPr indent="0" marL="0">
              <a:buNone/>
            </a:pPr>
            <a:r>
              <a:rPr lang="en-US" sz="1500" b="1" dirty="0">
                <a:solidFill>
                  <a:schemeClr val="accent1"/>
                </a:solidFill>
              </a:rPr>
              <a:t>Algoritmo</a:t>
            </a:r>
            <a:endParaRPr lang="en-US" sz="1500" dirty="0"/>
          </a:p>
        </p:txBody>
      </p:sp>
      <p:sp>
        <p:nvSpPr>
          <p:cNvPr id="29" name="Text 26"/>
          <p:cNvSpPr txBox="1"/>
          <p:nvPr/>
        </p:nvSpPr>
        <p:spPr>
          <a:xfrm>
            <a:off x="6675120" y="3483864"/>
            <a:ext cx="4754880" cy="594360"/>
          </a:xfrm>
          <a:prstGeom prst="rect">
            <a:avLst/>
          </a:prstGeom>
          <a:noFill/>
          <a:ln/>
        </p:spPr>
        <p:txBody>
          <a:bodyPr wrap="square" lIns="0" tIns="0" rIns="0" bIns="0" rtlCol="0" anchor="t"/>
          <a:lstStyle/>
          <a:p>
            <a:pPr indent="0" marL="0">
              <a:buNone/>
            </a:pPr>
            <a:r>
              <a:rPr lang="en-US" sz="1400" dirty="0">
                <a:solidFill>
                  <a:schemeClr val="tx1"/>
                </a:solidFill>
              </a:rPr>
              <a:t>Q-learning tabular como sanity check, luego DQN [15]</a:t>
            </a:r>
            <a:endParaRPr lang="en-US" sz="1400" dirty="0"/>
          </a:p>
        </p:txBody>
      </p:sp>
      <p:sp>
        <p:nvSpPr>
          <p:cNvPr id="30" name="Text 27"/>
          <p:cNvSpPr txBox="1"/>
          <p:nvPr/>
        </p:nvSpPr>
        <p:spPr>
          <a:xfrm>
            <a:off x="6675120" y="4123944"/>
            <a:ext cx="4754880" cy="347472"/>
          </a:xfrm>
          <a:prstGeom prst="rect">
            <a:avLst/>
          </a:prstGeom>
          <a:noFill/>
          <a:ln/>
        </p:spPr>
        <p:txBody>
          <a:bodyPr wrap="square" lIns="0" tIns="0" rIns="0" bIns="0" rtlCol="0" anchor="t"/>
          <a:lstStyle/>
          <a:p>
            <a:pPr indent="0" marL="0">
              <a:buNone/>
            </a:pPr>
            <a:r>
              <a:rPr lang="en-US" sz="1500" b="1" dirty="0">
                <a:solidFill>
                  <a:schemeClr val="accent1"/>
                </a:solidFill>
              </a:rPr>
              <a:t>Recompensa</a:t>
            </a:r>
            <a:endParaRPr lang="en-US" sz="1500" dirty="0"/>
          </a:p>
        </p:txBody>
      </p:sp>
      <p:sp>
        <p:nvSpPr>
          <p:cNvPr id="31" name="Text 28"/>
          <p:cNvSpPr txBox="1"/>
          <p:nvPr/>
        </p:nvSpPr>
        <p:spPr>
          <a:xfrm>
            <a:off x="6675120" y="4471416"/>
            <a:ext cx="4754880" cy="594360"/>
          </a:xfrm>
          <a:prstGeom prst="rect">
            <a:avLst/>
          </a:prstGeom>
          <a:noFill/>
          <a:ln/>
        </p:spPr>
        <p:txBody>
          <a:bodyPr wrap="square" lIns="0" tIns="0" rIns="0" bIns="0" rtlCol="0" anchor="t"/>
          <a:lstStyle/>
          <a:p>
            <a:pPr indent="0" marL="0">
              <a:buNone/>
            </a:pPr>
            <a:r>
              <a:rPr lang="en-US" sz="1400" dirty="0">
                <a:solidFill>
                  <a:schemeClr val="tx1"/>
                </a:solidFill>
              </a:rPr>
              <a:t>(AUC_acción − AUC_defer en la misma ventana) − λ·costo</a:t>
            </a:r>
            <a:endParaRPr lang="en-US" sz="1400" dirty="0"/>
          </a:p>
        </p:txBody>
      </p:sp>
      <p:sp>
        <p:nvSpPr>
          <p:cNvPr id="32" name="Text 29"/>
          <p:cNvSpPr txBox="1"/>
          <p:nvPr/>
        </p:nvSpPr>
        <p:spPr>
          <a:xfrm>
            <a:off x="6675120" y="5111496"/>
            <a:ext cx="4754880" cy="347472"/>
          </a:xfrm>
          <a:prstGeom prst="rect">
            <a:avLst/>
          </a:prstGeom>
          <a:noFill/>
          <a:ln/>
        </p:spPr>
        <p:txBody>
          <a:bodyPr wrap="square" lIns="0" tIns="0" rIns="0" bIns="0" rtlCol="0" anchor="t"/>
          <a:lstStyle/>
          <a:p>
            <a:pPr indent="0" marL="0">
              <a:buNone/>
            </a:pPr>
            <a:r>
              <a:rPr lang="en-US" sz="1500" b="1" dirty="0">
                <a:solidFill>
                  <a:schemeClr val="accent1"/>
                </a:solidFill>
              </a:rPr>
              <a:t>Por qué importa</a:t>
            </a:r>
            <a:endParaRPr lang="en-US" sz="1500" dirty="0"/>
          </a:p>
        </p:txBody>
      </p:sp>
      <p:sp>
        <p:nvSpPr>
          <p:cNvPr id="33" name="Text 30"/>
          <p:cNvSpPr txBox="1"/>
          <p:nvPr/>
        </p:nvSpPr>
        <p:spPr>
          <a:xfrm>
            <a:off x="6675120" y="5458968"/>
            <a:ext cx="4754880" cy="594360"/>
          </a:xfrm>
          <a:prstGeom prst="rect">
            <a:avLst/>
          </a:prstGeom>
          <a:noFill/>
          <a:ln/>
        </p:spPr>
        <p:txBody>
          <a:bodyPr wrap="square" lIns="0" tIns="0" rIns="0" bIns="0" rtlCol="0" anchor="t"/>
          <a:lstStyle/>
          <a:p>
            <a:pPr indent="0" marL="0">
              <a:buNone/>
            </a:pPr>
            <a:r>
              <a:rPr lang="en-US" sz="1400" dirty="0">
                <a:solidFill>
                  <a:schemeClr val="tx1"/>
                </a:solidFill>
              </a:rPr>
              <a:t>La acción de hoy cambia el modelo de mañana: secuencialidad real que justifica RL</a:t>
            </a:r>
            <a:endParaRPr lang="en-US" sz="1400" dirty="0"/>
          </a:p>
        </p:txBody>
      </p:sp>
      <p:sp>
        <p:nvSpPr>
          <p:cNvPr id="34"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Fuentes: [14] IEEE-CIS y Vesta, Kaggle 2019; [15] Mnih et al., 2015; [10] Sutton y Barto, 2018. Cifras: EDA propio (ieee_fraud_detection_eda).</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Plan de cierre en cuatro semanas</a:t>
            </a:r>
            <a:endParaRPr lang="en-US" sz="2800" dirty="0"/>
          </a:p>
        </p:txBody>
      </p:sp>
      <p:sp>
        <p:nvSpPr>
          <p:cNvPr id="3" name="timeline"/>
          <p:cNvSpPr/>
          <p:nvPr/>
        </p:nvSpPr>
        <p:spPr>
          <a:xfrm>
            <a:off x="822960" y="1874520"/>
            <a:ext cx="10607040" cy="0"/>
          </a:xfrm>
          <a:prstGeom prst="line">
            <a:avLst/>
          </a:prstGeom>
          <a:noFill/>
          <a:ln w="25400">
            <a:solidFill>
              <a:srgbClr val="9AA3B2"/>
            </a:solidFill>
            <a:prstDash val="solid"/>
          </a:ln>
        </p:spPr>
      </p:sp>
      <p:sp>
        <p:nvSpPr>
          <p:cNvPr id="4" name="hito"/>
          <p:cNvSpPr/>
          <p:nvPr/>
        </p:nvSpPr>
        <p:spPr>
          <a:xfrm>
            <a:off x="685800" y="1691640"/>
            <a:ext cx="365760" cy="365760"/>
          </a:xfrm>
          <a:prstGeom prst="ellipse">
            <a:avLst/>
          </a:prstGeom>
          <a:solidFill>
            <a:schemeClr val="accent2"/>
          </a:solidFill>
          <a:ln w="25400">
            <a:solidFill>
              <a:schemeClr val="bg1"/>
            </a:solidFill>
            <a:prstDash val="solid"/>
          </a:ln>
        </p:spPr>
      </p:sp>
      <p:sp>
        <p:nvSpPr>
          <p:cNvPr id="5" name="Text 3"/>
          <p:cNvSpPr txBox="1"/>
          <p:nvPr/>
        </p:nvSpPr>
        <p:spPr>
          <a:xfrm>
            <a:off x="548640" y="1188720"/>
            <a:ext cx="2560320" cy="365760"/>
          </a:xfrm>
          <a:prstGeom prst="rect">
            <a:avLst/>
          </a:prstGeom>
          <a:noFill/>
          <a:ln/>
        </p:spPr>
        <p:txBody>
          <a:bodyPr wrap="square" lIns="0" tIns="0" rIns="0" bIns="0" rtlCol="0" anchor="t"/>
          <a:lstStyle/>
          <a:p>
            <a:pPr indent="0" marL="0">
              <a:buNone/>
            </a:pPr>
            <a:r>
              <a:rPr lang="en-US" sz="1400" b="1" dirty="0">
                <a:solidFill>
                  <a:schemeClr val="tx2"/>
                </a:solidFill>
              </a:rPr>
              <a:t>Semana 1</a:t>
            </a:r>
            <a:endParaRPr lang="en-US" sz="1400" dirty="0"/>
          </a:p>
        </p:txBody>
      </p:sp>
      <p:sp>
        <p:nvSpPr>
          <p:cNvPr id="6" name="week-card"/>
          <p:cNvSpPr/>
          <p:nvPr/>
        </p:nvSpPr>
        <p:spPr>
          <a:xfrm>
            <a:off x="548640" y="2286000"/>
            <a:ext cx="2606040" cy="3383280"/>
          </a:xfrm>
          <a:prstGeom prst="roundRect">
            <a:avLst>
              <a:gd name="adj" fmla="val 4211"/>
            </a:avLst>
          </a:prstGeom>
          <a:solidFill>
            <a:schemeClr val="bg2"/>
          </a:solidFill>
          <a:ln/>
        </p:spPr>
      </p:sp>
      <p:sp>
        <p:nvSpPr>
          <p:cNvPr id="7" name="Text 5"/>
          <p:cNvSpPr txBox="1"/>
          <p:nvPr/>
        </p:nvSpPr>
        <p:spPr>
          <a:xfrm>
            <a:off x="731520" y="2423160"/>
            <a:ext cx="2240280" cy="457200"/>
          </a:xfrm>
          <a:prstGeom prst="rect">
            <a:avLst/>
          </a:prstGeom>
          <a:noFill/>
          <a:ln/>
        </p:spPr>
        <p:txBody>
          <a:bodyPr wrap="square" lIns="0" tIns="0" rIns="0" bIns="0" rtlCol="0" anchor="t"/>
          <a:lstStyle/>
          <a:p>
            <a:pPr indent="0" marL="0">
              <a:buNone/>
            </a:pPr>
            <a:r>
              <a:rPr lang="en-US" sz="1800" b="1" dirty="0">
                <a:solidFill>
                  <a:schemeClr val="accent2"/>
                </a:solidFill>
              </a:rPr>
              <a:t>Go / no-go</a:t>
            </a:r>
            <a:endParaRPr lang="en-US" sz="1800" dirty="0"/>
          </a:p>
        </p:txBody>
      </p:sp>
      <p:sp>
        <p:nvSpPr>
          <p:cNvPr id="8" name="Text 6"/>
          <p:cNvSpPr txBox="1"/>
          <p:nvPr/>
        </p:nvSpPr>
        <p:spPr>
          <a:xfrm>
            <a:off x="731520" y="2971800"/>
            <a:ext cx="2286000" cy="2606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Corregir bugs de DriftInjector y make_logreg</a:t>
            </a:r>
            <a:endParaRPr lang="en-US" sz="1400" dirty="0"/>
          </a:p>
          <a:p>
            <a:pPr marL="342900" indent="-342900">
              <a:spcAft>
                <a:spcPts val="800"/>
              </a:spcAft>
              <a:buSzPct val="100000"/>
              <a:buChar char="•"/>
            </a:pPr>
            <a:r>
              <a:rPr lang="en-US" sz="1400" dirty="0">
                <a:solidFill>
                  <a:schemeClr val="tx1"/>
                </a:solidFill>
              </a:rPr>
              <a:t>AUC oráculo para explicar Diabetes</a:t>
            </a:r>
            <a:endParaRPr lang="en-US" sz="1400" dirty="0"/>
          </a:p>
          <a:p>
            <a:pPr marL="342900" indent="-342900">
              <a:spcAft>
                <a:spcPts val="800"/>
              </a:spcAft>
              <a:buSzPct val="100000"/>
              <a:buChar char="•"/>
            </a:pPr>
            <a:r>
              <a:rPr lang="en-US" sz="1400" dirty="0">
                <a:solidFill>
                  <a:schemeClr val="tx1"/>
                </a:solidFill>
              </a:rPr>
              <a:t>Fraude: curva de degradación del modelo congelado</a:t>
            </a:r>
            <a:endParaRPr lang="en-US" sz="1400" dirty="0"/>
          </a:p>
        </p:txBody>
      </p:sp>
      <p:sp>
        <p:nvSpPr>
          <p:cNvPr id="9" name="hito"/>
          <p:cNvSpPr/>
          <p:nvPr/>
        </p:nvSpPr>
        <p:spPr>
          <a:xfrm>
            <a:off x="3520440" y="1691640"/>
            <a:ext cx="365760" cy="365760"/>
          </a:xfrm>
          <a:prstGeom prst="ellipse">
            <a:avLst/>
          </a:prstGeom>
          <a:solidFill>
            <a:schemeClr val="accent1"/>
          </a:solidFill>
          <a:ln w="25400">
            <a:solidFill>
              <a:schemeClr val="bg1"/>
            </a:solidFill>
            <a:prstDash val="solid"/>
          </a:ln>
        </p:spPr>
      </p:sp>
      <p:sp>
        <p:nvSpPr>
          <p:cNvPr id="10" name="Text 8"/>
          <p:cNvSpPr txBox="1"/>
          <p:nvPr/>
        </p:nvSpPr>
        <p:spPr>
          <a:xfrm>
            <a:off x="3383280" y="1188720"/>
            <a:ext cx="2560320" cy="365760"/>
          </a:xfrm>
          <a:prstGeom prst="rect">
            <a:avLst/>
          </a:prstGeom>
          <a:noFill/>
          <a:ln/>
        </p:spPr>
        <p:txBody>
          <a:bodyPr wrap="square" lIns="0" tIns="0" rIns="0" bIns="0" rtlCol="0" anchor="t"/>
          <a:lstStyle/>
          <a:p>
            <a:pPr indent="0" marL="0">
              <a:buNone/>
            </a:pPr>
            <a:r>
              <a:rPr lang="en-US" sz="1400" b="1" dirty="0">
                <a:solidFill>
                  <a:schemeClr val="tx2"/>
                </a:solidFill>
              </a:rPr>
              <a:t>Semana 2</a:t>
            </a:r>
            <a:endParaRPr lang="en-US" sz="1400" dirty="0"/>
          </a:p>
        </p:txBody>
      </p:sp>
      <p:sp>
        <p:nvSpPr>
          <p:cNvPr id="11" name="week-card"/>
          <p:cNvSpPr/>
          <p:nvPr/>
        </p:nvSpPr>
        <p:spPr>
          <a:xfrm>
            <a:off x="3383280" y="2286000"/>
            <a:ext cx="2606040" cy="3383280"/>
          </a:xfrm>
          <a:prstGeom prst="roundRect">
            <a:avLst>
              <a:gd name="adj" fmla="val 4211"/>
            </a:avLst>
          </a:prstGeom>
          <a:solidFill>
            <a:schemeClr val="bg2"/>
          </a:solidFill>
          <a:ln/>
        </p:spPr>
      </p:sp>
      <p:sp>
        <p:nvSpPr>
          <p:cNvPr id="12" name="Text 10"/>
          <p:cNvSpPr txBox="1"/>
          <p:nvPr/>
        </p:nvSpPr>
        <p:spPr>
          <a:xfrm>
            <a:off x="3566160" y="2423160"/>
            <a:ext cx="2240280" cy="457200"/>
          </a:xfrm>
          <a:prstGeom prst="rect">
            <a:avLst/>
          </a:prstGeom>
          <a:noFill/>
          <a:ln/>
        </p:spPr>
        <p:txBody>
          <a:bodyPr wrap="square" lIns="0" tIns="0" rIns="0" bIns="0" rtlCol="0" anchor="t"/>
          <a:lstStyle/>
          <a:p>
            <a:pPr indent="0" marL="0">
              <a:buNone/>
            </a:pPr>
            <a:r>
              <a:rPr lang="en-US" sz="1800" b="1" dirty="0">
                <a:solidFill>
                  <a:schemeClr val="accent1"/>
                </a:solidFill>
              </a:rPr>
              <a:t>Mapa de acción ideal</a:t>
            </a:r>
            <a:endParaRPr lang="en-US" sz="1800" dirty="0"/>
          </a:p>
        </p:txBody>
      </p:sp>
      <p:sp>
        <p:nvSpPr>
          <p:cNvPr id="13" name="Text 11"/>
          <p:cNvSpPr txBox="1"/>
          <p:nvPr/>
        </p:nvSpPr>
        <p:spPr>
          <a:xfrm>
            <a:off x="3566160" y="2971800"/>
            <a:ext cx="2286000" cy="2606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Grilla γ_cov × γ_con con XGBoost y 5 semillas</a:t>
            </a:r>
            <a:endParaRPr lang="en-US" sz="1400" dirty="0"/>
          </a:p>
          <a:p>
            <a:pPr marL="342900" indent="-342900">
              <a:spcAft>
                <a:spcPts val="800"/>
              </a:spcAft>
              <a:buSzPct val="100000"/>
              <a:buChar char="•"/>
            </a:pPr>
            <a:r>
              <a:rPr lang="en-US" sz="1400" dirty="0">
                <a:solidFill>
                  <a:schemeClr val="tx1"/>
                </a:solidFill>
              </a:rPr>
              <a:t>Drift en variables relevantes vs. irrelevantes</a:t>
            </a:r>
            <a:endParaRPr lang="en-US" sz="1400" dirty="0"/>
          </a:p>
          <a:p>
            <a:pPr marL="342900" indent="-342900">
              <a:spcAft>
                <a:spcPts val="800"/>
              </a:spcAft>
              <a:buSzPct val="100000"/>
              <a:buChar char="•"/>
            </a:pPr>
            <a:r>
              <a:rPr lang="en-US" sz="1400" dirty="0">
                <a:solidFill>
                  <a:schemeClr val="tx1"/>
                </a:solidFill>
              </a:rPr>
              <a:t>Tabla ventana × acción precalculada (fraude)</a:t>
            </a:r>
            <a:endParaRPr lang="en-US" sz="1400" dirty="0"/>
          </a:p>
        </p:txBody>
      </p:sp>
      <p:sp>
        <p:nvSpPr>
          <p:cNvPr id="14" name="hito"/>
          <p:cNvSpPr/>
          <p:nvPr/>
        </p:nvSpPr>
        <p:spPr>
          <a:xfrm>
            <a:off x="6355080" y="1691640"/>
            <a:ext cx="365760" cy="365760"/>
          </a:xfrm>
          <a:prstGeom prst="ellipse">
            <a:avLst/>
          </a:prstGeom>
          <a:solidFill>
            <a:schemeClr val="accent1"/>
          </a:solidFill>
          <a:ln w="25400">
            <a:solidFill>
              <a:schemeClr val="bg1"/>
            </a:solidFill>
            <a:prstDash val="solid"/>
          </a:ln>
        </p:spPr>
      </p:sp>
      <p:sp>
        <p:nvSpPr>
          <p:cNvPr id="15" name="Text 13"/>
          <p:cNvSpPr txBox="1"/>
          <p:nvPr/>
        </p:nvSpPr>
        <p:spPr>
          <a:xfrm>
            <a:off x="6217920" y="1188720"/>
            <a:ext cx="2560320" cy="365760"/>
          </a:xfrm>
          <a:prstGeom prst="rect">
            <a:avLst/>
          </a:prstGeom>
          <a:noFill/>
          <a:ln/>
        </p:spPr>
        <p:txBody>
          <a:bodyPr wrap="square" lIns="0" tIns="0" rIns="0" bIns="0" rtlCol="0" anchor="t"/>
          <a:lstStyle/>
          <a:p>
            <a:pPr indent="0" marL="0">
              <a:buNone/>
            </a:pPr>
            <a:r>
              <a:rPr lang="en-US" sz="1400" b="1" dirty="0">
                <a:solidFill>
                  <a:schemeClr val="tx2"/>
                </a:solidFill>
              </a:rPr>
              <a:t>Semana 3</a:t>
            </a:r>
            <a:endParaRPr lang="en-US" sz="1400" dirty="0"/>
          </a:p>
        </p:txBody>
      </p:sp>
      <p:sp>
        <p:nvSpPr>
          <p:cNvPr id="16" name="week-card"/>
          <p:cNvSpPr/>
          <p:nvPr/>
        </p:nvSpPr>
        <p:spPr>
          <a:xfrm>
            <a:off x="6217920" y="2286000"/>
            <a:ext cx="2606040" cy="3383280"/>
          </a:xfrm>
          <a:prstGeom prst="roundRect">
            <a:avLst>
              <a:gd name="adj" fmla="val 4211"/>
            </a:avLst>
          </a:prstGeom>
          <a:solidFill>
            <a:schemeClr val="bg2"/>
          </a:solidFill>
          <a:ln/>
        </p:spPr>
      </p:sp>
      <p:sp>
        <p:nvSpPr>
          <p:cNvPr id="17" name="Text 15"/>
          <p:cNvSpPr txBox="1"/>
          <p:nvPr/>
        </p:nvSpPr>
        <p:spPr>
          <a:xfrm>
            <a:off x="6400800" y="2423160"/>
            <a:ext cx="2240280" cy="457200"/>
          </a:xfrm>
          <a:prstGeom prst="rect">
            <a:avLst/>
          </a:prstGeom>
          <a:noFill/>
          <a:ln/>
        </p:spPr>
        <p:txBody>
          <a:bodyPr wrap="square" lIns="0" tIns="0" rIns="0" bIns="0" rtlCol="0" anchor="t"/>
          <a:lstStyle/>
          <a:p>
            <a:pPr indent="0" marL="0">
              <a:buNone/>
            </a:pPr>
            <a:r>
              <a:rPr lang="en-US" sz="1800" b="1" dirty="0">
                <a:solidFill>
                  <a:schemeClr val="accent1"/>
                </a:solidFill>
              </a:rPr>
              <a:t>Agente y baselines</a:t>
            </a:r>
            <a:endParaRPr lang="en-US" sz="1800" dirty="0"/>
          </a:p>
        </p:txBody>
      </p:sp>
      <p:sp>
        <p:nvSpPr>
          <p:cNvPr id="18" name="Text 16"/>
          <p:cNvSpPr txBox="1"/>
          <p:nvPr/>
        </p:nvSpPr>
        <p:spPr>
          <a:xfrm>
            <a:off x="6400800" y="2971800"/>
            <a:ext cx="2286000" cy="2606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Q-learning → DQN → PPO</a:t>
            </a:r>
            <a:endParaRPr lang="en-US" sz="1400" dirty="0"/>
          </a:p>
          <a:p>
            <a:pPr marL="342900" indent="-342900">
              <a:spcAft>
                <a:spcPts val="800"/>
              </a:spcAft>
              <a:buSzPct val="100000"/>
              <a:buChar char="•"/>
            </a:pPr>
            <a:r>
              <a:rPr lang="en-US" sz="1400" dirty="0">
                <a:solidFill>
                  <a:schemeClr val="tx1"/>
                </a:solidFill>
              </a:rPr>
              <a:t>Baselines: siempre/nunca reentrenar, umbral, cada k días, clasificador supervisado</a:t>
            </a:r>
            <a:endParaRPr lang="en-US" sz="1400" dirty="0"/>
          </a:p>
        </p:txBody>
      </p:sp>
      <p:sp>
        <p:nvSpPr>
          <p:cNvPr id="19" name="hito"/>
          <p:cNvSpPr/>
          <p:nvPr/>
        </p:nvSpPr>
        <p:spPr>
          <a:xfrm>
            <a:off x="9189720" y="1691640"/>
            <a:ext cx="365760" cy="365760"/>
          </a:xfrm>
          <a:prstGeom prst="ellipse">
            <a:avLst/>
          </a:prstGeom>
          <a:solidFill>
            <a:schemeClr val="accent1"/>
          </a:solidFill>
          <a:ln w="25400">
            <a:solidFill>
              <a:schemeClr val="bg1"/>
            </a:solidFill>
            <a:prstDash val="solid"/>
          </a:ln>
        </p:spPr>
      </p:sp>
      <p:sp>
        <p:nvSpPr>
          <p:cNvPr id="20" name="Text 18"/>
          <p:cNvSpPr txBox="1"/>
          <p:nvPr/>
        </p:nvSpPr>
        <p:spPr>
          <a:xfrm>
            <a:off x="9052560" y="1188720"/>
            <a:ext cx="2560320" cy="365760"/>
          </a:xfrm>
          <a:prstGeom prst="rect">
            <a:avLst/>
          </a:prstGeom>
          <a:noFill/>
          <a:ln/>
        </p:spPr>
        <p:txBody>
          <a:bodyPr wrap="square" lIns="0" tIns="0" rIns="0" bIns="0" rtlCol="0" anchor="t"/>
          <a:lstStyle/>
          <a:p>
            <a:pPr indent="0" marL="0">
              <a:buNone/>
            </a:pPr>
            <a:r>
              <a:rPr lang="en-US" sz="1400" b="1" dirty="0">
                <a:solidFill>
                  <a:schemeClr val="tx2"/>
                </a:solidFill>
              </a:rPr>
              <a:t>Semana 4</a:t>
            </a:r>
            <a:endParaRPr lang="en-US" sz="1400" dirty="0"/>
          </a:p>
        </p:txBody>
      </p:sp>
      <p:sp>
        <p:nvSpPr>
          <p:cNvPr id="21" name="week-card"/>
          <p:cNvSpPr/>
          <p:nvPr/>
        </p:nvSpPr>
        <p:spPr>
          <a:xfrm>
            <a:off x="9052560" y="2286000"/>
            <a:ext cx="2606040" cy="3383280"/>
          </a:xfrm>
          <a:prstGeom prst="roundRect">
            <a:avLst>
              <a:gd name="adj" fmla="val 4211"/>
            </a:avLst>
          </a:prstGeom>
          <a:solidFill>
            <a:schemeClr val="bg2"/>
          </a:solidFill>
          <a:ln/>
        </p:spPr>
      </p:sp>
      <p:sp>
        <p:nvSpPr>
          <p:cNvPr id="22" name="Text 20"/>
          <p:cNvSpPr txBox="1"/>
          <p:nvPr/>
        </p:nvSpPr>
        <p:spPr>
          <a:xfrm>
            <a:off x="9235440" y="2423160"/>
            <a:ext cx="2240280" cy="457200"/>
          </a:xfrm>
          <a:prstGeom prst="rect">
            <a:avLst/>
          </a:prstGeom>
          <a:noFill/>
          <a:ln/>
        </p:spPr>
        <p:txBody>
          <a:bodyPr wrap="square" lIns="0" tIns="0" rIns="0" bIns="0" rtlCol="0" anchor="t"/>
          <a:lstStyle/>
          <a:p>
            <a:pPr indent="0" marL="0">
              <a:buNone/>
            </a:pPr>
            <a:r>
              <a:rPr lang="en-US" sz="1800" b="1" dirty="0">
                <a:solidFill>
                  <a:schemeClr val="accent1"/>
                </a:solidFill>
              </a:rPr>
              <a:t>Tesis</a:t>
            </a:r>
            <a:endParaRPr lang="en-US" sz="1800" dirty="0"/>
          </a:p>
        </p:txBody>
      </p:sp>
      <p:sp>
        <p:nvSpPr>
          <p:cNvPr id="23" name="Text 21"/>
          <p:cNvSpPr txBox="1"/>
          <p:nvPr/>
        </p:nvSpPr>
        <p:spPr>
          <a:xfrm>
            <a:off x="9235440" y="2971800"/>
            <a:ext cx="2286000" cy="2606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Actualizar metodología (logit_reweight)</a:t>
            </a:r>
            <a:endParaRPr lang="en-US" sz="1400" dirty="0"/>
          </a:p>
          <a:p>
            <a:pPr marL="342900" indent="-342900">
              <a:spcAft>
                <a:spcPts val="800"/>
              </a:spcAft>
              <a:buSzPct val="100000"/>
              <a:buChar char="•"/>
            </a:pPr>
            <a:r>
              <a:rPr lang="en-US" sz="1400" dirty="0">
                <a:solidFill>
                  <a:schemeClr val="tx1"/>
                </a:solidFill>
              </a:rPr>
              <a:t>Resultados con IC 95 %; Resumen y Abstract</a:t>
            </a:r>
            <a:endParaRPr lang="en-US" sz="1400" dirty="0"/>
          </a:p>
        </p:txBody>
      </p:sp>
      <p:sp>
        <p:nvSpPr>
          <p:cNvPr id="24" name="fuente"/>
          <p:cNvSpPr txBox="1"/>
          <p:nvPr/>
        </p:nvSpPr>
        <p:spPr>
          <a:xfrm>
            <a:off x="548640" y="6355080"/>
            <a:ext cx="10607040" cy="320040"/>
          </a:xfrm>
          <a:prstGeom prst="rect">
            <a:avLst/>
          </a:prstGeom>
          <a:noFill/>
          <a:ln/>
        </p:spPr>
        <p:txBody>
          <a:bodyPr wrap="square" lIns="0" tIns="0" rIns="0" bIns="0" rtlCol="0" anchor="ctr"/>
          <a:lstStyle/>
          <a:p>
            <a:pPr indent="0" marL="0">
              <a:buNone/>
            </a:pPr>
            <a:r>
              <a:rPr lang="en-US" sz="1000" i="1" dirty="0">
                <a:solidFill>
                  <a:schemeClr val="tx2"/>
                </a:solidFill>
              </a:rPr>
              <a:t>Fuente: plan semanal PFC2 (plan/plan_semanal_pfc2.md) y recomendaciones de la asesoría de la semana 3.</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Conclusiones</a:t>
            </a:r>
            <a:endParaRPr lang="en-US" sz="3200" dirty="0"/>
          </a:p>
        </p:txBody>
      </p:sp>
      <p:sp>
        <p:nvSpPr>
          <p:cNvPr id="3" name="icon-circle"/>
          <p:cNvSpPr/>
          <p:nvPr/>
        </p:nvSpPr>
        <p:spPr>
          <a:xfrm>
            <a:off x="548640" y="1463040"/>
            <a:ext cx="777240" cy="777240"/>
          </a:xfrm>
          <a:prstGeom prst="ellipse">
            <a:avLst/>
          </a:prstGeom>
          <a:solidFill>
            <a:schemeClr val="accent1"/>
          </a:solidFill>
          <a:ln/>
        </p:spPr>
      </p:sp>
      <p:pic>
        <p:nvPicPr>
          <p:cNvPr id="4" name="icon" descr="preencoded.png">    </p:cNvPr>
          <p:cNvPicPr>
            <a:picLocks noChangeAspect="1"/>
          </p:cNvPicPr>
          <p:nvPr/>
        </p:nvPicPr>
        <p:blipFill>
          <a:blip r:embed="rId1"/>
          <a:stretch>
            <a:fillRect/>
          </a:stretch>
        </p:blipFill>
        <p:spPr>
          <a:xfrm>
            <a:off x="735178" y="1649578"/>
            <a:ext cx="404165" cy="404165"/>
          </a:xfrm>
          <a:prstGeom prst="rect">
            <a:avLst/>
          </a:prstGeom>
        </p:spPr>
      </p:pic>
      <p:sp>
        <p:nvSpPr>
          <p:cNvPr id="5" name="Text 2"/>
          <p:cNvSpPr txBox="1"/>
          <p:nvPr/>
        </p:nvSpPr>
        <p:spPr>
          <a:xfrm>
            <a:off x="1554480" y="1463040"/>
            <a:ext cx="9875520" cy="457200"/>
          </a:xfrm>
          <a:prstGeom prst="rect">
            <a:avLst/>
          </a:prstGeom>
          <a:noFill/>
          <a:ln/>
        </p:spPr>
        <p:txBody>
          <a:bodyPr wrap="square" lIns="0" tIns="0" rIns="0" bIns="0" rtlCol="0" anchor="t"/>
          <a:lstStyle/>
          <a:p>
            <a:pPr indent="0" marL="0">
              <a:buNone/>
            </a:pPr>
            <a:r>
              <a:rPr lang="en-US" sz="2100" b="1" dirty="0">
                <a:solidFill>
                  <a:schemeClr val="bg1"/>
                </a:solidFill>
              </a:rPr>
              <a:t>El tipo de drift determina la etapa a actualizar</a:t>
            </a:r>
            <a:endParaRPr lang="en-US" sz="2100" dirty="0"/>
          </a:p>
        </p:txBody>
      </p:sp>
      <p:sp>
        <p:nvSpPr>
          <p:cNvPr id="6" name="Text 3"/>
          <p:cNvSpPr txBox="1"/>
          <p:nvPr/>
        </p:nvSpPr>
        <p:spPr>
          <a:xfrm>
            <a:off x="1554480" y="1920240"/>
            <a:ext cx="9875520" cy="457200"/>
          </a:xfrm>
          <a:prstGeom prst="rect">
            <a:avLst/>
          </a:prstGeom>
          <a:noFill/>
          <a:ln/>
        </p:spPr>
        <p:txBody>
          <a:bodyPr wrap="square" lIns="0" tIns="0" rIns="0" bIns="0" rtlCol="0" anchor="t"/>
          <a:lstStyle/>
          <a:p>
            <a:pPr indent="0" marL="0">
              <a:buNone/>
            </a:pPr>
            <a:r>
              <a:rPr lang="en-US" sz="1600" dirty="0">
                <a:solidFill>
                  <a:srgbClr val="C9CFD8"/>
                </a:solidFill>
              </a:rPr>
              <a:t>Ante concept drift, corregir X no sirve; reentrenar el modelo sí.</a:t>
            </a:r>
            <a:endParaRPr lang="en-US" sz="1600" dirty="0"/>
          </a:p>
        </p:txBody>
      </p:sp>
      <p:sp>
        <p:nvSpPr>
          <p:cNvPr id="7" name="icon-circle"/>
          <p:cNvSpPr/>
          <p:nvPr/>
        </p:nvSpPr>
        <p:spPr>
          <a:xfrm>
            <a:off x="548640" y="2788920"/>
            <a:ext cx="777240" cy="777240"/>
          </a:xfrm>
          <a:prstGeom prst="ellipse">
            <a:avLst/>
          </a:prstGeom>
          <a:solidFill>
            <a:schemeClr val="accent2"/>
          </a:solidFill>
          <a:ln/>
        </p:spPr>
      </p:sp>
      <p:pic>
        <p:nvPicPr>
          <p:cNvPr id="8" name="icon" descr="preencoded.png">    </p:cNvPr>
          <p:cNvPicPr>
            <a:picLocks noChangeAspect="1"/>
          </p:cNvPicPr>
          <p:nvPr/>
        </p:nvPicPr>
        <p:blipFill>
          <a:blip r:embed="rId2"/>
          <a:stretch>
            <a:fillRect/>
          </a:stretch>
        </p:blipFill>
        <p:spPr>
          <a:xfrm>
            <a:off x="735178" y="2975458"/>
            <a:ext cx="404165" cy="404165"/>
          </a:xfrm>
          <a:prstGeom prst="rect">
            <a:avLst/>
          </a:prstGeom>
        </p:spPr>
      </p:pic>
      <p:sp>
        <p:nvSpPr>
          <p:cNvPr id="9" name="Text 5"/>
          <p:cNvSpPr txBox="1"/>
          <p:nvPr/>
        </p:nvSpPr>
        <p:spPr>
          <a:xfrm>
            <a:off x="1554480" y="2788920"/>
            <a:ext cx="9875520" cy="457200"/>
          </a:xfrm>
          <a:prstGeom prst="rect">
            <a:avLst/>
          </a:prstGeom>
          <a:noFill/>
          <a:ln/>
        </p:spPr>
        <p:txBody>
          <a:bodyPr wrap="square" lIns="0" tIns="0" rIns="0" bIns="0" rtlCol="0" anchor="t"/>
          <a:lstStyle/>
          <a:p>
            <a:pPr indent="0" marL="0">
              <a:buNone/>
            </a:pPr>
            <a:r>
              <a:rPr lang="en-US" sz="2100" b="1" dirty="0">
                <a:solidFill>
                  <a:schemeClr val="bg1"/>
                </a:solidFill>
              </a:rPr>
              <a:t>El costo cambia la decisión</a:t>
            </a:r>
            <a:endParaRPr lang="en-US" sz="2100" dirty="0"/>
          </a:p>
        </p:txBody>
      </p:sp>
      <p:sp>
        <p:nvSpPr>
          <p:cNvPr id="10" name="Text 6"/>
          <p:cNvSpPr txBox="1"/>
          <p:nvPr/>
        </p:nvSpPr>
        <p:spPr>
          <a:xfrm>
            <a:off x="1554480" y="3246120"/>
            <a:ext cx="9875520" cy="457200"/>
          </a:xfrm>
          <a:prstGeom prst="rect">
            <a:avLst/>
          </a:prstGeom>
          <a:noFill/>
          <a:ln/>
        </p:spPr>
        <p:txBody>
          <a:bodyPr wrap="square" lIns="0" tIns="0" rIns="0" bIns="0" rtlCol="0" anchor="t"/>
          <a:lstStyle/>
          <a:p>
            <a:pPr indent="0" marL="0">
              <a:buNone/>
            </a:pPr>
            <a:r>
              <a:rPr lang="en-US" sz="1600" dirty="0">
                <a:solidFill>
                  <a:srgbClr val="C9CFD8"/>
                </a:solidFill>
              </a:rPr>
              <a:t>A3 iguala a A4 con 55 % menos costo; reentrenar todo nunca fue la óptima.</a:t>
            </a:r>
            <a:endParaRPr lang="en-US" sz="1600" dirty="0"/>
          </a:p>
        </p:txBody>
      </p:sp>
      <p:sp>
        <p:nvSpPr>
          <p:cNvPr id="11" name="icon-circle"/>
          <p:cNvSpPr/>
          <p:nvPr/>
        </p:nvSpPr>
        <p:spPr>
          <a:xfrm>
            <a:off x="548640" y="4114800"/>
            <a:ext cx="777240" cy="777240"/>
          </a:xfrm>
          <a:prstGeom prst="ellipse">
            <a:avLst/>
          </a:prstGeom>
          <a:solidFill>
            <a:schemeClr val="accent1"/>
          </a:solidFill>
          <a:ln/>
        </p:spPr>
      </p:sp>
      <p:pic>
        <p:nvPicPr>
          <p:cNvPr id="12" name="icon" descr="preencoded.png">    </p:cNvPr>
          <p:cNvPicPr>
            <a:picLocks noChangeAspect="1"/>
          </p:cNvPicPr>
          <p:nvPr/>
        </p:nvPicPr>
        <p:blipFill>
          <a:blip r:embed="rId3"/>
          <a:stretch>
            <a:fillRect/>
          </a:stretch>
        </p:blipFill>
        <p:spPr>
          <a:xfrm>
            <a:off x="735178" y="4301338"/>
            <a:ext cx="404165" cy="404165"/>
          </a:xfrm>
          <a:prstGeom prst="rect">
            <a:avLst/>
          </a:prstGeom>
        </p:spPr>
      </p:pic>
      <p:sp>
        <p:nvSpPr>
          <p:cNvPr id="13" name="Text 8"/>
          <p:cNvSpPr txBox="1"/>
          <p:nvPr/>
        </p:nvSpPr>
        <p:spPr>
          <a:xfrm>
            <a:off x="1554480" y="4114800"/>
            <a:ext cx="9875520" cy="457200"/>
          </a:xfrm>
          <a:prstGeom prst="rect">
            <a:avLst/>
          </a:prstGeom>
          <a:noFill/>
          <a:ln/>
        </p:spPr>
        <p:txBody>
          <a:bodyPr wrap="square" lIns="0" tIns="0" rIns="0" bIns="0" rtlCol="0" anchor="t"/>
          <a:lstStyle/>
          <a:p>
            <a:pPr indent="0" marL="0">
              <a:buNone/>
            </a:pPr>
            <a:r>
              <a:rPr lang="en-US" sz="2100" b="1" dirty="0">
                <a:solidFill>
                  <a:schemeClr val="bg1"/>
                </a:solidFill>
              </a:rPr>
              <a:t>La política debe aprenderse</a:t>
            </a:r>
            <a:endParaRPr lang="en-US" sz="2100" dirty="0"/>
          </a:p>
        </p:txBody>
      </p:sp>
      <p:sp>
        <p:nvSpPr>
          <p:cNvPr id="14" name="Text 9"/>
          <p:cNvSpPr txBox="1"/>
          <p:nvPr/>
        </p:nvSpPr>
        <p:spPr>
          <a:xfrm>
            <a:off x="1554480" y="4572000"/>
            <a:ext cx="9875520" cy="457200"/>
          </a:xfrm>
          <a:prstGeom prst="rect">
            <a:avLst/>
          </a:prstGeom>
          <a:noFill/>
          <a:ln/>
        </p:spPr>
        <p:txBody>
          <a:bodyPr wrap="square" lIns="0" tIns="0" rIns="0" bIns="0" rtlCol="0" anchor="t"/>
          <a:lstStyle/>
          <a:p>
            <a:pPr indent="0" marL="0">
              <a:buNone/>
            </a:pPr>
            <a:r>
              <a:rPr lang="en-US" sz="1600" dirty="0">
                <a:solidFill>
                  <a:srgbClr val="C9CFD8"/>
                </a:solidFill>
              </a:rPr>
              <a:t>La acción ideal varía entre datasets: una regla fija no basta.</a:t>
            </a:r>
            <a:endParaRPr lang="en-US" sz="1600" dirty="0"/>
          </a:p>
        </p:txBody>
      </p:sp>
      <p:sp>
        <p:nvSpPr>
          <p:cNvPr id="15" name="Text 10"/>
          <p:cNvSpPr txBox="1"/>
          <p:nvPr/>
        </p:nvSpPr>
        <p:spPr>
          <a:xfrm>
            <a:off x="548640" y="5486400"/>
            <a:ext cx="11064240" cy="73152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¿Preguntas?</a:t>
            </a:r>
            <a:endParaRPr lang="en-US" sz="3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Referencias</a:t>
            </a:r>
            <a:endParaRPr lang="en-US" sz="2800" dirty="0"/>
          </a:p>
        </p:txBody>
      </p:sp>
      <p:sp>
        <p:nvSpPr>
          <p:cNvPr id="3" name="Text 1"/>
          <p:cNvSpPr txBox="1"/>
          <p:nvPr/>
        </p:nvSpPr>
        <p:spPr>
          <a:xfrm>
            <a:off x="548640" y="1325880"/>
            <a:ext cx="5394960" cy="4937760"/>
          </a:xfrm>
          <a:prstGeom prst="rect">
            <a:avLst/>
          </a:prstGeom>
          <a:noFill/>
          <a:ln/>
        </p:spPr>
        <p:txBody>
          <a:bodyPr wrap="square" lIns="0" tIns="0" rIns="0" bIns="0" rtlCol="0" anchor="t"/>
          <a:lstStyle/>
          <a:p>
            <a:pPr indent="0" marL="0">
              <a:spcAft>
                <a:spcPts val="900"/>
              </a:spcAft>
              <a:buNone/>
            </a:pPr>
            <a:r>
              <a:rPr lang="en-US" sz="1200" dirty="0">
                <a:solidFill>
                  <a:schemeClr val="tx2"/>
                </a:solidFill>
              </a:rPr>
              <a:t>[1] J. Gardner, Z. Popović y L. Schmidt, "Benchmarking distribution shift in tabular data with TableShift," NeurIPS, 2024.</a:t>
            </a:r>
            <a:endParaRPr lang="en-US" sz="1200" dirty="0"/>
          </a:p>
          <a:p>
            <a:pPr indent="0" marL="0">
              <a:spcAft>
                <a:spcPts val="900"/>
              </a:spcAft>
              <a:buNone/>
            </a:pPr>
            <a:r>
              <a:rPr lang="en-US" sz="1200" dirty="0">
                <a:solidFill>
                  <a:schemeClr val="tx2"/>
                </a:solidFill>
              </a:rPr>
              <a:t>[2] A. Mahadevan y M. Mathioudakis, "Cost-aware retraining for machine learning," Knowledge-Based Systems, vol. 293, 2024.</a:t>
            </a:r>
            <a:endParaRPr lang="en-US" sz="1200" dirty="0"/>
          </a:p>
          <a:p>
            <a:pPr indent="0" marL="0">
              <a:spcAft>
                <a:spcPts val="900"/>
              </a:spcAft>
              <a:buNone/>
            </a:pPr>
            <a:r>
              <a:rPr lang="en-US" sz="1200" dirty="0">
                <a:solidFill>
                  <a:schemeClr val="tx2"/>
                </a:solidFill>
              </a:rPr>
              <a:t>[3] T. T. Cai, H. Namkoong y S. Yadlowsky, "Diagnosing model performance under distribution shift," arXiv:2303.02011, 2023.</a:t>
            </a:r>
            <a:endParaRPr lang="en-US" sz="1200" dirty="0"/>
          </a:p>
          <a:p>
            <a:pPr indent="0" marL="0">
              <a:spcAft>
                <a:spcPts val="900"/>
              </a:spcAft>
              <a:buNone/>
            </a:pPr>
            <a:r>
              <a:rPr lang="en-US" sz="1200" dirty="0">
                <a:solidFill>
                  <a:schemeClr val="tx2"/>
                </a:solidFill>
              </a:rPr>
              <a:t>[4] H. Singh et al., "Who experiences large model decay and why?," Proc. 42nd ICML, 2025.</a:t>
            </a:r>
            <a:endParaRPr lang="en-US" sz="1200" dirty="0"/>
          </a:p>
          <a:p>
            <a:pPr indent="0" marL="0">
              <a:spcAft>
                <a:spcPts val="900"/>
              </a:spcAft>
              <a:buNone/>
            </a:pPr>
            <a:r>
              <a:rPr lang="en-US" sz="1200" dirty="0">
                <a:solidFill>
                  <a:schemeClr val="tx2"/>
                </a:solidFill>
              </a:rPr>
              <a:t>[5] K. Shakhovska y P. Pukach, "Severity-aware drift adaptation for cost-efficient model maintenance," AI, vol. 6, no. 11, 2025.</a:t>
            </a:r>
            <a:endParaRPr lang="en-US" sz="1200" dirty="0"/>
          </a:p>
          <a:p>
            <a:pPr indent="0" marL="0">
              <a:spcAft>
                <a:spcPts val="900"/>
              </a:spcAft>
              <a:buNone/>
            </a:pPr>
            <a:r>
              <a:rPr lang="en-US" sz="1200" dirty="0">
                <a:solidFill>
                  <a:schemeClr val="tx2"/>
                </a:solidFill>
              </a:rPr>
              <a:t>[6] R. K. Tanna, "Self-healing ML pipelines," Preprints.org, 2025 (sin revisión por pares).</a:t>
            </a:r>
            <a:endParaRPr lang="en-US" sz="1200" dirty="0"/>
          </a:p>
          <a:p>
            <a:pPr indent="0" marL="0">
              <a:spcAft>
                <a:spcPts val="900"/>
              </a:spcAft>
              <a:buNone/>
            </a:pPr>
            <a:r>
              <a:rPr lang="en-US" sz="1200" dirty="0">
                <a:solidFill>
                  <a:schemeClr val="tx2"/>
                </a:solidFill>
              </a:rPr>
              <a:t>[7] J. Gama et al., "A survey on concept drift adaptation," ACM Computing Surveys, vol. 46, no. 4, 2014.</a:t>
            </a:r>
            <a:endParaRPr lang="en-US" sz="1200" dirty="0"/>
          </a:p>
          <a:p>
            <a:pPr indent="0" marL="0">
              <a:spcAft>
                <a:spcPts val="900"/>
              </a:spcAft>
              <a:buNone/>
            </a:pPr>
            <a:r>
              <a:rPr lang="en-US" sz="1200" dirty="0">
                <a:solidFill>
                  <a:schemeClr val="tx2"/>
                </a:solidFill>
              </a:rPr>
              <a:t>[8] L. P. Kaelbling, M. L. Littman y A. R. Cassandra, "Planning and acting in partially observable stochastic domains," Artif. Intell., vol. 101, 1998.</a:t>
            </a:r>
            <a:endParaRPr lang="en-US" sz="1200" dirty="0"/>
          </a:p>
        </p:txBody>
      </p:sp>
      <p:sp>
        <p:nvSpPr>
          <p:cNvPr id="4" name="Text 2"/>
          <p:cNvSpPr txBox="1"/>
          <p:nvPr/>
        </p:nvSpPr>
        <p:spPr>
          <a:xfrm>
            <a:off x="6217920" y="1325880"/>
            <a:ext cx="5394960" cy="4937760"/>
          </a:xfrm>
          <a:prstGeom prst="rect">
            <a:avLst/>
          </a:prstGeom>
          <a:noFill/>
          <a:ln/>
        </p:spPr>
        <p:txBody>
          <a:bodyPr wrap="square" lIns="0" tIns="0" rIns="0" bIns="0" rtlCol="0" anchor="t"/>
          <a:lstStyle/>
          <a:p>
            <a:pPr indent="0" marL="0">
              <a:spcAft>
                <a:spcPts val="900"/>
              </a:spcAft>
              <a:buNone/>
            </a:pPr>
            <a:r>
              <a:rPr lang="en-US" sz="1200" dirty="0">
                <a:solidFill>
                  <a:schemeClr val="tx2"/>
                </a:solidFill>
              </a:rPr>
              <a:t>[9] J. Schulman et al., "Proximal policy optimization algorithms," arXiv:1707.06347, 2017.</a:t>
            </a:r>
            <a:endParaRPr lang="en-US" sz="1200" dirty="0"/>
          </a:p>
          <a:p>
            <a:pPr indent="0" marL="0">
              <a:spcAft>
                <a:spcPts val="900"/>
              </a:spcAft>
              <a:buNone/>
            </a:pPr>
            <a:r>
              <a:rPr lang="en-US" sz="1200" dirty="0">
                <a:solidFill>
                  <a:schemeClr val="tx2"/>
                </a:solidFill>
              </a:rPr>
              <a:t>[10] R. S. Sutton y A. G. Barto, Reinforcement Learning: An Introduction, 2.ª ed. MIT Press, 2018.</a:t>
            </a:r>
            <a:endParaRPr lang="en-US" sz="1200" dirty="0"/>
          </a:p>
          <a:p>
            <a:pPr indent="0" marL="0">
              <a:spcAft>
                <a:spcPts val="900"/>
              </a:spcAft>
              <a:buNone/>
            </a:pPr>
            <a:r>
              <a:rPr lang="en-US" sz="1200" dirty="0">
                <a:solidFill>
                  <a:schemeClr val="tx2"/>
                </a:solidFill>
              </a:rPr>
              <a:t>[11] T. Chen y C. Guestrin, "XGBoost: A scalable tree boosting system," Proc. ACM SIGKDD, 2016.</a:t>
            </a:r>
            <a:endParaRPr lang="en-US" sz="1200" dirty="0"/>
          </a:p>
          <a:p>
            <a:pPr indent="0" marL="0">
              <a:spcAft>
                <a:spcPts val="900"/>
              </a:spcAft>
              <a:buNone/>
            </a:pPr>
            <a:r>
              <a:rPr lang="en-US" sz="1200" dirty="0">
                <a:solidFill>
                  <a:schemeClr val="tx2"/>
                </a:solidFill>
              </a:rPr>
              <a:t>[12] M. A. Reyna et al., "Early prediction of sepsis from clinical data: the PhysioNet/CinC Challenge 2019," Crit. Care Med., vol. 48, no. 2, 2020.</a:t>
            </a:r>
            <a:endParaRPr lang="en-US" sz="1200" dirty="0"/>
          </a:p>
          <a:p>
            <a:pPr indent="0" marL="0">
              <a:spcAft>
                <a:spcPts val="900"/>
              </a:spcAft>
              <a:buNone/>
            </a:pPr>
            <a:r>
              <a:rPr lang="en-US" sz="1200" dirty="0">
                <a:solidFill>
                  <a:schemeClr val="tx2"/>
                </a:solidFill>
              </a:rPr>
              <a:t>[13] B. Strack et al., "Impact of HbA1c measurement on hospital readmission rates," BioMed Research International, 2014.</a:t>
            </a:r>
            <a:endParaRPr lang="en-US" sz="1200" dirty="0"/>
          </a:p>
          <a:p>
            <a:pPr indent="0" marL="0">
              <a:spcAft>
                <a:spcPts val="900"/>
              </a:spcAft>
              <a:buNone/>
            </a:pPr>
            <a:r>
              <a:rPr lang="en-US" sz="1200" dirty="0">
                <a:solidFill>
                  <a:schemeClr val="tx2"/>
                </a:solidFill>
              </a:rPr>
              <a:t>[14] IEEE Computational Intelligence Society y Vesta Corp., "IEEE-CIS Fraud Detection," Kaggle, 2019.</a:t>
            </a:r>
            <a:endParaRPr lang="en-US" sz="1200" dirty="0"/>
          </a:p>
          <a:p>
            <a:pPr indent="0" marL="0">
              <a:spcAft>
                <a:spcPts val="900"/>
              </a:spcAft>
              <a:buNone/>
            </a:pPr>
            <a:r>
              <a:rPr lang="en-US" sz="1200" dirty="0">
                <a:solidFill>
                  <a:schemeClr val="tx2"/>
                </a:solidFill>
              </a:rPr>
              <a:t>[15] V. Mnih et al., "Human-level control through deep reinforcement learning," Nature, vol. 518, 2015.</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DARL">
  <a:themeElements>
    <a:clrScheme name="DARL">
      <a:dk1>
        <a:srgbClr val="1B2235"/>
      </a:dk1>
      <a:lt1>
        <a:srgbClr val="FFFFFF"/>
      </a:lt1>
      <a:dk2>
        <a:srgbClr val="4A5568"/>
      </a:dk2>
      <a:lt2>
        <a:srgbClr val="EEF3F7"/>
      </a:lt2>
      <a:accent1>
        <a:srgbClr val="0F7C80"/>
      </a:accent1>
      <a:accent2>
        <a:srgbClr val="E3A02C"/>
      </a:accent2>
      <a:accent3>
        <a:srgbClr val="D9534F"/>
      </a:accent3>
      <a:accent4>
        <a:srgbClr val="5B4FC4"/>
      </a:accent4>
      <a:accent5>
        <a:srgbClr val="2E8B57"/>
      </a:accent5>
      <a:accent6>
        <a:srgbClr val="9AA3B2"/>
      </a:accent6>
      <a:hlink>
        <a:srgbClr val="0F7C80"/>
      </a:hlink>
      <a:folHlink>
        <a:srgbClr val="5B4FC4"/>
      </a:folHlink>
    </a:clrScheme>
    <a:fontScheme name="DAR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DARL — Avance de tesis</dc:title>
  <dc:subject>PptxGenJS Presentation</dc:subject>
  <dc:creator>Jeffrey Monja Castro, Brigitte Dayane Rojas</dc:creator>
  <cp:lastModifiedBy>Jeffrey Monja Castro, Brigitte Dayane Rojas</cp:lastModifiedBy>
  <cp:revision>1</cp:revision>
  <dcterms:created xsi:type="dcterms:W3CDTF">2026-10-03T06:15:00Z</dcterms:created>
  <dcterms:modified xsi:type="dcterms:W3CDTF">2026-10-03T06:15:00Z</dcterms:modified>
</cp:coreProperties>
</file>